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 id="269" r:id="rId15"/>
    <p:sldId id="270" r:id="rId16"/>
    <p:sldId id="271" r:id="rId17"/>
    <p:sldId id="272" r:id="rId18"/>
    <p:sldId id="273" r:id="rId19"/>
    <p:sldId id="274" r:id="rId20"/>
    <p:sldId id="275" r:id="rId21"/>
    <p:sldId id="276" r:id="rId22"/>
    <p:sldId id="278" r:id="rId23"/>
    <p:sldId id="277"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3" r:id="rId38"/>
    <p:sldId id="292" r:id="rId39"/>
    <p:sldId id="294"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21ABC0A-54A3-4CDC-972D-3DA2F6D2ED4B}" type="datetimeFigureOut">
              <a:rPr lang="en-US" smtClean="0"/>
              <a:t>6/28/2024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2072835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1ABC0A-54A3-4CDC-972D-3DA2F6D2ED4B}" type="datetimeFigureOut">
              <a:rPr lang="en-US" smtClean="0"/>
              <a:t>6/28/2024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2267563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21ABC0A-54A3-4CDC-972D-3DA2F6D2ED4B}" type="datetimeFigureOut">
              <a:rPr lang="en-US" smtClean="0"/>
              <a:t>6/28/2024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409046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21ABC0A-54A3-4CDC-972D-3DA2F6D2ED4B}" type="datetimeFigureOut">
              <a:rPr lang="en-US" smtClean="0"/>
              <a:t>6/28/2024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2544220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21ABC0A-54A3-4CDC-972D-3DA2F6D2ED4B}" type="datetimeFigureOut">
              <a:rPr lang="en-US" smtClean="0"/>
              <a:t>6/28/2024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2803819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1ABC0A-54A3-4CDC-972D-3DA2F6D2ED4B}" type="datetimeFigureOut">
              <a:rPr lang="en-US" smtClean="0"/>
              <a:t>6/28/2024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3224342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1ABC0A-54A3-4CDC-972D-3DA2F6D2ED4B}" type="datetimeFigureOut">
              <a:rPr lang="en-US" smtClean="0"/>
              <a:t>6/28/2024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3027157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1ABC0A-54A3-4CDC-972D-3DA2F6D2ED4B}" type="datetimeFigureOut">
              <a:rPr lang="en-US" smtClean="0"/>
              <a:t>6/28/2024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1852497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1ABC0A-54A3-4CDC-972D-3DA2F6D2ED4B}" type="datetimeFigureOut">
              <a:rPr lang="en-US" smtClean="0"/>
              <a:t>6/28/2024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1405617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1ABC0A-54A3-4CDC-972D-3DA2F6D2ED4B}" type="datetimeFigureOut">
              <a:rPr lang="en-US" smtClean="0"/>
              <a:t>6/28/2024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2273133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1ABC0A-54A3-4CDC-972D-3DA2F6D2ED4B}" type="datetimeFigureOut">
              <a:rPr lang="en-US" smtClean="0"/>
              <a:t>6/28/2024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CA591-C6C2-40E7-87A2-F713A5F7CD18}" type="slidenum">
              <a:rPr lang="en-US" smtClean="0"/>
              <a:t>‹#›</a:t>
            </a:fld>
            <a:endParaRPr lang="en-US"/>
          </a:p>
        </p:txBody>
      </p:sp>
    </p:spTree>
    <p:extLst>
      <p:ext uri="{BB962C8B-B14F-4D97-AF65-F5344CB8AC3E}">
        <p14:creationId xmlns:p14="http://schemas.microsoft.com/office/powerpoint/2010/main" val="3197637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ABC0A-54A3-4CDC-972D-3DA2F6D2ED4B}" type="datetimeFigureOut">
              <a:rPr lang="en-US" smtClean="0"/>
              <a:t>6/28/2024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0CA591-C6C2-40E7-87A2-F713A5F7CD18}" type="slidenum">
              <a:rPr lang="en-US" smtClean="0"/>
              <a:t>‹#›</a:t>
            </a:fld>
            <a:endParaRPr lang="en-US"/>
          </a:p>
        </p:txBody>
      </p:sp>
    </p:spTree>
    <p:extLst>
      <p:ext uri="{BB962C8B-B14F-4D97-AF65-F5344CB8AC3E}">
        <p14:creationId xmlns:p14="http://schemas.microsoft.com/office/powerpoint/2010/main" val="3772288620"/>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AI</a:t>
            </a:r>
            <a:endParaRPr lang="en-US" dirty="0"/>
          </a:p>
        </p:txBody>
      </p:sp>
      <p:sp>
        <p:nvSpPr>
          <p:cNvPr id="3" name="Subtitle 2"/>
          <p:cNvSpPr>
            <a:spLocks noGrp="1"/>
          </p:cNvSpPr>
          <p:nvPr>
            <p:ph type="subTitle" idx="1"/>
          </p:nvPr>
        </p:nvSpPr>
        <p:spPr/>
        <p:txBody>
          <a:bodyPr/>
          <a:lstStyle/>
          <a:p>
            <a:r>
              <a:rPr lang="en-US" dirty="0" smtClean="0"/>
              <a:t>Artificial </a:t>
            </a:r>
            <a:r>
              <a:rPr lang="en-US" dirty="0" err="1" smtClean="0"/>
              <a:t>Intellegence</a:t>
            </a:r>
            <a:endParaRPr lang="en-US" dirty="0"/>
          </a:p>
        </p:txBody>
      </p:sp>
    </p:spTree>
    <p:extLst>
      <p:ext uri="{BB962C8B-B14F-4D97-AF65-F5344CB8AC3E}">
        <p14:creationId xmlns:p14="http://schemas.microsoft.com/office/powerpoint/2010/main" val="19601135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2124" y="373487"/>
            <a:ext cx="10941676" cy="5803476"/>
          </a:xfrm>
        </p:spPr>
        <p:txBody>
          <a:bodyPr/>
          <a:lstStyle/>
          <a:p>
            <a:r>
              <a:rPr lang="en-US" dirty="0" smtClean="0"/>
              <a:t>What is Artificial Intelligence (AI)?</a:t>
            </a:r>
          </a:p>
          <a:p>
            <a:endParaRPr lang="en-US" dirty="0" smtClean="0"/>
          </a:p>
          <a:p>
            <a:r>
              <a:rPr lang="en-US" dirty="0" smtClean="0"/>
              <a:t>AI (Artificial Intelligence) is a machine’s ability to perform cognitive functions as humans do, such as perceiving, learning, reasoning, and solving problems. The benchmark for AI is the human level concerning in teams of reasoning, speech, and vision.</a:t>
            </a:r>
            <a:endParaRPr lang="en-US" dirty="0"/>
          </a:p>
        </p:txBody>
      </p:sp>
    </p:spTree>
    <p:extLst>
      <p:ext uri="{BB962C8B-B14F-4D97-AF65-F5344CB8AC3E}">
        <p14:creationId xmlns:p14="http://schemas.microsoft.com/office/powerpoint/2010/main" val="11577409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Artificial Intelligence Levels</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Nowadays, AI is used in almost all industries, giving a technological edge to all companies integrating AI at scale. According to McKinsey, AI has the potential to create 600 billion dollars of value in retail bring 50 per cent more incremental value in banking compared with other analytics techniques. In transport and logistics, the potential revenue jump is 89% more.</a:t>
            </a:r>
          </a:p>
          <a:p>
            <a:endParaRPr lang="en-US" dirty="0" smtClean="0"/>
          </a:p>
          <a:p>
            <a:r>
              <a:rPr lang="en-US" dirty="0" smtClean="0"/>
              <a:t>Concretely, if an organization uses AI for its marketing team, it can automate mundane and repetitive tasks, allowing the sales representative to focus on relationship building, lead nurturing, etc. A company named Gong provides a conversation intelligence service. Each time a Sales Representative makes a phone call, the machine records, transcribes and analyzes the chat. The VP can use AI analytics and recommendation to formulate a winning strategy.</a:t>
            </a:r>
          </a:p>
          <a:p>
            <a:endParaRPr lang="en-US" dirty="0" smtClean="0"/>
          </a:p>
          <a:p>
            <a:r>
              <a:rPr lang="en-US" dirty="0" smtClean="0"/>
              <a:t>In a nutshell, AI provides cutting-edge technology to deal with complex data that a human being cannot handle. AI automates redundant jobs allowing a worker to focus on the high level, value-added tasks. When AI is implemented at scale, it leads to cost reduction and revenue increase</a:t>
            </a:r>
            <a:endParaRPr lang="en-US" dirty="0"/>
          </a:p>
        </p:txBody>
      </p:sp>
    </p:spTree>
    <p:extLst>
      <p:ext uri="{BB962C8B-B14F-4D97-AF65-F5344CB8AC3E}">
        <p14:creationId xmlns:p14="http://schemas.microsoft.com/office/powerpoint/2010/main" val="33755733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of Artificial Intelligence</a:t>
            </a:r>
            <a:br>
              <a:rPr lang="en-US" b="1" dirty="0" smtClean="0"/>
            </a:br>
            <a:endParaRPr lang="en-US" dirty="0"/>
          </a:p>
        </p:txBody>
      </p:sp>
      <p:sp>
        <p:nvSpPr>
          <p:cNvPr id="3" name="Content Placeholder 2"/>
          <p:cNvSpPr>
            <a:spLocks noGrp="1"/>
          </p:cNvSpPr>
          <p:nvPr>
            <p:ph idx="1"/>
          </p:nvPr>
        </p:nvSpPr>
        <p:spPr/>
        <p:txBody>
          <a:bodyPr/>
          <a:lstStyle/>
          <a:p>
            <a:r>
              <a:rPr lang="en-US" dirty="0" smtClean="0"/>
              <a:t>Artificial </a:t>
            </a:r>
            <a:r>
              <a:rPr lang="en-US" dirty="0"/>
              <a:t>Intelligence is a buzzword today, although this term is not new. In 1956, avant-garde experts from different backgrounds decided to organize a summer research project on AI. Four bright minds led the project; John McCarthy (Dartmouth College), Marvin </a:t>
            </a:r>
            <a:r>
              <a:rPr lang="en-US" dirty="0" err="1"/>
              <a:t>Minsky</a:t>
            </a:r>
            <a:r>
              <a:rPr lang="en-US" dirty="0"/>
              <a:t> (Harvard University), Nathaniel Rochester (IBM), and Claude Shannon (Bell Telephone Laboratories).</a:t>
            </a:r>
          </a:p>
          <a:p>
            <a:r>
              <a:rPr lang="en-US" dirty="0"/>
              <a:t>Here, is Brief history of Artificial Intelligence:</a:t>
            </a:r>
          </a:p>
          <a:p>
            <a:endParaRPr lang="en-US" dirty="0"/>
          </a:p>
        </p:txBody>
      </p:sp>
    </p:spTree>
    <p:extLst>
      <p:ext uri="{BB962C8B-B14F-4D97-AF65-F5344CB8AC3E}">
        <p14:creationId xmlns:p14="http://schemas.microsoft.com/office/powerpoint/2010/main" val="3051047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806" y="403761"/>
            <a:ext cx="10515600" cy="1325563"/>
          </a:xfrm>
        </p:spPr>
        <p:txBody>
          <a:bodyPr/>
          <a:lstStyle/>
          <a:p>
            <a:r>
              <a:rPr lang="en-US" dirty="0" smtClean="0"/>
              <a:t>Year	Milestone / Innovation</a:t>
            </a:r>
            <a:br>
              <a:rPr lang="en-US" dirty="0" smtClean="0"/>
            </a:br>
            <a:endParaRPr lang="en-US" dirty="0"/>
          </a:p>
        </p:txBody>
      </p:sp>
      <p:sp>
        <p:nvSpPr>
          <p:cNvPr id="3" name="Content Placeholder 2"/>
          <p:cNvSpPr>
            <a:spLocks noGrp="1"/>
          </p:cNvSpPr>
          <p:nvPr>
            <p:ph idx="1"/>
          </p:nvPr>
        </p:nvSpPr>
        <p:spPr/>
        <p:txBody>
          <a:bodyPr>
            <a:normAutofit/>
          </a:bodyPr>
          <a:lstStyle/>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761998740"/>
              </p:ext>
            </p:extLst>
          </p:nvPr>
        </p:nvGraphicFramePr>
        <p:xfrm>
          <a:off x="2612191" y="1769852"/>
          <a:ext cx="6581252" cy="4604574"/>
        </p:xfrm>
        <a:graphic>
          <a:graphicData uri="http://schemas.openxmlformats.org/drawingml/2006/table">
            <a:tbl>
              <a:tblPr/>
              <a:tblGrid>
                <a:gridCol w="3290626"/>
                <a:gridCol w="3290626"/>
              </a:tblGrid>
              <a:tr h="496830">
                <a:tc>
                  <a:txBody>
                    <a:bodyPr/>
                    <a:lstStyle/>
                    <a:p>
                      <a:pPr algn="l"/>
                      <a:r>
                        <a:rPr lang="en-US" sz="1500" dirty="0">
                          <a:solidFill>
                            <a:schemeClr val="bg1"/>
                          </a:solidFill>
                          <a:effectLst/>
                        </a:rPr>
                        <a:t>Year</a:t>
                      </a:r>
                    </a:p>
                  </a:txBody>
                  <a:tcPr marL="75023" marR="75023" marT="37512" marB="37512"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c>
                  <a:txBody>
                    <a:bodyPr/>
                    <a:lstStyle/>
                    <a:p>
                      <a:pPr algn="l"/>
                      <a:r>
                        <a:rPr lang="en-US" sz="1500">
                          <a:solidFill>
                            <a:schemeClr val="bg1"/>
                          </a:solidFill>
                          <a:effectLst/>
                        </a:rPr>
                        <a:t>Milestone / Innovation</a:t>
                      </a:r>
                    </a:p>
                  </a:txBody>
                  <a:tcPr marL="75023" marR="75023" marT="37512" marB="37512" anchor="ctr">
                    <a:lnL>
                      <a:noFill/>
                    </a:lnL>
                    <a:lnR>
                      <a:noFill/>
                    </a:lnR>
                    <a:lnT>
                      <a:noFill/>
                    </a:lnT>
                    <a:lnB w="9525" cap="flat" cmpd="sng" algn="ctr">
                      <a:solidFill>
                        <a:srgbClr val="EEEEEE"/>
                      </a:solidFill>
                      <a:prstDash val="solid"/>
                      <a:round/>
                      <a:headEnd type="none" w="med" len="med"/>
                      <a:tailEnd type="none" w="med" len="med"/>
                    </a:lnB>
                    <a:solidFill>
                      <a:srgbClr val="F9F9F9"/>
                    </a:solidFill>
                  </a:tcPr>
                </a:tc>
              </a:tr>
              <a:tr h="750231">
                <a:tc>
                  <a:txBody>
                    <a:bodyPr/>
                    <a:lstStyle/>
                    <a:p>
                      <a:r>
                        <a:rPr lang="en-US" sz="1500" dirty="0">
                          <a:solidFill>
                            <a:schemeClr val="bg1"/>
                          </a:solidFill>
                          <a:effectLst/>
                        </a:rPr>
                        <a:t>1923</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500" dirty="0" err="1">
                          <a:solidFill>
                            <a:schemeClr val="bg1"/>
                          </a:solidFill>
                          <a:effectLst/>
                        </a:rPr>
                        <a:t>Karel</a:t>
                      </a:r>
                      <a:r>
                        <a:rPr lang="en-US" sz="1500" dirty="0">
                          <a:solidFill>
                            <a:schemeClr val="bg1"/>
                          </a:solidFill>
                          <a:effectLst/>
                        </a:rPr>
                        <a:t> </a:t>
                      </a:r>
                      <a:r>
                        <a:rPr lang="en-US" sz="1500" dirty="0" err="1">
                          <a:solidFill>
                            <a:schemeClr val="bg1"/>
                          </a:solidFill>
                          <a:effectLst/>
                        </a:rPr>
                        <a:t>Čapek</a:t>
                      </a:r>
                      <a:r>
                        <a:rPr lang="en-US" sz="1500" dirty="0">
                          <a:solidFill>
                            <a:schemeClr val="bg1"/>
                          </a:solidFill>
                          <a:effectLst/>
                        </a:rPr>
                        <a:t> plays named “</a:t>
                      </a:r>
                      <a:r>
                        <a:rPr lang="en-US" sz="1500" dirty="0" err="1">
                          <a:solidFill>
                            <a:schemeClr val="bg1"/>
                          </a:solidFill>
                          <a:effectLst/>
                        </a:rPr>
                        <a:t>Rossum’s</a:t>
                      </a:r>
                      <a:r>
                        <a:rPr lang="en-US" sz="1500" dirty="0">
                          <a:solidFill>
                            <a:schemeClr val="bg1"/>
                          </a:solidFill>
                          <a:effectLst/>
                        </a:rPr>
                        <a:t> Universal Robots, the first use of the word “robot” in English.</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r h="300092">
                <a:tc>
                  <a:txBody>
                    <a:bodyPr/>
                    <a:lstStyle/>
                    <a:p>
                      <a:r>
                        <a:rPr lang="en-US" sz="1500">
                          <a:solidFill>
                            <a:schemeClr val="bg1"/>
                          </a:solidFill>
                          <a:effectLst/>
                        </a:rPr>
                        <a:t>1943</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500">
                          <a:solidFill>
                            <a:schemeClr val="bg1"/>
                          </a:solidFill>
                          <a:effectLst/>
                        </a:rPr>
                        <a:t>Foundations for neural networks laid.</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525161">
                <a:tc>
                  <a:txBody>
                    <a:bodyPr/>
                    <a:lstStyle/>
                    <a:p>
                      <a:r>
                        <a:rPr lang="en-US" sz="1500">
                          <a:solidFill>
                            <a:schemeClr val="bg1"/>
                          </a:solidFill>
                          <a:effectLst/>
                        </a:rPr>
                        <a:t>1945</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500">
                          <a:solidFill>
                            <a:schemeClr val="bg1"/>
                          </a:solidFill>
                          <a:effectLst/>
                        </a:rPr>
                        <a:t>Isaac Asimov, a Columbia University alumni, use the term Robotics.</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r h="975300">
                <a:tc>
                  <a:txBody>
                    <a:bodyPr/>
                    <a:lstStyle/>
                    <a:p>
                      <a:r>
                        <a:rPr lang="en-US" sz="1500">
                          <a:solidFill>
                            <a:schemeClr val="bg1"/>
                          </a:solidFill>
                          <a:effectLst/>
                        </a:rPr>
                        <a:t>1956</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500" dirty="0">
                          <a:solidFill>
                            <a:schemeClr val="bg1"/>
                          </a:solidFill>
                          <a:effectLst/>
                        </a:rPr>
                        <a:t>John McCarthy first used the term Artificial Intelligence. Demonstration of the first running AI program at Carnegie Mellon University.</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750231">
                <a:tc>
                  <a:txBody>
                    <a:bodyPr/>
                    <a:lstStyle/>
                    <a:p>
                      <a:r>
                        <a:rPr lang="en-US" sz="1500">
                          <a:solidFill>
                            <a:schemeClr val="bg1"/>
                          </a:solidFill>
                          <a:effectLst/>
                        </a:rPr>
                        <a:t>1964</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500">
                          <a:solidFill>
                            <a:schemeClr val="bg1"/>
                          </a:solidFill>
                          <a:effectLst/>
                        </a:rPr>
                        <a:t>Danny Bobrow’s dissertation at MIT showed how computers could understand natural language.</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r h="750231">
                <a:tc>
                  <a:txBody>
                    <a:bodyPr/>
                    <a:lstStyle/>
                    <a:p>
                      <a:r>
                        <a:rPr lang="en-US" sz="1500">
                          <a:solidFill>
                            <a:schemeClr val="bg1"/>
                          </a:solidFill>
                          <a:effectLst/>
                        </a:rPr>
                        <a:t>1969</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tc>
                  <a:txBody>
                    <a:bodyPr/>
                    <a:lstStyle/>
                    <a:p>
                      <a:r>
                        <a:rPr lang="en-US" sz="1500" dirty="0">
                          <a:solidFill>
                            <a:schemeClr val="bg1"/>
                          </a:solidFill>
                          <a:effectLst/>
                        </a:rPr>
                        <a:t>Scientists at Stanford Research Institute Developed </a:t>
                      </a:r>
                      <a:r>
                        <a:rPr lang="en-US" sz="1500" dirty="0" err="1">
                          <a:solidFill>
                            <a:schemeClr val="bg1"/>
                          </a:solidFill>
                          <a:effectLst/>
                        </a:rPr>
                        <a:t>Shakey</a:t>
                      </a:r>
                      <a:r>
                        <a:rPr lang="en-US" sz="1500" dirty="0">
                          <a:solidFill>
                            <a:schemeClr val="bg1"/>
                          </a:solidFill>
                          <a:effectLst/>
                        </a:rPr>
                        <a:t>. A robot equipped with locomotion and problem-solving.</a:t>
                      </a:r>
                    </a:p>
                  </a:txBody>
                  <a:tcPr marL="75023" marR="75023" marT="37512" marB="37512" anchor="ctr">
                    <a:lnL>
                      <a:noFill/>
                    </a:lnL>
                    <a:lnR>
                      <a:noFill/>
                    </a:lnR>
                    <a:lnT w="9525" cap="flat" cmpd="sng" algn="ctr">
                      <a:solidFill>
                        <a:srgbClr val="EEEEEE"/>
                      </a:solidFill>
                      <a:prstDash val="solid"/>
                      <a:round/>
                      <a:headEnd type="none" w="med" len="med"/>
                      <a:tailEnd type="none" w="med" len="med"/>
                    </a:lnT>
                    <a:lnB>
                      <a:noFill/>
                    </a:lnB>
                    <a:solidFill>
                      <a:srgbClr val="FFFFFF"/>
                    </a:solidFill>
                  </a:tcPr>
                </a:tc>
              </a:tr>
            </a:tbl>
          </a:graphicData>
        </a:graphic>
      </p:graphicFrame>
    </p:spTree>
    <p:extLst>
      <p:ext uri="{BB962C8B-B14F-4D97-AF65-F5344CB8AC3E}">
        <p14:creationId xmlns:p14="http://schemas.microsoft.com/office/powerpoint/2010/main" val="18491797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3810186255"/>
              </p:ext>
            </p:extLst>
          </p:nvPr>
        </p:nvGraphicFramePr>
        <p:xfrm>
          <a:off x="1661374" y="528031"/>
          <a:ext cx="7049096" cy="5693571"/>
        </p:xfrm>
        <a:graphic>
          <a:graphicData uri="http://schemas.openxmlformats.org/drawingml/2006/table">
            <a:tbl>
              <a:tblPr/>
              <a:tblGrid>
                <a:gridCol w="3524548"/>
                <a:gridCol w="3524548"/>
              </a:tblGrid>
              <a:tr h="779870">
                <a:tc>
                  <a:txBody>
                    <a:bodyPr/>
                    <a:lstStyle/>
                    <a:p>
                      <a:r>
                        <a:rPr lang="en-US" sz="1200" dirty="0">
                          <a:solidFill>
                            <a:schemeClr val="bg1"/>
                          </a:solidFill>
                          <a:effectLst/>
                        </a:rPr>
                        <a:t>1979</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200">
                          <a:solidFill>
                            <a:schemeClr val="bg1"/>
                          </a:solidFill>
                          <a:effectLst/>
                        </a:rPr>
                        <a:t>The world’s first computer-controlled autonomous vehicle, Stanford Cart, was built.</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r h="545389">
                <a:tc>
                  <a:txBody>
                    <a:bodyPr/>
                    <a:lstStyle/>
                    <a:p>
                      <a:r>
                        <a:rPr lang="en-US" sz="1200" dirty="0">
                          <a:solidFill>
                            <a:schemeClr val="bg1"/>
                          </a:solidFill>
                          <a:effectLst/>
                        </a:rPr>
                        <a:t>1990</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solidFill>
                            <a:schemeClr val="bg1"/>
                          </a:solidFill>
                          <a:effectLst/>
                        </a:rPr>
                        <a:t>Significant demonstrations in machine learning</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779870">
                <a:tc>
                  <a:txBody>
                    <a:bodyPr/>
                    <a:lstStyle/>
                    <a:p>
                      <a:r>
                        <a:rPr lang="en-US" sz="1200" dirty="0">
                          <a:solidFill>
                            <a:schemeClr val="bg1"/>
                          </a:solidFill>
                          <a:effectLst/>
                        </a:rPr>
                        <a:t>1997</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200">
                          <a:solidFill>
                            <a:schemeClr val="bg1"/>
                          </a:solidFill>
                          <a:effectLst/>
                        </a:rPr>
                        <a:t>The Deep Blue Chess Program beat the then world chess champion, Garry Kasparov.</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r h="1014351">
                <a:tc>
                  <a:txBody>
                    <a:bodyPr/>
                    <a:lstStyle/>
                    <a:p>
                      <a:r>
                        <a:rPr lang="en-US" sz="1200" dirty="0">
                          <a:solidFill>
                            <a:schemeClr val="bg1"/>
                          </a:solidFill>
                          <a:effectLst/>
                        </a:rPr>
                        <a:t>2000</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dirty="0">
                          <a:solidFill>
                            <a:schemeClr val="bg1"/>
                          </a:solidFill>
                          <a:effectLst/>
                        </a:rPr>
                        <a:t>Interactive robot pets have become commercially available. MIT displays Kismet, a robot with a face that expresses emotions.</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779870">
                <a:tc>
                  <a:txBody>
                    <a:bodyPr/>
                    <a:lstStyle/>
                    <a:p>
                      <a:r>
                        <a:rPr lang="en-US" sz="1200" dirty="0">
                          <a:solidFill>
                            <a:schemeClr val="bg1"/>
                          </a:solidFill>
                          <a:effectLst/>
                        </a:rPr>
                        <a:t>2006</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200" dirty="0">
                          <a:solidFill>
                            <a:schemeClr val="bg1"/>
                          </a:solidFill>
                          <a:effectLst/>
                        </a:rPr>
                        <a:t>AI came into the Business world in the year 2006. Companies like Facebook, Netflix, Twitter started using AI.</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r h="779870">
                <a:tc>
                  <a:txBody>
                    <a:bodyPr/>
                    <a:lstStyle/>
                    <a:p>
                      <a:r>
                        <a:rPr lang="en-US" sz="1200">
                          <a:solidFill>
                            <a:schemeClr val="bg1"/>
                          </a:solidFill>
                          <a:effectLst/>
                        </a:rPr>
                        <a:t>2012</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dirty="0">
                          <a:solidFill>
                            <a:schemeClr val="bg1"/>
                          </a:solidFill>
                          <a:effectLst/>
                        </a:rPr>
                        <a:t>Google has launched an Android app feature called “Google now”, which provides the user with a prediction.</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1014351">
                <a:tc>
                  <a:txBody>
                    <a:bodyPr/>
                    <a:lstStyle/>
                    <a:p>
                      <a:r>
                        <a:rPr lang="en-US" sz="1200">
                          <a:solidFill>
                            <a:schemeClr val="bg1"/>
                          </a:solidFill>
                          <a:effectLst/>
                        </a:rPr>
                        <a:t>2018</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US" sz="1200" dirty="0">
                          <a:solidFill>
                            <a:schemeClr val="bg1"/>
                          </a:solidFill>
                          <a:effectLst/>
                        </a:rPr>
                        <a:t>The “Project Debater” from IBM debated complex topics with two master debaters and performed exceptionally well.</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r>
            </a:tbl>
          </a:graphicData>
        </a:graphic>
      </p:graphicFrame>
    </p:spTree>
    <p:extLst>
      <p:ext uri="{BB962C8B-B14F-4D97-AF65-F5344CB8AC3E}">
        <p14:creationId xmlns:p14="http://schemas.microsoft.com/office/powerpoint/2010/main" val="36425376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36195933"/>
              </p:ext>
            </p:extLst>
          </p:nvPr>
        </p:nvGraphicFramePr>
        <p:xfrm>
          <a:off x="1777284" y="875762"/>
          <a:ext cx="8899302" cy="5345840"/>
        </p:xfrm>
        <a:graphic>
          <a:graphicData uri="http://schemas.openxmlformats.org/drawingml/2006/table">
            <a:tbl>
              <a:tblPr/>
              <a:tblGrid>
                <a:gridCol w="4449651"/>
                <a:gridCol w="4449651"/>
              </a:tblGrid>
              <a:tr h="732240">
                <a:tc>
                  <a:txBody>
                    <a:bodyPr/>
                    <a:lstStyle/>
                    <a:p>
                      <a:r>
                        <a:rPr lang="en-US" sz="1200" dirty="0">
                          <a:solidFill>
                            <a:schemeClr val="bg1"/>
                          </a:solidFill>
                          <a:effectLst/>
                        </a:rPr>
                        <a:t>1979</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200">
                          <a:solidFill>
                            <a:schemeClr val="bg1"/>
                          </a:solidFill>
                          <a:effectLst/>
                        </a:rPr>
                        <a:t>The world’s first computer-controlled autonomous vehicle, Stanford Cart, was built.</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r h="512080">
                <a:tc>
                  <a:txBody>
                    <a:bodyPr/>
                    <a:lstStyle/>
                    <a:p>
                      <a:r>
                        <a:rPr lang="en-US" sz="1200" dirty="0">
                          <a:solidFill>
                            <a:schemeClr val="bg1"/>
                          </a:solidFill>
                          <a:effectLst/>
                        </a:rPr>
                        <a:t>1990</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solidFill>
                            <a:schemeClr val="bg1"/>
                          </a:solidFill>
                          <a:effectLst/>
                        </a:rPr>
                        <a:t>Significant demonstrations in machine learning</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732240">
                <a:tc>
                  <a:txBody>
                    <a:bodyPr/>
                    <a:lstStyle/>
                    <a:p>
                      <a:r>
                        <a:rPr lang="en-US" sz="1200" dirty="0">
                          <a:solidFill>
                            <a:schemeClr val="bg1"/>
                          </a:solidFill>
                          <a:effectLst/>
                        </a:rPr>
                        <a:t>1997</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200">
                          <a:solidFill>
                            <a:schemeClr val="bg1"/>
                          </a:solidFill>
                          <a:effectLst/>
                        </a:rPr>
                        <a:t>The Deep Blue Chess Program beat the then world chess champion, Garry Kasparov.</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r h="952400">
                <a:tc>
                  <a:txBody>
                    <a:bodyPr/>
                    <a:lstStyle/>
                    <a:p>
                      <a:r>
                        <a:rPr lang="en-US" sz="1200" dirty="0">
                          <a:solidFill>
                            <a:schemeClr val="bg1"/>
                          </a:solidFill>
                          <a:effectLst/>
                        </a:rPr>
                        <a:t>2000</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solidFill>
                            <a:schemeClr val="bg1"/>
                          </a:solidFill>
                          <a:effectLst/>
                        </a:rPr>
                        <a:t>Interactive robot pets have become commercially available. MIT displays Kismet, a robot with a face that expresses emotions.</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732240">
                <a:tc>
                  <a:txBody>
                    <a:bodyPr/>
                    <a:lstStyle/>
                    <a:p>
                      <a:r>
                        <a:rPr lang="en-US" sz="1200" dirty="0">
                          <a:solidFill>
                            <a:schemeClr val="bg1"/>
                          </a:solidFill>
                          <a:effectLst/>
                        </a:rPr>
                        <a:t>2006</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c>
                  <a:txBody>
                    <a:bodyPr/>
                    <a:lstStyle/>
                    <a:p>
                      <a:r>
                        <a:rPr lang="en-US" sz="1200" dirty="0">
                          <a:solidFill>
                            <a:schemeClr val="bg1"/>
                          </a:solidFill>
                          <a:effectLst/>
                        </a:rPr>
                        <a:t>AI came into the Business world in the year 2006. Companies like Facebook, Netflix, Twitter started using AI.</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9F9F9"/>
                    </a:solidFill>
                  </a:tcPr>
                </a:tc>
              </a:tr>
              <a:tr h="732240">
                <a:tc>
                  <a:txBody>
                    <a:bodyPr/>
                    <a:lstStyle/>
                    <a:p>
                      <a:r>
                        <a:rPr lang="en-US" sz="1200">
                          <a:solidFill>
                            <a:schemeClr val="bg1"/>
                          </a:solidFill>
                          <a:effectLst/>
                        </a:rPr>
                        <a:t>2012</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dirty="0">
                          <a:solidFill>
                            <a:schemeClr val="bg1"/>
                          </a:solidFill>
                          <a:effectLst/>
                        </a:rPr>
                        <a:t>Google has launched an Android app feature called “Google now”, which provides the user with a prediction.</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r>
              <a:tr h="952400">
                <a:tc>
                  <a:txBody>
                    <a:bodyPr/>
                    <a:lstStyle/>
                    <a:p>
                      <a:r>
                        <a:rPr lang="en-US" sz="1200">
                          <a:solidFill>
                            <a:schemeClr val="bg1"/>
                          </a:solidFill>
                          <a:effectLst/>
                        </a:rPr>
                        <a:t>2018</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c>
                  <a:txBody>
                    <a:bodyPr/>
                    <a:lstStyle/>
                    <a:p>
                      <a:r>
                        <a:rPr lang="en-US" sz="1200" dirty="0">
                          <a:solidFill>
                            <a:schemeClr val="bg1"/>
                          </a:solidFill>
                          <a:effectLst/>
                        </a:rPr>
                        <a:t>The “Project Debater” from IBM debated complex topics with two master debaters and performed exceptionally well.</a:t>
                      </a:r>
                    </a:p>
                  </a:txBody>
                  <a:tcPr marL="59607" marR="59607" marT="29804" marB="29804" anchor="ctr">
                    <a:lnL>
                      <a:noFill/>
                    </a:lnL>
                    <a:lnR>
                      <a:noFill/>
                    </a:lnR>
                    <a:lnT w="9525" cap="flat" cmpd="sng" algn="ctr">
                      <a:solidFill>
                        <a:srgbClr val="EEEEEE"/>
                      </a:solidFill>
                      <a:prstDash val="solid"/>
                      <a:round/>
                      <a:headEnd type="none" w="med" len="med"/>
                      <a:tailEnd type="none" w="med" len="med"/>
                    </a:lnT>
                    <a:lnB>
                      <a:noFill/>
                    </a:lnB>
                    <a:solidFill>
                      <a:srgbClr val="F9F9F9"/>
                    </a:solidFill>
                  </a:tcPr>
                </a:tc>
              </a:tr>
            </a:tbl>
          </a:graphicData>
        </a:graphic>
      </p:graphicFrame>
    </p:spTree>
    <p:extLst>
      <p:ext uri="{BB962C8B-B14F-4D97-AF65-F5344CB8AC3E}">
        <p14:creationId xmlns:p14="http://schemas.microsoft.com/office/powerpoint/2010/main" val="39422132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Goals of Artificial Intelligence</a:t>
            </a:r>
            <a:br>
              <a:rPr lang="en-US" dirty="0" smtClean="0"/>
            </a:br>
            <a:endParaRPr lang="en-US" dirty="0"/>
          </a:p>
        </p:txBody>
      </p:sp>
      <p:sp>
        <p:nvSpPr>
          <p:cNvPr id="3" name="Content Placeholder 2"/>
          <p:cNvSpPr>
            <a:spLocks noGrp="1"/>
          </p:cNvSpPr>
          <p:nvPr>
            <p:ph idx="1"/>
          </p:nvPr>
        </p:nvSpPr>
        <p:spPr/>
        <p:txBody>
          <a:bodyPr>
            <a:normAutofit fontScale="92500"/>
          </a:bodyPr>
          <a:lstStyle/>
          <a:p>
            <a:r>
              <a:rPr lang="en-US" dirty="0" smtClean="0"/>
              <a:t>Here are the main Goals of AI:</a:t>
            </a:r>
          </a:p>
          <a:p>
            <a:endParaRPr lang="en-US" dirty="0" smtClean="0"/>
          </a:p>
          <a:p>
            <a:r>
              <a:rPr lang="en-US" dirty="0" smtClean="0"/>
              <a:t>It helps you reduce the amount of time needed to perform specific tasks.</a:t>
            </a:r>
          </a:p>
          <a:p>
            <a:r>
              <a:rPr lang="en-US" dirty="0" smtClean="0"/>
              <a:t>Making it easier for humans to interact with machines.</a:t>
            </a:r>
          </a:p>
          <a:p>
            <a:r>
              <a:rPr lang="en-US" dirty="0" smtClean="0"/>
              <a:t>Facilitating human-computer interaction in a way that is more natural and efficient.</a:t>
            </a:r>
          </a:p>
          <a:p>
            <a:r>
              <a:rPr lang="en-US" dirty="0" smtClean="0"/>
              <a:t>Improving the accuracy and speed of medical diagnoses.</a:t>
            </a:r>
          </a:p>
          <a:p>
            <a:r>
              <a:rPr lang="en-US" dirty="0" smtClean="0"/>
              <a:t>Helping people learn new information more quickly.</a:t>
            </a:r>
          </a:p>
          <a:p>
            <a:r>
              <a:rPr lang="en-US" dirty="0" smtClean="0"/>
              <a:t>Enhancing communication between humans and machines.</a:t>
            </a:r>
            <a:endParaRPr lang="en-US" dirty="0"/>
          </a:p>
        </p:txBody>
      </p:sp>
    </p:spTree>
    <p:extLst>
      <p:ext uri="{BB962C8B-B14F-4D97-AF65-F5344CB8AC3E}">
        <p14:creationId xmlns:p14="http://schemas.microsoft.com/office/powerpoint/2010/main" val="25673881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Subfields of Artificial Intelligence</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Here, are some important subfields of Artificial Intelligence:</a:t>
            </a:r>
          </a:p>
          <a:p>
            <a:endParaRPr lang="en-US" dirty="0" smtClean="0"/>
          </a:p>
          <a:p>
            <a:r>
              <a:rPr lang="en-US" dirty="0" smtClean="0"/>
              <a:t>Machine Learning: Machine learning is the art of studying algorithms that learn from examples and experiences. Machine learning is based on the idea that some patterns in the data were identified and used for future predictions. The difference from hardcoding rules is that the machine learns to find such rules.</a:t>
            </a:r>
          </a:p>
          <a:p>
            <a:endParaRPr lang="en-US" dirty="0" smtClean="0"/>
          </a:p>
          <a:p>
            <a:r>
              <a:rPr lang="en-US" dirty="0" smtClean="0"/>
              <a:t>Deep Learning: Deep learning is a sub-field of machine learning. Deep learning does not mean the machine learns more in-depth knowledge; it uses different layers to learn from the data. The depth of the model is represented by the number of layers in the model. For instance, the Google </a:t>
            </a:r>
            <a:r>
              <a:rPr lang="en-US" dirty="0" err="1" smtClean="0"/>
              <a:t>LeNet</a:t>
            </a:r>
            <a:r>
              <a:rPr lang="en-US" dirty="0" smtClean="0"/>
              <a:t> model for image recognition counts 22 layers.</a:t>
            </a:r>
          </a:p>
          <a:p>
            <a:endParaRPr lang="en-US" dirty="0" smtClean="0"/>
          </a:p>
          <a:p>
            <a:r>
              <a:rPr lang="en-US" dirty="0" smtClean="0"/>
              <a:t>Natural Language Processing: A neural network is a group of connected I/O units where each connection has a weight associated with its computer programs. It helps you to build predictive models from large databases. This model builds upon the human nervous system. You can use this model to conduct image understanding, human learning, computer speech, etc.</a:t>
            </a:r>
            <a:endParaRPr lang="en-US" dirty="0"/>
          </a:p>
        </p:txBody>
      </p:sp>
    </p:spTree>
    <p:extLst>
      <p:ext uri="{BB962C8B-B14F-4D97-AF65-F5344CB8AC3E}">
        <p14:creationId xmlns:p14="http://schemas.microsoft.com/office/powerpoint/2010/main" val="25501830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Expert Systems: An expert system is an interactive and reliable computer-based decision-making system that uses facts and heuristics to solve complex decision-making problems. It is also considered at the highest level of human intelligence. The main goal of an expert system is to solve the most complex issues in a specific domain.</a:t>
            </a:r>
          </a:p>
          <a:p>
            <a:endParaRPr lang="en-US" dirty="0" smtClean="0"/>
          </a:p>
          <a:p>
            <a:r>
              <a:rPr lang="en-US" dirty="0" smtClean="0"/>
              <a:t>Fuzzy Logic: Fuzzy Logic is defined as a many-valued logic form that may have truth values of variables in any real number between 0 and 1. It is the handle concept of partial truth. In real life, we may encounter a situation where we can’t decide whether the statement is true or false.</a:t>
            </a:r>
            <a:endParaRPr lang="en-US" dirty="0"/>
          </a:p>
        </p:txBody>
      </p:sp>
    </p:spTree>
    <p:extLst>
      <p:ext uri="{BB962C8B-B14F-4D97-AF65-F5344CB8AC3E}">
        <p14:creationId xmlns:p14="http://schemas.microsoft.com/office/powerpoint/2010/main" val="26050891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838450" y="2167731"/>
            <a:ext cx="6515100" cy="3667125"/>
          </a:xfrm>
          <a:prstGeom prst="rect">
            <a:avLst/>
          </a:prstGeom>
        </p:spPr>
      </p:pic>
    </p:spTree>
    <p:extLst>
      <p:ext uri="{BB962C8B-B14F-4D97-AF65-F5344CB8AC3E}">
        <p14:creationId xmlns:p14="http://schemas.microsoft.com/office/powerpoint/2010/main" val="35591778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Artificial Intelligence</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There are three main types of artificial intelligence: rule-based, decision tree, and neural networks.</a:t>
            </a:r>
          </a:p>
          <a:p>
            <a:endParaRPr lang="en-US" dirty="0" smtClean="0"/>
          </a:p>
          <a:p>
            <a:r>
              <a:rPr lang="en-US" dirty="0" smtClean="0"/>
              <a:t>Narrow AI is a type of AI that helps you perform a dedicated task with intelligence.</a:t>
            </a:r>
          </a:p>
          <a:p>
            <a:r>
              <a:rPr lang="en-US" dirty="0" smtClean="0"/>
              <a:t>General AI is a type of AI intelligence that can perform any intellectual task efficiently like a human.</a:t>
            </a:r>
          </a:p>
          <a:p>
            <a:r>
              <a:rPr lang="en-US" dirty="0" smtClean="0"/>
              <a:t>Rule-based AI is based on a set of pre-determined rules that are applied to an input data set. The system then produces a corresponding output.</a:t>
            </a:r>
          </a:p>
          <a:p>
            <a:r>
              <a:rPr lang="en-US" dirty="0" smtClean="0"/>
              <a:t>Decision tree AI is similar to rule-based AI in that it uses sets of pre-determined rules to make decisions. However, the decision tree also allows for branching and looping to consider different options.</a:t>
            </a:r>
          </a:p>
          <a:p>
            <a:r>
              <a:rPr lang="en-US" dirty="0" smtClean="0"/>
              <a:t>Super AI is a type of AI that allows computers to understand human language and respond in a natural way.</a:t>
            </a:r>
          </a:p>
          <a:p>
            <a:r>
              <a:rPr lang="en-US" dirty="0" smtClean="0"/>
              <a:t>Robot intelligence is a type of AI that allows robots to have complex cognitive abilities, including reasoning, planning, and learning.</a:t>
            </a:r>
            <a:endParaRPr lang="en-US" dirty="0"/>
          </a:p>
        </p:txBody>
      </p:sp>
    </p:spTree>
    <p:extLst>
      <p:ext uri="{BB962C8B-B14F-4D97-AF65-F5344CB8AC3E}">
        <p14:creationId xmlns:p14="http://schemas.microsoft.com/office/powerpoint/2010/main" val="39621563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 </a:t>
            </a:r>
            <a:r>
              <a:rPr lang="en-US" dirty="0" err="1" smtClean="0"/>
              <a:t>Vs</a:t>
            </a:r>
            <a:r>
              <a:rPr lang="en-US" dirty="0" smtClean="0"/>
              <a:t> Machine Learning</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Most of our smartphone, daily device or even the internet uses Artificial Intelligence. Very often, AI and machine learning are used interchangeably by big companies that want to announce their latest innovation. However, Machine learning and AI are different in some ways.</a:t>
            </a:r>
          </a:p>
          <a:p>
            <a:endParaRPr lang="en-US" dirty="0" smtClean="0"/>
          </a:p>
          <a:p>
            <a:r>
              <a:rPr lang="en-US" dirty="0" smtClean="0"/>
              <a:t>AI- artificial intelligence- is the science of training machines to perform human tasks. The term was invented in the 1950s when scientists began exploring how computers could solve problems on their own.</a:t>
            </a:r>
          </a:p>
          <a:p>
            <a:endParaRPr lang="en-US" dirty="0" smtClean="0"/>
          </a:p>
          <a:p>
            <a:endParaRPr lang="en-US" dirty="0"/>
          </a:p>
        </p:txBody>
      </p:sp>
    </p:spTree>
    <p:extLst>
      <p:ext uri="{BB962C8B-B14F-4D97-AF65-F5344CB8AC3E}">
        <p14:creationId xmlns:p14="http://schemas.microsoft.com/office/powerpoint/2010/main" val="40694914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557587" y="1853406"/>
            <a:ext cx="5076825" cy="4295775"/>
          </a:xfrm>
          <a:prstGeom prst="rect">
            <a:avLst/>
          </a:prstGeom>
        </p:spPr>
      </p:pic>
    </p:spTree>
    <p:extLst>
      <p:ext uri="{BB962C8B-B14F-4D97-AF65-F5344CB8AC3E}">
        <p14:creationId xmlns:p14="http://schemas.microsoft.com/office/powerpoint/2010/main" val="1967177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AI is used in all industries, from marketing to supply chain, finance, food-processing sector. According to a McKinsey survey, financial services and high tech communication are leading the AI fields.</a:t>
            </a:r>
          </a:p>
          <a:p>
            <a:endParaRPr lang="en-US" dirty="0" smtClean="0"/>
          </a:p>
          <a:p>
            <a:r>
              <a:rPr lang="en-US" dirty="0" smtClean="0"/>
              <a:t>Demand of AI in various Industries</a:t>
            </a:r>
            <a:endParaRPr lang="en-US" dirty="0"/>
          </a:p>
        </p:txBody>
      </p:sp>
    </p:spTree>
    <p:extLst>
      <p:ext uri="{BB962C8B-B14F-4D97-AF65-F5344CB8AC3E}">
        <p14:creationId xmlns:p14="http://schemas.microsoft.com/office/powerpoint/2010/main" val="3634425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876550" y="2086769"/>
            <a:ext cx="6438900" cy="3829050"/>
          </a:xfrm>
          <a:prstGeom prst="rect">
            <a:avLst/>
          </a:prstGeom>
        </p:spPr>
      </p:pic>
    </p:spTree>
    <p:extLst>
      <p:ext uri="{BB962C8B-B14F-4D97-AF65-F5344CB8AC3E}">
        <p14:creationId xmlns:p14="http://schemas.microsoft.com/office/powerpoint/2010/main" val="4424377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is AI booming now?</a:t>
            </a:r>
            <a:br>
              <a:rPr lang="en-US" dirty="0" smtClean="0"/>
            </a:br>
            <a:endParaRPr lang="en-US" dirty="0"/>
          </a:p>
        </p:txBody>
      </p:sp>
      <p:sp>
        <p:nvSpPr>
          <p:cNvPr id="3" name="Content Placeholder 2"/>
          <p:cNvSpPr>
            <a:spLocks noGrp="1"/>
          </p:cNvSpPr>
          <p:nvPr>
            <p:ph idx="1"/>
          </p:nvPr>
        </p:nvSpPr>
        <p:spPr/>
        <p:txBody>
          <a:bodyPr/>
          <a:lstStyle/>
          <a:p>
            <a:r>
              <a:rPr lang="en-US" dirty="0" smtClean="0"/>
              <a:t>Now in this Artificial Intelligence testing tutorial, let’s learn why AI is booming now. Let’s understand by the below diagram.</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1387764" y="2638425"/>
            <a:ext cx="6943725" cy="4219575"/>
          </a:xfrm>
          <a:prstGeom prst="rect">
            <a:avLst/>
          </a:prstGeom>
        </p:spPr>
      </p:pic>
    </p:spTree>
    <p:extLst>
      <p:ext uri="{BB962C8B-B14F-4D97-AF65-F5344CB8AC3E}">
        <p14:creationId xmlns:p14="http://schemas.microsoft.com/office/powerpoint/2010/main" val="31038783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A neural network has been out since the nineties with the seminal paper of </a:t>
            </a:r>
            <a:r>
              <a:rPr lang="en-US" dirty="0" err="1" smtClean="0"/>
              <a:t>Yann</a:t>
            </a:r>
            <a:r>
              <a:rPr lang="en-US" dirty="0" smtClean="0"/>
              <a:t> </a:t>
            </a:r>
            <a:r>
              <a:rPr lang="en-US" dirty="0" err="1" smtClean="0"/>
              <a:t>LeCun</a:t>
            </a:r>
            <a:r>
              <a:rPr lang="en-US" dirty="0" smtClean="0"/>
              <a:t>. However, it started to become famous around the year 2012. Explained by three critical factors for its popularity are:</a:t>
            </a:r>
          </a:p>
          <a:p>
            <a:endParaRPr lang="en-US" dirty="0" smtClean="0"/>
          </a:p>
          <a:p>
            <a:r>
              <a:rPr lang="en-US" dirty="0" smtClean="0"/>
              <a:t>Hardware</a:t>
            </a:r>
          </a:p>
          <a:p>
            <a:r>
              <a:rPr lang="en-US" dirty="0" smtClean="0"/>
              <a:t>Data</a:t>
            </a:r>
          </a:p>
          <a:p>
            <a:r>
              <a:rPr lang="en-US" dirty="0" smtClean="0"/>
              <a:t>Algorithm</a:t>
            </a:r>
          </a:p>
          <a:p>
            <a:r>
              <a:rPr lang="en-US" dirty="0" smtClean="0"/>
              <a:t>Machine learning is an experimental field, meaning it needs data to test new ideas or approaches. With the boom of the internet, data became more easily accessible. Besides, giant companies like NVIDIA and AMD have developed high-performance graphics chips for the gaming market.</a:t>
            </a:r>
            <a:endParaRPr lang="en-US" dirty="0"/>
          </a:p>
        </p:txBody>
      </p:sp>
    </p:spTree>
    <p:extLst>
      <p:ext uri="{BB962C8B-B14F-4D97-AF65-F5344CB8AC3E}">
        <p14:creationId xmlns:p14="http://schemas.microsoft.com/office/powerpoint/2010/main" val="13002076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Data</a:t>
            </a:r>
          </a:p>
          <a:p>
            <a:r>
              <a:rPr lang="en-US" dirty="0" smtClean="0"/>
              <a:t>Deep learning is the structure of the model, and the data is the fluid to make it alive. Data powers artificial intelligence. Without data, nothing can be done. The latest Technologies have pushed the boundaries of data storage, and it is easier than ever to store a high amount of data in a data center.</a:t>
            </a:r>
            <a:endParaRPr lang="en-US" dirty="0"/>
          </a:p>
        </p:txBody>
      </p:sp>
    </p:spTree>
    <p:extLst>
      <p:ext uri="{BB962C8B-B14F-4D97-AF65-F5344CB8AC3E}">
        <p14:creationId xmlns:p14="http://schemas.microsoft.com/office/powerpoint/2010/main" val="27235622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109912" y="3086894"/>
            <a:ext cx="5972175" cy="1828800"/>
          </a:xfrm>
          <a:prstGeom prst="rect">
            <a:avLst/>
          </a:prstGeom>
        </p:spPr>
      </p:pic>
    </p:spTree>
    <p:extLst>
      <p:ext uri="{BB962C8B-B14F-4D97-AF65-F5344CB8AC3E}">
        <p14:creationId xmlns:p14="http://schemas.microsoft.com/office/powerpoint/2010/main" val="7657920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smtClean="0"/>
              <a:t>Summary</a:t>
            </a:r>
          </a:p>
          <a:p>
            <a:r>
              <a:rPr lang="en-US" dirty="0" smtClean="0"/>
              <a:t>AI is a full form of Artificial intelligence is the science of training machines to imitate or reproduce human tasks.</a:t>
            </a:r>
          </a:p>
          <a:p>
            <a:r>
              <a:rPr lang="en-US" dirty="0" smtClean="0"/>
              <a:t>A scientist can use different methods to train a machine. At the beginning of the AI’s ages, programmers wrote hard-coded programs, typing every logical possibility the machine could face and how to respond.</a:t>
            </a:r>
          </a:p>
          <a:p>
            <a:r>
              <a:rPr lang="en-US" dirty="0" smtClean="0"/>
              <a:t>When a system grows complex, it becomes difficult to manage the rules. To overcome this issue, the machine can use data to learn how to take care of all the situations from a given environment.</a:t>
            </a:r>
          </a:p>
          <a:p>
            <a:r>
              <a:rPr lang="en-US" dirty="0" smtClean="0"/>
              <a:t>The most important feature of having a powerful AI is that it has enough data with considerable heterogeneity. For example, a machine can learn different languages as long as it has enough words to learn from.</a:t>
            </a:r>
          </a:p>
          <a:p>
            <a:r>
              <a:rPr lang="en-US" dirty="0" smtClean="0"/>
              <a:t>AI is the new cutting-edge technology. Ventures capitalists invest billions of dollars in startups or AI projects, and McKinsey estimates AI can boost every industry by at least a double-digit growth rate.</a:t>
            </a:r>
          </a:p>
          <a:p>
            <a:r>
              <a:rPr lang="en-US" dirty="0" smtClean="0"/>
              <a:t>General AI, Rule-based AI, Decision tree AI, Super AI are types of artificial intelligence.</a:t>
            </a:r>
            <a:endParaRPr lang="en-US" dirty="0"/>
          </a:p>
        </p:txBody>
      </p:sp>
    </p:spTree>
    <p:extLst>
      <p:ext uri="{BB962C8B-B14F-4D97-AF65-F5344CB8AC3E}">
        <p14:creationId xmlns:p14="http://schemas.microsoft.com/office/powerpoint/2010/main" val="36591811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OpenCV</a:t>
            </a:r>
            <a:r>
              <a:rPr lang="en-US" dirty="0"/>
              <a:t> </a:t>
            </a:r>
            <a:r>
              <a:rPr lang="en-US" dirty="0" smtClean="0"/>
              <a:t>in </a:t>
            </a:r>
            <a:r>
              <a:rPr lang="en-US" dirty="0"/>
              <a:t>Python</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b="1" dirty="0"/>
              <a:t>What is Computer Vision?</a:t>
            </a:r>
            <a:endParaRPr lang="en-US" dirty="0"/>
          </a:p>
          <a:p>
            <a:r>
              <a:rPr lang="en-US" dirty="0"/>
              <a:t>The term Computer Vision (CV) is used and heard very often in artificial intelligence (AI) and deep learning (DL) applications. The term essentially means giving a computer the ability to see the world as we humans do.</a:t>
            </a:r>
          </a:p>
          <a:p>
            <a:r>
              <a:rPr lang="en-US" dirty="0"/>
              <a:t>Computer Vision is a field of study which enables computers to replicate the human visual system. As already mentioned above, It’s a subset of artificial intelligence which collects information from digital images or videos and processes them to define the attributes. The entire process involves image acquiring, screening, </a:t>
            </a:r>
            <a:r>
              <a:rPr lang="en-US" dirty="0" err="1"/>
              <a:t>analysing</a:t>
            </a:r>
            <a:r>
              <a:rPr lang="en-US" dirty="0"/>
              <a:t>, identifying and extracting information. This extensive processing helps computers to understand any visual content and act on it accordingly. </a:t>
            </a:r>
          </a:p>
          <a:p>
            <a:r>
              <a:rPr lang="en-US" dirty="0"/>
              <a:t>Computer vision projects translate digital visual content into explicit descriptions to gather multi-dimensional data. This data is then turned into a computer-readable language to aid the decision-making process. The main objective of this branch of artificial intelligence is to teach machines to collect information from pixels. </a:t>
            </a:r>
          </a:p>
          <a:p>
            <a:endParaRPr lang="en-US" dirty="0"/>
          </a:p>
        </p:txBody>
      </p:sp>
    </p:spTree>
    <p:extLst>
      <p:ext uri="{BB962C8B-B14F-4D97-AF65-F5344CB8AC3E}">
        <p14:creationId xmlns:p14="http://schemas.microsoft.com/office/powerpoint/2010/main" val="30564205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a computer read an image?</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How does a human mind apprehend an image? When you see the image </a:t>
            </a:r>
            <a:r>
              <a:rPr lang="en-US" dirty="0" err="1" smtClean="0"/>
              <a:t>below,what</a:t>
            </a:r>
            <a:r>
              <a:rPr lang="en-US" dirty="0" smtClean="0"/>
              <a:t> do you actually see and how do you say what is in the Image?</a:t>
            </a:r>
          </a:p>
          <a:p>
            <a:endParaRPr lang="en-US" dirty="0" smtClean="0"/>
          </a:p>
          <a:p>
            <a:endParaRPr lang="en-US" dirty="0" smtClean="0"/>
          </a:p>
          <a:p>
            <a:r>
              <a:rPr lang="en-US" dirty="0" smtClean="0"/>
              <a:t>You  most probably look for different shapes and </a:t>
            </a:r>
            <a:r>
              <a:rPr lang="en-US" dirty="0" err="1" smtClean="0"/>
              <a:t>colours</a:t>
            </a:r>
            <a:r>
              <a:rPr lang="en-US" dirty="0" smtClean="0"/>
              <a:t> in the Image and that might help you decide that this is an image of a dog. But does a computer also see it in the same way? The answer is no.</a:t>
            </a:r>
          </a:p>
          <a:p>
            <a:endParaRPr lang="en-US" dirty="0" smtClean="0"/>
          </a:p>
          <a:p>
            <a:r>
              <a:rPr lang="en-US" dirty="0" smtClean="0"/>
              <a:t>A digital image is an image composed of picture elements, also known as pixels, each with finite, discrete quantities of numeric representation for its intensity or grey level. So the computer sees an image as numerical values of these pixels and in order to </a:t>
            </a:r>
            <a:r>
              <a:rPr lang="en-US" dirty="0" err="1" smtClean="0"/>
              <a:t>recognise</a:t>
            </a:r>
            <a:r>
              <a:rPr lang="en-US" dirty="0" smtClean="0"/>
              <a:t> a certain image, it has to </a:t>
            </a:r>
            <a:r>
              <a:rPr lang="en-US" dirty="0" err="1" smtClean="0"/>
              <a:t>recognise</a:t>
            </a:r>
            <a:r>
              <a:rPr lang="en-US" dirty="0" smtClean="0"/>
              <a:t> the patterns and regularities in this numerical data.</a:t>
            </a:r>
            <a:endParaRPr lang="en-US" dirty="0"/>
          </a:p>
        </p:txBody>
      </p:sp>
    </p:spTree>
    <p:extLst>
      <p:ext uri="{BB962C8B-B14F-4D97-AF65-F5344CB8AC3E}">
        <p14:creationId xmlns:p14="http://schemas.microsoft.com/office/powerpoint/2010/main" val="9517648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What is </a:t>
            </a:r>
            <a:r>
              <a:rPr lang="en-US" dirty="0" err="1" smtClean="0"/>
              <a:t>OpenCV</a:t>
            </a:r>
            <a:r>
              <a:rPr lang="en-US" dirty="0" smtClean="0"/>
              <a:t>?</a:t>
            </a:r>
          </a:p>
          <a:p>
            <a:r>
              <a:rPr lang="en-US" dirty="0" err="1" smtClean="0"/>
              <a:t>OpenCV</a:t>
            </a:r>
            <a:r>
              <a:rPr lang="en-US" dirty="0" smtClean="0"/>
              <a:t> ( Open Source Computer Vision Library) is an open source software library for computer vision and machine learning. </a:t>
            </a:r>
            <a:r>
              <a:rPr lang="en-US" dirty="0" err="1" smtClean="0"/>
              <a:t>OpenCV</a:t>
            </a:r>
            <a:r>
              <a:rPr lang="en-US" dirty="0" smtClean="0"/>
              <a:t> was created to provide a shared infrastructure for applications for computer vision and to speed up the use of machine perception in consumer products. </a:t>
            </a:r>
            <a:r>
              <a:rPr lang="en-US" dirty="0" err="1" smtClean="0"/>
              <a:t>OpenCV</a:t>
            </a:r>
            <a:r>
              <a:rPr lang="en-US" dirty="0" smtClean="0"/>
              <a:t>, as a BSD-licensed software, makes it simple for companies to use and change the code. There are some predefined packages and libraries that make our life simple and </a:t>
            </a:r>
            <a:r>
              <a:rPr lang="en-US" dirty="0" err="1" smtClean="0"/>
              <a:t>OpenCV</a:t>
            </a:r>
            <a:r>
              <a:rPr lang="en-US" dirty="0" smtClean="0"/>
              <a:t> is one of them.</a:t>
            </a:r>
            <a:endParaRPr lang="en-US" dirty="0"/>
          </a:p>
        </p:txBody>
      </p:sp>
    </p:spTree>
    <p:extLst>
      <p:ext uri="{BB962C8B-B14F-4D97-AF65-F5344CB8AC3E}">
        <p14:creationId xmlns:p14="http://schemas.microsoft.com/office/powerpoint/2010/main" val="34291750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OpenCV</a:t>
            </a:r>
            <a:r>
              <a:rPr lang="en-US" b="1" dirty="0"/>
              <a:t> installation</a:t>
            </a:r>
            <a:r>
              <a:rPr lang="en-US" dirty="0"/>
              <a:t/>
            </a:r>
            <a:br>
              <a:rPr lang="en-US" dirty="0"/>
            </a:br>
            <a:endParaRPr lang="en-US" dirty="0"/>
          </a:p>
        </p:txBody>
      </p:sp>
      <p:sp>
        <p:nvSpPr>
          <p:cNvPr id="3" name="Content Placeholder 2"/>
          <p:cNvSpPr>
            <a:spLocks noGrp="1"/>
          </p:cNvSpPr>
          <p:nvPr>
            <p:ph idx="1"/>
          </p:nvPr>
        </p:nvSpPr>
        <p:spPr/>
        <p:txBody>
          <a:bodyPr/>
          <a:lstStyle/>
          <a:p>
            <a:r>
              <a:rPr lang="en-US" dirty="0" smtClean="0"/>
              <a:t>pip install </a:t>
            </a:r>
            <a:r>
              <a:rPr lang="en-US" dirty="0" err="1" smtClean="0"/>
              <a:t>opencv</a:t>
            </a:r>
            <a:r>
              <a:rPr lang="en-US" dirty="0" smtClean="0"/>
              <a:t>-python </a:t>
            </a:r>
            <a:endParaRPr lang="en-US" dirty="0"/>
          </a:p>
        </p:txBody>
      </p:sp>
    </p:spTree>
    <p:extLst>
      <p:ext uri="{BB962C8B-B14F-4D97-AF65-F5344CB8AC3E}">
        <p14:creationId xmlns:p14="http://schemas.microsoft.com/office/powerpoint/2010/main" val="24162322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 &amp; Save Images</a:t>
            </a:r>
            <a:br>
              <a:rPr lang="en-US" dirty="0" smtClean="0"/>
            </a:b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Now for </a:t>
            </a:r>
            <a:r>
              <a:rPr lang="en-US" dirty="0" err="1" smtClean="0"/>
              <a:t>OpenCV</a:t>
            </a:r>
            <a:r>
              <a:rPr lang="en-US" dirty="0" smtClean="0"/>
              <a:t> to work on any image, it must be able to read it. Here we will see how to read a file and save it after we are done with it. Let’s see how to do it:</a:t>
            </a:r>
          </a:p>
          <a:p>
            <a:endParaRPr lang="en-US" dirty="0" smtClean="0"/>
          </a:p>
          <a:p>
            <a:r>
              <a:rPr lang="en-US" dirty="0" err="1" smtClean="0"/>
              <a:t>Imread</a:t>
            </a:r>
            <a:r>
              <a:rPr lang="en-US" dirty="0" smtClean="0"/>
              <a:t> function in </a:t>
            </a:r>
            <a:r>
              <a:rPr lang="en-US" dirty="0" err="1" smtClean="0"/>
              <a:t>OpenCV</a:t>
            </a:r>
            <a:endParaRPr lang="en-US" dirty="0" smtClean="0"/>
          </a:p>
          <a:p>
            <a:r>
              <a:rPr lang="en-US" dirty="0" smtClean="0"/>
              <a:t>We use the </a:t>
            </a:r>
            <a:r>
              <a:rPr lang="en-US" dirty="0" err="1" smtClean="0"/>
              <a:t>imread</a:t>
            </a:r>
            <a:r>
              <a:rPr lang="en-US" dirty="0" smtClean="0"/>
              <a:t> function to read </a:t>
            </a:r>
            <a:r>
              <a:rPr lang="en-US" dirty="0" err="1" smtClean="0"/>
              <a:t>images,here</a:t>
            </a:r>
            <a:r>
              <a:rPr lang="en-US" dirty="0" smtClean="0"/>
              <a:t> is the syntax of this function</a:t>
            </a:r>
          </a:p>
          <a:p>
            <a:endParaRPr lang="en-US" dirty="0" smtClean="0"/>
          </a:p>
          <a:p>
            <a:r>
              <a:rPr lang="en-US" dirty="0" smtClean="0"/>
              <a:t>cv2.imread(path, flag)</a:t>
            </a:r>
          </a:p>
          <a:p>
            <a:r>
              <a:rPr lang="en-US" dirty="0" smtClean="0"/>
              <a:t>The path parameter takes a string representing the path of the image to be </a:t>
            </a:r>
            <a:r>
              <a:rPr lang="en-US" dirty="0" err="1" smtClean="0"/>
              <a:t>read.The</a:t>
            </a:r>
            <a:r>
              <a:rPr lang="en-US" dirty="0" smtClean="0"/>
              <a:t> file should be in the working directory or we must give the full path to the </a:t>
            </a:r>
            <a:r>
              <a:rPr lang="en-US" dirty="0" err="1" smtClean="0"/>
              <a:t>image.The</a:t>
            </a:r>
            <a:r>
              <a:rPr lang="en-US" dirty="0" smtClean="0"/>
              <a:t> other parameter is the flag which is used to specify how our image should be read. Here are possible values that it takes and their working:</a:t>
            </a:r>
          </a:p>
          <a:p>
            <a:endParaRPr lang="en-US" dirty="0" smtClean="0"/>
          </a:p>
          <a:p>
            <a:r>
              <a:rPr lang="en-US" dirty="0" smtClean="0"/>
              <a:t>cv2.IMREAD_COLOR: It specifies to convert the image to the 3 channel BGR </a:t>
            </a:r>
          </a:p>
          <a:p>
            <a:r>
              <a:rPr lang="en-US" dirty="0" err="1" smtClean="0"/>
              <a:t>colour</a:t>
            </a:r>
            <a:r>
              <a:rPr lang="en-US" dirty="0" smtClean="0"/>
              <a:t> image. Any transparency of image will be neglected. It is the default</a:t>
            </a:r>
          </a:p>
          <a:p>
            <a:r>
              <a:rPr lang="en-US" dirty="0" smtClean="0"/>
              <a:t>flag. Alternatively, we can </a:t>
            </a:r>
            <a:r>
              <a:rPr lang="en-US" dirty="0" err="1" smtClean="0"/>
              <a:t>passinteger</a:t>
            </a:r>
            <a:r>
              <a:rPr lang="en-US" dirty="0" smtClean="0"/>
              <a:t> value 1 for this flag.</a:t>
            </a:r>
            <a:endParaRPr lang="en-US" dirty="0"/>
          </a:p>
        </p:txBody>
      </p:sp>
    </p:spTree>
    <p:extLst>
      <p:ext uri="{BB962C8B-B14F-4D97-AF65-F5344CB8AC3E}">
        <p14:creationId xmlns:p14="http://schemas.microsoft.com/office/powerpoint/2010/main" val="369148925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smtClean="0"/>
              <a:t>cv2.IMREAD_GRAYSCALE: It specifies to convert an image to </a:t>
            </a:r>
            <a:r>
              <a:rPr lang="en-US" dirty="0" err="1" smtClean="0"/>
              <a:t>thesingle</a:t>
            </a:r>
            <a:r>
              <a:rPr lang="en-US" dirty="0" smtClean="0"/>
              <a:t> channel </a:t>
            </a:r>
          </a:p>
          <a:p>
            <a:r>
              <a:rPr lang="en-US" dirty="0" smtClean="0"/>
              <a:t>grayscale image. Alternatively, we can pass integer value 0 for this flag.</a:t>
            </a:r>
          </a:p>
          <a:p>
            <a:r>
              <a:rPr lang="en-US" dirty="0" smtClean="0"/>
              <a:t>cv2.IMREAD_UNCHANGED: It specifies to load an image as such including alpha </a:t>
            </a:r>
          </a:p>
          <a:p>
            <a:r>
              <a:rPr lang="en-US" dirty="0" err="1" smtClean="0"/>
              <a:t>channel.Alternatively</a:t>
            </a:r>
            <a:r>
              <a:rPr lang="en-US" dirty="0" smtClean="0"/>
              <a:t>, we can pass integer value -1 for this flag.</a:t>
            </a:r>
          </a:p>
          <a:p>
            <a:r>
              <a:rPr lang="en-US" dirty="0" smtClean="0"/>
              <a:t>Usually the method </a:t>
            </a:r>
            <a:r>
              <a:rPr lang="en-US" dirty="0" err="1" smtClean="0"/>
              <a:t>imread</a:t>
            </a:r>
            <a:r>
              <a:rPr lang="en-US" dirty="0" smtClean="0"/>
              <a:t>() returns an image that is loaded from the specified file but in case the image cannot be read because of unsupported file format, missing file, unsupported or invalid format, it just returns a matrix. Here is a example in which we read an image from my storage.</a:t>
            </a:r>
          </a:p>
          <a:p>
            <a:endParaRPr lang="en-US" dirty="0" smtClean="0"/>
          </a:p>
          <a:p>
            <a:endParaRPr lang="en-US" dirty="0"/>
          </a:p>
        </p:txBody>
      </p:sp>
    </p:spTree>
    <p:extLst>
      <p:ext uri="{BB962C8B-B14F-4D97-AF65-F5344CB8AC3E}">
        <p14:creationId xmlns:p14="http://schemas.microsoft.com/office/powerpoint/2010/main" val="288140931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err="1" smtClean="0"/>
              <a:t>Imwrite</a:t>
            </a:r>
            <a:r>
              <a:rPr lang="en-US" dirty="0" smtClean="0"/>
              <a:t> function in </a:t>
            </a:r>
            <a:r>
              <a:rPr lang="en-US" dirty="0" err="1" smtClean="0"/>
              <a:t>OpenCV</a:t>
            </a:r>
            <a:endParaRPr lang="en-US" dirty="0" smtClean="0"/>
          </a:p>
          <a:p>
            <a:r>
              <a:rPr lang="en-US" dirty="0" smtClean="0"/>
              <a:t>We can use </a:t>
            </a:r>
            <a:r>
              <a:rPr lang="en-US" dirty="0" err="1" smtClean="0"/>
              <a:t>OpenCV’s</a:t>
            </a:r>
            <a:r>
              <a:rPr lang="en-US" dirty="0" smtClean="0"/>
              <a:t> </a:t>
            </a:r>
            <a:r>
              <a:rPr lang="en-US" dirty="0" err="1" smtClean="0"/>
              <a:t>imwrite</a:t>
            </a:r>
            <a:r>
              <a:rPr lang="en-US" dirty="0" smtClean="0"/>
              <a:t>() function to save an image in a storage device and the file extension defines the image format as shown in the example below. The syntax is the following:</a:t>
            </a:r>
          </a:p>
          <a:p>
            <a:endParaRPr lang="en-US" dirty="0" smtClean="0"/>
          </a:p>
          <a:p>
            <a:r>
              <a:rPr lang="en-US" dirty="0" smtClean="0"/>
              <a:t>cv2.imwrite(filename, image)  </a:t>
            </a:r>
          </a:p>
          <a:p>
            <a:r>
              <a:rPr lang="en-US" dirty="0" smtClean="0"/>
              <a:t>Parameters:</a:t>
            </a:r>
          </a:p>
          <a:p>
            <a:r>
              <a:rPr lang="en-US" dirty="0" smtClean="0"/>
              <a:t>filename: A string representing the file name. The filename must include image format.</a:t>
            </a:r>
          </a:p>
          <a:p>
            <a:r>
              <a:rPr lang="en-US" dirty="0" smtClean="0"/>
              <a:t>image: It is the image that is to be saved.</a:t>
            </a:r>
          </a:p>
          <a:p>
            <a:endParaRPr lang="en-US" dirty="0" smtClean="0"/>
          </a:p>
          <a:p>
            <a:r>
              <a:rPr lang="en-US" dirty="0" smtClean="0"/>
              <a:t> </a:t>
            </a:r>
          </a:p>
        </p:txBody>
      </p:sp>
    </p:spTree>
    <p:extLst>
      <p:ext uri="{BB962C8B-B14F-4D97-AF65-F5344CB8AC3E}">
        <p14:creationId xmlns:p14="http://schemas.microsoft.com/office/powerpoint/2010/main" val="41410426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r>
              <a:rPr lang="en-US" dirty="0" smtClean="0"/>
              <a:t>Here is an example in which we use this function:</a:t>
            </a:r>
          </a:p>
          <a:p>
            <a:endParaRPr lang="en-US" dirty="0" smtClean="0"/>
          </a:p>
          <a:p>
            <a:r>
              <a:rPr lang="en-US" dirty="0" smtClean="0"/>
              <a:t>1</a:t>
            </a:r>
          </a:p>
          <a:p>
            <a:r>
              <a:rPr lang="en-US" dirty="0" smtClean="0"/>
              <a:t>2</a:t>
            </a:r>
          </a:p>
          <a:p>
            <a:r>
              <a:rPr lang="en-US" dirty="0" smtClean="0"/>
              <a:t>3</a:t>
            </a:r>
          </a:p>
          <a:p>
            <a:r>
              <a:rPr lang="en-US" dirty="0" smtClean="0"/>
              <a:t>4</a:t>
            </a:r>
          </a:p>
          <a:p>
            <a:r>
              <a:rPr lang="en-US" dirty="0" smtClean="0"/>
              <a:t>5</a:t>
            </a:r>
          </a:p>
          <a:p>
            <a:r>
              <a:rPr lang="en-US" dirty="0" smtClean="0"/>
              <a:t>6</a:t>
            </a:r>
          </a:p>
          <a:p>
            <a:r>
              <a:rPr lang="en-US" dirty="0" smtClean="0"/>
              <a:t>import cv2  </a:t>
            </a:r>
          </a:p>
          <a:p>
            <a:r>
              <a:rPr lang="en-US" dirty="0" smtClean="0"/>
              <a:t># read image  </a:t>
            </a:r>
          </a:p>
          <a:p>
            <a:r>
              <a:rPr lang="en-US" dirty="0" err="1" smtClean="0"/>
              <a:t>img</a:t>
            </a:r>
            <a:r>
              <a:rPr lang="en-US" dirty="0" smtClean="0"/>
              <a:t> = cv2.imread(</a:t>
            </a:r>
            <a:r>
              <a:rPr lang="en-US" dirty="0" err="1" smtClean="0"/>
              <a:t>r'C</a:t>
            </a:r>
            <a:r>
              <a:rPr lang="en-US" dirty="0" smtClean="0"/>
              <a:t>:\Users\</a:t>
            </a:r>
            <a:r>
              <a:rPr lang="en-US" dirty="0" err="1" smtClean="0"/>
              <a:t>Mirza</a:t>
            </a:r>
            <a:r>
              <a:rPr lang="en-US" dirty="0" smtClean="0"/>
              <a:t>\dog.jpeg', 1)  </a:t>
            </a:r>
          </a:p>
          <a:p>
            <a:r>
              <a:rPr lang="en-US" dirty="0" smtClean="0"/>
              <a:t># save image  </a:t>
            </a:r>
          </a:p>
          <a:p>
            <a:r>
              <a:rPr lang="en-US" dirty="0" smtClean="0"/>
              <a:t>status = cv2.imwrite(</a:t>
            </a:r>
            <a:r>
              <a:rPr lang="en-US" dirty="0" err="1" smtClean="0"/>
              <a:t>r'C</a:t>
            </a:r>
            <a:r>
              <a:rPr lang="en-US" dirty="0" smtClean="0"/>
              <a:t>:\Users\</a:t>
            </a:r>
            <a:r>
              <a:rPr lang="en-US" dirty="0" err="1" smtClean="0"/>
              <a:t>Mirza</a:t>
            </a:r>
            <a:r>
              <a:rPr lang="en-US" dirty="0" smtClean="0"/>
              <a:t>\dog.jpeg',</a:t>
            </a:r>
            <a:r>
              <a:rPr lang="en-US" dirty="0" err="1" smtClean="0"/>
              <a:t>img</a:t>
            </a:r>
            <a:r>
              <a:rPr lang="en-US" dirty="0" smtClean="0"/>
              <a:t>)  </a:t>
            </a:r>
          </a:p>
          <a:p>
            <a:r>
              <a:rPr lang="en-US" dirty="0" smtClean="0"/>
              <a:t>print("Image written </a:t>
            </a:r>
            <a:r>
              <a:rPr lang="en-US" dirty="0" err="1" smtClean="0"/>
              <a:t>sucess</a:t>
            </a:r>
            <a:r>
              <a:rPr lang="en-US" dirty="0" smtClean="0"/>
              <a:t>? : ", status) </a:t>
            </a:r>
            <a:endParaRPr lang="en-US" dirty="0"/>
          </a:p>
        </p:txBody>
      </p:sp>
    </p:spTree>
    <p:extLst>
      <p:ext uri="{BB962C8B-B14F-4D97-AF65-F5344CB8AC3E}">
        <p14:creationId xmlns:p14="http://schemas.microsoft.com/office/powerpoint/2010/main" val="142625998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r>
              <a:rPr lang="en-US" b="1" dirty="0"/>
              <a:t>Access pixel values and modify them</a:t>
            </a:r>
            <a:r>
              <a:rPr lang="en-US" dirty="0"/>
              <a:t/>
            </a:r>
            <a:br>
              <a:rPr lang="en-US" dirty="0"/>
            </a:br>
            <a:endParaRPr lang="en-US" dirty="0"/>
          </a:p>
          <a:p>
            <a:r>
              <a:rPr lang="en-US" dirty="0"/>
              <a:t>So there are basically two ways to access a pixel value in an Image and modify </a:t>
            </a:r>
            <a:r>
              <a:rPr lang="en-US" dirty="0" err="1"/>
              <a:t>them.First</a:t>
            </a:r>
            <a:r>
              <a:rPr lang="en-US" dirty="0"/>
              <a:t> let us see how we can access a particular pixel value of an image.</a:t>
            </a:r>
          </a:p>
          <a:p>
            <a:endParaRPr lang="en-US" dirty="0" smtClean="0"/>
          </a:p>
          <a:p>
            <a:r>
              <a:rPr lang="en-US" dirty="0" smtClean="0"/>
              <a:t>import </a:t>
            </a:r>
            <a:r>
              <a:rPr lang="en-US" dirty="0" err="1" smtClean="0"/>
              <a:t>numpy</a:t>
            </a:r>
            <a:r>
              <a:rPr lang="en-US" dirty="0" smtClean="0"/>
              <a:t> as </a:t>
            </a:r>
            <a:r>
              <a:rPr lang="en-US" dirty="0" err="1" smtClean="0"/>
              <a:t>np</a:t>
            </a:r>
            <a:endParaRPr lang="en-US" dirty="0" smtClean="0"/>
          </a:p>
          <a:p>
            <a:r>
              <a:rPr lang="en-US" dirty="0" smtClean="0"/>
              <a:t>import cv2 as cv</a:t>
            </a:r>
          </a:p>
          <a:p>
            <a:r>
              <a:rPr lang="en-US" dirty="0" err="1" smtClean="0"/>
              <a:t>img</a:t>
            </a:r>
            <a:r>
              <a:rPr lang="en-US" dirty="0" smtClean="0"/>
              <a:t> = </a:t>
            </a:r>
            <a:r>
              <a:rPr lang="en-US" dirty="0" err="1" smtClean="0"/>
              <a:t>cv.imread</a:t>
            </a:r>
            <a:r>
              <a:rPr lang="en-US" dirty="0" smtClean="0"/>
              <a:t>(</a:t>
            </a:r>
            <a:r>
              <a:rPr lang="en-US" dirty="0" err="1" smtClean="0"/>
              <a:t>r'C</a:t>
            </a:r>
            <a:r>
              <a:rPr lang="en-US" dirty="0" smtClean="0"/>
              <a:t>:\Users\</a:t>
            </a:r>
            <a:r>
              <a:rPr lang="en-US" dirty="0" err="1" smtClean="0"/>
              <a:t>Mirza</a:t>
            </a:r>
            <a:r>
              <a:rPr lang="en-US" dirty="0" smtClean="0"/>
              <a:t>\dog.jpeg')</a:t>
            </a:r>
          </a:p>
          <a:p>
            <a:r>
              <a:rPr lang="en-US" dirty="0" err="1" smtClean="0"/>
              <a:t>px</a:t>
            </a:r>
            <a:r>
              <a:rPr lang="en-US" dirty="0" smtClean="0"/>
              <a:t> = </a:t>
            </a:r>
            <a:r>
              <a:rPr lang="en-US" dirty="0" err="1" smtClean="0"/>
              <a:t>img</a:t>
            </a:r>
            <a:r>
              <a:rPr lang="en-US" dirty="0" smtClean="0"/>
              <a:t>[100,100]</a:t>
            </a:r>
          </a:p>
          <a:p>
            <a:r>
              <a:rPr lang="en-US" dirty="0" smtClean="0"/>
              <a:t>print( </a:t>
            </a:r>
            <a:r>
              <a:rPr lang="en-US" dirty="0" err="1" smtClean="0"/>
              <a:t>px</a:t>
            </a:r>
            <a:r>
              <a:rPr lang="en-US" dirty="0" smtClean="0"/>
              <a:t> )</a:t>
            </a:r>
            <a:endParaRPr lang="en-US" dirty="0"/>
          </a:p>
        </p:txBody>
      </p:sp>
    </p:spTree>
    <p:extLst>
      <p:ext uri="{BB962C8B-B14F-4D97-AF65-F5344CB8AC3E}">
        <p14:creationId xmlns:p14="http://schemas.microsoft.com/office/powerpoint/2010/main" val="103045060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Output:</a:t>
            </a:r>
          </a:p>
          <a:p>
            <a:r>
              <a:rPr lang="en-US" dirty="0" smtClean="0"/>
              <a:t> [157 166 200] </a:t>
            </a:r>
          </a:p>
          <a:p>
            <a:r>
              <a:rPr lang="en-US" dirty="0" smtClean="0"/>
              <a:t>Now as you can see we got a list containing 3 </a:t>
            </a:r>
            <a:r>
              <a:rPr lang="en-US" dirty="0" err="1" smtClean="0"/>
              <a:t>values.As</a:t>
            </a:r>
            <a:r>
              <a:rPr lang="en-US" dirty="0" smtClean="0"/>
              <a:t> we know </a:t>
            </a:r>
            <a:r>
              <a:rPr lang="en-US" dirty="0" err="1" smtClean="0"/>
              <a:t>OpenCV</a:t>
            </a:r>
            <a:r>
              <a:rPr lang="en-US" dirty="0" smtClean="0"/>
              <a:t> stores the color image as BGR color </a:t>
            </a:r>
            <a:r>
              <a:rPr lang="en-US" dirty="0" err="1" smtClean="0"/>
              <a:t>image,so</a:t>
            </a:r>
            <a:r>
              <a:rPr lang="en-US" dirty="0" smtClean="0"/>
              <a:t> the first value in the list is the value of the blue channel of this particular pixel, and the rest are values for green and red channels.</a:t>
            </a:r>
            <a:endParaRPr lang="en-US" dirty="0"/>
          </a:p>
        </p:txBody>
      </p:sp>
    </p:spTree>
    <p:extLst>
      <p:ext uri="{BB962C8B-B14F-4D97-AF65-F5344CB8AC3E}">
        <p14:creationId xmlns:p14="http://schemas.microsoft.com/office/powerpoint/2010/main" val="36818913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We can also access only one of the channels as shown below:</a:t>
            </a:r>
          </a:p>
          <a:p>
            <a:endParaRPr lang="en-US" dirty="0" smtClean="0"/>
          </a:p>
          <a:p>
            <a:r>
              <a:rPr lang="en-US" dirty="0" smtClean="0"/>
              <a:t>6</a:t>
            </a:r>
          </a:p>
          <a:p>
            <a:r>
              <a:rPr lang="en-US" dirty="0" smtClean="0"/>
              <a:t>7</a:t>
            </a:r>
          </a:p>
          <a:p>
            <a:r>
              <a:rPr lang="en-US" dirty="0" smtClean="0"/>
              <a:t>8</a:t>
            </a:r>
          </a:p>
          <a:p>
            <a:r>
              <a:rPr lang="en-US" dirty="0" smtClean="0"/>
              <a:t># accessing only blue pixel</a:t>
            </a:r>
          </a:p>
          <a:p>
            <a:r>
              <a:rPr lang="en-US" dirty="0" smtClean="0"/>
              <a:t>blue = </a:t>
            </a:r>
            <a:r>
              <a:rPr lang="en-US" dirty="0" err="1" smtClean="0"/>
              <a:t>img</a:t>
            </a:r>
            <a:r>
              <a:rPr lang="en-US" dirty="0" smtClean="0"/>
              <a:t>[100,100,0]</a:t>
            </a:r>
          </a:p>
          <a:p>
            <a:r>
              <a:rPr lang="en-US" dirty="0" smtClean="0"/>
              <a:t>print( blue )</a:t>
            </a:r>
          </a:p>
          <a:p>
            <a:r>
              <a:rPr lang="en-US" dirty="0" smtClean="0"/>
              <a:t>Output</a:t>
            </a:r>
          </a:p>
          <a:p>
            <a:r>
              <a:rPr lang="en-US" dirty="0" smtClean="0"/>
              <a:t> 157 </a:t>
            </a:r>
            <a:endParaRPr lang="en-US" dirty="0"/>
          </a:p>
        </p:txBody>
      </p:sp>
    </p:spTree>
    <p:extLst>
      <p:ext uri="{BB962C8B-B14F-4D97-AF65-F5344CB8AC3E}">
        <p14:creationId xmlns:p14="http://schemas.microsoft.com/office/powerpoint/2010/main" val="354403293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To modify the values, we just need to access the pixel and then overwrite it with a value as shown below:</a:t>
            </a:r>
          </a:p>
          <a:p>
            <a:endParaRPr lang="en-US" dirty="0" smtClean="0"/>
          </a:p>
          <a:p>
            <a:r>
              <a:rPr lang="en-US" dirty="0" smtClean="0"/>
              <a:t>1</a:t>
            </a:r>
          </a:p>
          <a:p>
            <a:r>
              <a:rPr lang="en-US" dirty="0" smtClean="0"/>
              <a:t>2</a:t>
            </a:r>
          </a:p>
          <a:p>
            <a:r>
              <a:rPr lang="en-US" dirty="0" err="1" smtClean="0"/>
              <a:t>img</a:t>
            </a:r>
            <a:r>
              <a:rPr lang="en-US" dirty="0" smtClean="0"/>
              <a:t>[100,100] = [255,255,255]</a:t>
            </a:r>
          </a:p>
          <a:p>
            <a:r>
              <a:rPr lang="en-US" dirty="0" smtClean="0"/>
              <a:t>print( </a:t>
            </a:r>
            <a:r>
              <a:rPr lang="en-US" dirty="0" err="1" smtClean="0"/>
              <a:t>img</a:t>
            </a:r>
            <a:r>
              <a:rPr lang="en-US" dirty="0" smtClean="0"/>
              <a:t>[100,100] )</a:t>
            </a:r>
          </a:p>
          <a:p>
            <a:r>
              <a:rPr lang="en-US" dirty="0" smtClean="0"/>
              <a:t>Output:</a:t>
            </a:r>
          </a:p>
          <a:p>
            <a:r>
              <a:rPr lang="en-US" dirty="0" smtClean="0"/>
              <a:t> [255 255 255] </a:t>
            </a:r>
            <a:endParaRPr lang="en-US" dirty="0"/>
          </a:p>
        </p:txBody>
      </p:sp>
    </p:spTree>
    <p:extLst>
      <p:ext uri="{BB962C8B-B14F-4D97-AF65-F5344CB8AC3E}">
        <p14:creationId xmlns:p14="http://schemas.microsoft.com/office/powerpoint/2010/main" val="15192052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This method to access and modify the pixel values is slow so you should make use of </a:t>
            </a:r>
            <a:r>
              <a:rPr lang="en-US" dirty="0" err="1" smtClean="0"/>
              <a:t>NumPy</a:t>
            </a:r>
            <a:r>
              <a:rPr lang="en-US" dirty="0" smtClean="0"/>
              <a:t> library as it is  optimized for fast array calculations. For accessing individual pixel values, the </a:t>
            </a:r>
            <a:r>
              <a:rPr lang="en-US" dirty="0" err="1" smtClean="0"/>
              <a:t>Numpy</a:t>
            </a:r>
            <a:r>
              <a:rPr lang="en-US" dirty="0" smtClean="0"/>
              <a:t> array methods, </a:t>
            </a:r>
            <a:r>
              <a:rPr lang="en-US" dirty="0" err="1" smtClean="0"/>
              <a:t>array.item</a:t>
            </a:r>
            <a:r>
              <a:rPr lang="en-US" dirty="0" smtClean="0"/>
              <a:t>() and </a:t>
            </a:r>
            <a:r>
              <a:rPr lang="en-US" dirty="0" err="1" smtClean="0"/>
              <a:t>array.itemset</a:t>
            </a:r>
            <a:r>
              <a:rPr lang="en-US" dirty="0" smtClean="0"/>
              <a:t>() are considered better as  they always return a scalar. However, if you want to access all the B,G,R values, you will need to call </a:t>
            </a:r>
            <a:r>
              <a:rPr lang="en-US" dirty="0" err="1" smtClean="0"/>
              <a:t>array.item</a:t>
            </a:r>
            <a:r>
              <a:rPr lang="en-US" dirty="0" smtClean="0"/>
              <a:t>() separately for each value as shown below:</a:t>
            </a:r>
          </a:p>
          <a:p>
            <a:endParaRPr lang="en-US" dirty="0" smtClean="0"/>
          </a:p>
          <a:p>
            <a:r>
              <a:rPr lang="en-US" dirty="0" smtClean="0"/>
              <a:t># accessing RED value</a:t>
            </a:r>
          </a:p>
          <a:p>
            <a:r>
              <a:rPr lang="en-US" dirty="0" err="1" smtClean="0"/>
              <a:t>img.item</a:t>
            </a:r>
            <a:r>
              <a:rPr lang="en-US" dirty="0" smtClean="0"/>
              <a:t>(10,10,2)</a:t>
            </a:r>
          </a:p>
          <a:p>
            <a:r>
              <a:rPr lang="en-US" dirty="0" smtClean="0"/>
              <a:t>&gt;&gt;59</a:t>
            </a:r>
          </a:p>
          <a:p>
            <a:r>
              <a:rPr lang="en-US" dirty="0" smtClean="0"/>
              <a:t># modifying RED value</a:t>
            </a:r>
          </a:p>
          <a:p>
            <a:r>
              <a:rPr lang="en-US" dirty="0" err="1" smtClean="0"/>
              <a:t>img.itemset</a:t>
            </a:r>
            <a:r>
              <a:rPr lang="en-US" dirty="0" smtClean="0"/>
              <a:t>((10,10,2),100)</a:t>
            </a:r>
          </a:p>
          <a:p>
            <a:r>
              <a:rPr lang="en-US" dirty="0" err="1" smtClean="0"/>
              <a:t>img.item</a:t>
            </a:r>
            <a:r>
              <a:rPr lang="en-US" dirty="0" smtClean="0"/>
              <a:t>(10,10,2)</a:t>
            </a:r>
          </a:p>
          <a:p>
            <a:r>
              <a:rPr lang="en-US" dirty="0" smtClean="0"/>
              <a:t>&gt;&gt;100</a:t>
            </a:r>
            <a:endParaRPr lang="en-US" dirty="0"/>
          </a:p>
        </p:txBody>
      </p:sp>
    </p:spTree>
    <p:extLst>
      <p:ext uri="{BB962C8B-B14F-4D97-AF65-F5344CB8AC3E}">
        <p14:creationId xmlns:p14="http://schemas.microsoft.com/office/powerpoint/2010/main" val="25483590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Access Image properties</a:t>
            </a:r>
          </a:p>
          <a:p>
            <a:r>
              <a:rPr lang="en-US" dirty="0" smtClean="0"/>
              <a:t>What do we mean by image properties here? Often it is important to know the size(total number of pixels in the image), number of rows, columns, and </a:t>
            </a:r>
            <a:r>
              <a:rPr lang="en-US" dirty="0" err="1" smtClean="0"/>
              <a:t>channels.We</a:t>
            </a:r>
            <a:r>
              <a:rPr lang="en-US" dirty="0" smtClean="0"/>
              <a:t> can access the later three by using the shape() method as shown below:</a:t>
            </a:r>
          </a:p>
          <a:p>
            <a:endParaRPr lang="en-US" dirty="0" smtClean="0"/>
          </a:p>
          <a:p>
            <a:r>
              <a:rPr lang="en-US" dirty="0" smtClean="0"/>
              <a:t>print( </a:t>
            </a:r>
            <a:r>
              <a:rPr lang="en-US" dirty="0" err="1" smtClean="0"/>
              <a:t>img.shape</a:t>
            </a:r>
            <a:r>
              <a:rPr lang="en-US" dirty="0" smtClean="0"/>
              <a:t> )</a:t>
            </a:r>
          </a:p>
          <a:p>
            <a:r>
              <a:rPr lang="en-US" dirty="0" smtClean="0"/>
              <a:t>&gt;&gt;(342, 548, 3)</a:t>
            </a:r>
          </a:p>
          <a:p>
            <a:r>
              <a:rPr lang="en-US" dirty="0" smtClean="0"/>
              <a:t>print( </a:t>
            </a:r>
            <a:r>
              <a:rPr lang="en-US" dirty="0" err="1" smtClean="0"/>
              <a:t>img.size</a:t>
            </a:r>
            <a:r>
              <a:rPr lang="en-US" dirty="0" smtClean="0"/>
              <a:t> )</a:t>
            </a:r>
          </a:p>
          <a:p>
            <a:r>
              <a:rPr lang="en-US" dirty="0" smtClean="0"/>
              <a:t>&gt;&gt;562248</a:t>
            </a:r>
            <a:endParaRPr lang="en-US" dirty="0"/>
          </a:p>
        </p:txBody>
      </p:sp>
    </p:spTree>
    <p:extLst>
      <p:ext uri="{BB962C8B-B14F-4D97-AF65-F5344CB8AC3E}">
        <p14:creationId xmlns:p14="http://schemas.microsoft.com/office/powerpoint/2010/main" val="1813609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OpenCV</a:t>
            </a:r>
            <a:r>
              <a:rPr lang="en-US" dirty="0" smtClean="0"/>
              <a:t> Resize Image</a:t>
            </a:r>
          </a:p>
          <a:p>
            <a:r>
              <a:rPr lang="en-US" dirty="0" smtClean="0"/>
              <a:t>Usually when working on </a:t>
            </a:r>
            <a:r>
              <a:rPr lang="en-US" dirty="0" err="1" smtClean="0"/>
              <a:t>images,we</a:t>
            </a:r>
            <a:r>
              <a:rPr lang="en-US" dirty="0" smtClean="0"/>
              <a:t> often need to resize the images according to certain </a:t>
            </a:r>
            <a:r>
              <a:rPr lang="en-US" dirty="0" err="1" smtClean="0"/>
              <a:t>requirements.Mostly</a:t>
            </a:r>
            <a:r>
              <a:rPr lang="en-US" dirty="0" smtClean="0"/>
              <a:t> you will do such operation in Machine learning and deep learning as it reduces the time of training of a neural network. As the number of pixels in an image increases, the more is the number of input nodes that in turn increases the complexity of the model. We use an inbuilt resize() method to resize an image.</a:t>
            </a:r>
            <a:endParaRPr lang="en-US" dirty="0"/>
          </a:p>
        </p:txBody>
      </p:sp>
    </p:spTree>
    <p:extLst>
      <p:ext uri="{BB962C8B-B14F-4D97-AF65-F5344CB8AC3E}">
        <p14:creationId xmlns:p14="http://schemas.microsoft.com/office/powerpoint/2010/main" val="11933753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smtClean="0"/>
              <a:t>Syntax: cv2.resize(s, </a:t>
            </a:r>
            <a:r>
              <a:rPr lang="en-US" dirty="0" err="1" smtClean="0"/>
              <a:t>size,fx,fy,interpolation</a:t>
            </a:r>
            <a:r>
              <a:rPr lang="en-US" dirty="0" smtClean="0"/>
              <a:t>)  </a:t>
            </a:r>
          </a:p>
          <a:p>
            <a:r>
              <a:rPr lang="en-US" dirty="0" smtClean="0"/>
              <a:t>Parameters:</a:t>
            </a:r>
          </a:p>
          <a:p>
            <a:r>
              <a:rPr lang="en-US" dirty="0" smtClean="0"/>
              <a:t>s - input image (required).</a:t>
            </a:r>
          </a:p>
          <a:p>
            <a:r>
              <a:rPr lang="en-US" dirty="0" smtClean="0"/>
              <a:t>size - desired size for the output image after resizing (required)</a:t>
            </a:r>
          </a:p>
          <a:p>
            <a:r>
              <a:rPr lang="en-US" dirty="0" err="1" smtClean="0"/>
              <a:t>fx</a:t>
            </a:r>
            <a:r>
              <a:rPr lang="en-US" dirty="0" smtClean="0"/>
              <a:t> - Scale factor along the horizontal axis.(optional)</a:t>
            </a:r>
          </a:p>
          <a:p>
            <a:r>
              <a:rPr lang="en-US" dirty="0" err="1" smtClean="0"/>
              <a:t>fy</a:t>
            </a:r>
            <a:r>
              <a:rPr lang="en-US" dirty="0" smtClean="0"/>
              <a:t> - Scale factor along the vertical axis.</a:t>
            </a:r>
          </a:p>
          <a:p>
            <a:r>
              <a:rPr lang="en-US" dirty="0" smtClean="0"/>
              <a:t>Interpolation(optional) - This flag uses following methods:</a:t>
            </a:r>
          </a:p>
          <a:p>
            <a:r>
              <a:rPr lang="en-US" dirty="0" smtClean="0"/>
              <a:t> INTER_NEAREST – a nearest-neighbor interpolation</a:t>
            </a:r>
          </a:p>
          <a:p>
            <a:r>
              <a:rPr lang="en-US" dirty="0" smtClean="0"/>
              <a:t> INTER_LINEAR – a bilinear interpolation (used by default) </a:t>
            </a:r>
          </a:p>
          <a:p>
            <a:r>
              <a:rPr lang="en-US" dirty="0" smtClean="0"/>
              <a:t> INTER_AREA – resampling using pixel area relation. It may be a preferred method for    image decimation, as it gives </a:t>
            </a:r>
            <a:r>
              <a:rPr lang="en-US" dirty="0" err="1" smtClean="0"/>
              <a:t>moire</a:t>
            </a:r>
            <a:r>
              <a:rPr lang="en-US" dirty="0" smtClean="0"/>
              <a:t>’-free results. But when the image is zoomed, it is similar to the INTER_NEAREST method.</a:t>
            </a:r>
          </a:p>
          <a:p>
            <a:r>
              <a:rPr lang="en-US" dirty="0" smtClean="0"/>
              <a:t> INTER_CUBIC – a </a:t>
            </a:r>
            <a:r>
              <a:rPr lang="en-US" dirty="0" err="1" smtClean="0"/>
              <a:t>bicubic</a:t>
            </a:r>
            <a:r>
              <a:rPr lang="en-US" dirty="0" smtClean="0"/>
              <a:t> interpolation over 4×4 pixel neighborhood </a:t>
            </a:r>
          </a:p>
          <a:p>
            <a:r>
              <a:rPr lang="en-US" dirty="0" smtClean="0"/>
              <a:t> INTER_LANCZOS4 – a </a:t>
            </a:r>
            <a:r>
              <a:rPr lang="en-US" dirty="0" err="1" smtClean="0"/>
              <a:t>Lanczos</a:t>
            </a:r>
            <a:r>
              <a:rPr lang="en-US" dirty="0" smtClean="0"/>
              <a:t> interpolation over 8×8 pixel neighborhood</a:t>
            </a:r>
            <a:endParaRPr lang="en-US" dirty="0"/>
          </a:p>
        </p:txBody>
      </p:sp>
    </p:spTree>
    <p:extLst>
      <p:ext uri="{BB962C8B-B14F-4D97-AF65-F5344CB8AC3E}">
        <p14:creationId xmlns:p14="http://schemas.microsoft.com/office/powerpoint/2010/main" val="2835580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smtClean="0"/>
              <a:t>import cv2</a:t>
            </a:r>
          </a:p>
          <a:p>
            <a:r>
              <a:rPr lang="en-US" dirty="0" smtClean="0"/>
              <a:t>import </a:t>
            </a:r>
            <a:r>
              <a:rPr lang="en-US" dirty="0" err="1" smtClean="0"/>
              <a:t>numpy</a:t>
            </a:r>
            <a:r>
              <a:rPr lang="en-US" dirty="0" smtClean="0"/>
              <a:t> as </a:t>
            </a:r>
            <a:r>
              <a:rPr lang="en-US" dirty="0" err="1" smtClean="0"/>
              <a:t>np</a:t>
            </a:r>
            <a:endParaRPr lang="en-US" dirty="0" smtClean="0"/>
          </a:p>
          <a:p>
            <a:r>
              <a:rPr lang="en-US" dirty="0" smtClean="0"/>
              <a:t> </a:t>
            </a:r>
          </a:p>
          <a:p>
            <a:r>
              <a:rPr lang="en-US" dirty="0" smtClean="0"/>
              <a:t>#importing the </a:t>
            </a:r>
            <a:r>
              <a:rPr lang="en-US" dirty="0" err="1" smtClean="0"/>
              <a:t>opencv</a:t>
            </a:r>
            <a:r>
              <a:rPr lang="en-US" dirty="0" smtClean="0"/>
              <a:t> module  </a:t>
            </a:r>
          </a:p>
          <a:p>
            <a:r>
              <a:rPr lang="en-US" dirty="0" smtClean="0"/>
              <a:t>import cv2  </a:t>
            </a:r>
          </a:p>
          <a:p>
            <a:r>
              <a:rPr lang="en-US" dirty="0" smtClean="0"/>
              <a:t># using </a:t>
            </a:r>
            <a:r>
              <a:rPr lang="en-US" dirty="0" err="1" smtClean="0"/>
              <a:t>imread</a:t>
            </a:r>
            <a:r>
              <a:rPr lang="en-US" dirty="0" smtClean="0"/>
              <a:t>('path') and 1 denotes read as  color image  </a:t>
            </a:r>
          </a:p>
          <a:p>
            <a:r>
              <a:rPr lang="en-US" dirty="0" err="1" smtClean="0"/>
              <a:t>img</a:t>
            </a:r>
            <a:r>
              <a:rPr lang="en-US" dirty="0" smtClean="0"/>
              <a:t> = cv2.imread('dog.jpg',1)  </a:t>
            </a:r>
          </a:p>
          <a:p>
            <a:r>
              <a:rPr lang="en-US" dirty="0" smtClean="0"/>
              <a:t>print(</a:t>
            </a:r>
            <a:r>
              <a:rPr lang="en-US" dirty="0" err="1" smtClean="0"/>
              <a:t>img.shape</a:t>
            </a:r>
            <a:r>
              <a:rPr lang="en-US" dirty="0" smtClean="0"/>
              <a:t>)</a:t>
            </a:r>
          </a:p>
          <a:p>
            <a:r>
              <a:rPr lang="en-US" dirty="0" err="1" smtClean="0"/>
              <a:t>img_resized</a:t>
            </a:r>
            <a:r>
              <a:rPr lang="en-US" dirty="0" smtClean="0"/>
              <a:t>=cv2.resize(</a:t>
            </a:r>
            <a:r>
              <a:rPr lang="en-US" dirty="0" err="1" smtClean="0"/>
              <a:t>img</a:t>
            </a:r>
            <a:r>
              <a:rPr lang="en-US" dirty="0" smtClean="0"/>
              <a:t>, (780, 540),  </a:t>
            </a:r>
          </a:p>
          <a:p>
            <a:r>
              <a:rPr lang="en-US" dirty="0" smtClean="0"/>
              <a:t>               interpolation = cv2.INTER_NEAREST) </a:t>
            </a:r>
          </a:p>
          <a:p>
            <a:r>
              <a:rPr lang="en-US" dirty="0" smtClean="0"/>
              <a:t>cv2.imshow("Resized",</a:t>
            </a:r>
            <a:r>
              <a:rPr lang="en-US" dirty="0" err="1" smtClean="0"/>
              <a:t>img_resized</a:t>
            </a:r>
            <a:r>
              <a:rPr lang="en-US" dirty="0" smtClean="0"/>
              <a:t>)</a:t>
            </a:r>
          </a:p>
          <a:p>
            <a:r>
              <a:rPr lang="en-US" dirty="0" smtClean="0"/>
              <a:t>cv2.waitKey(0)</a:t>
            </a:r>
          </a:p>
          <a:p>
            <a:r>
              <a:rPr lang="en-US" dirty="0" smtClean="0"/>
              <a:t>cv2.destroyAllWindows()</a:t>
            </a:r>
            <a:endParaRPr lang="en-US" dirty="0"/>
          </a:p>
        </p:txBody>
      </p:sp>
    </p:spTree>
    <p:extLst>
      <p:ext uri="{BB962C8B-B14F-4D97-AF65-F5344CB8AC3E}">
        <p14:creationId xmlns:p14="http://schemas.microsoft.com/office/powerpoint/2010/main" val="27202223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err="1" smtClean="0"/>
              <a:t>OpenCV</a:t>
            </a:r>
            <a:r>
              <a:rPr lang="en-US" dirty="0" smtClean="0"/>
              <a:t> Image Rotation</a:t>
            </a:r>
          </a:p>
          <a:p>
            <a:r>
              <a:rPr lang="en-US" dirty="0" smtClean="0"/>
              <a:t>We may need to rotate an image in some of the cases and we can do it easily by using </a:t>
            </a:r>
            <a:r>
              <a:rPr lang="en-US" dirty="0" err="1" smtClean="0"/>
              <a:t>OpenCV</a:t>
            </a:r>
            <a:r>
              <a:rPr lang="en-US" dirty="0" smtClean="0"/>
              <a:t> .We use cv2.rotate() method to rotate a 2D array in multiples of 90 </a:t>
            </a:r>
            <a:r>
              <a:rPr lang="en-US" dirty="0" err="1" smtClean="0"/>
              <a:t>degrees.Here</a:t>
            </a:r>
            <a:r>
              <a:rPr lang="en-US" dirty="0" smtClean="0"/>
              <a:t> is the syntax:</a:t>
            </a:r>
          </a:p>
          <a:p>
            <a:endParaRPr lang="en-US" dirty="0" smtClean="0"/>
          </a:p>
          <a:p>
            <a:r>
              <a:rPr lang="en-US" dirty="0" smtClean="0"/>
              <a:t> Syntax: cv2.rotate( </a:t>
            </a:r>
            <a:r>
              <a:rPr lang="en-US" dirty="0" err="1" smtClean="0"/>
              <a:t>src</a:t>
            </a:r>
            <a:r>
              <a:rPr lang="en-US" dirty="0" smtClean="0"/>
              <a:t>, </a:t>
            </a:r>
            <a:r>
              <a:rPr lang="en-US" dirty="0" err="1" smtClean="0"/>
              <a:t>rotateCode</a:t>
            </a:r>
            <a:r>
              <a:rPr lang="en-US" dirty="0" smtClean="0"/>
              <a:t>[, </a:t>
            </a:r>
            <a:r>
              <a:rPr lang="en-US" dirty="0" err="1" smtClean="0"/>
              <a:t>dst</a:t>
            </a:r>
            <a:r>
              <a:rPr lang="en-US" dirty="0" smtClean="0"/>
              <a:t>] )</a:t>
            </a:r>
          </a:p>
          <a:p>
            <a:r>
              <a:rPr lang="en-US" dirty="0" smtClean="0"/>
              <a:t>Parameters:</a:t>
            </a:r>
          </a:p>
          <a:p>
            <a:r>
              <a:rPr lang="en-US" dirty="0" err="1" smtClean="0"/>
              <a:t>src</a:t>
            </a:r>
            <a:r>
              <a:rPr lang="en-US" dirty="0" smtClean="0"/>
              <a:t>: It is the image to be rotated.</a:t>
            </a:r>
          </a:p>
          <a:p>
            <a:r>
              <a:rPr lang="en-US" dirty="0" err="1" smtClean="0"/>
              <a:t>rotateCode</a:t>
            </a:r>
            <a:r>
              <a:rPr lang="en-US" dirty="0" smtClean="0"/>
              <a:t>: It is an </a:t>
            </a:r>
            <a:r>
              <a:rPr lang="en-US" dirty="0" err="1" smtClean="0"/>
              <a:t>enum</a:t>
            </a:r>
            <a:r>
              <a:rPr lang="en-US" dirty="0" smtClean="0"/>
              <a:t> to specify how to rotate the </a:t>
            </a:r>
            <a:r>
              <a:rPr lang="en-US" dirty="0" err="1" smtClean="0"/>
              <a:t>array.Here</a:t>
            </a:r>
            <a:r>
              <a:rPr lang="en-US" dirty="0" smtClean="0"/>
              <a:t> are some of the possible values :</a:t>
            </a:r>
          </a:p>
          <a:p>
            <a:r>
              <a:rPr lang="en-US" dirty="0" smtClean="0"/>
              <a:t>cv2.cv2.ROTATE_90_CLOCKWISE</a:t>
            </a:r>
          </a:p>
          <a:p>
            <a:r>
              <a:rPr lang="en-US" dirty="0" smtClean="0"/>
              <a:t>cv2.ROTATE_180</a:t>
            </a:r>
          </a:p>
          <a:p>
            <a:r>
              <a:rPr lang="en-US" dirty="0" smtClean="0"/>
              <a:t>cv2.ROTATE_90_COUNTERCLOCKWISE</a:t>
            </a:r>
            <a:endParaRPr lang="en-US" dirty="0"/>
          </a:p>
        </p:txBody>
      </p:sp>
    </p:spTree>
    <p:extLst>
      <p:ext uri="{BB962C8B-B14F-4D97-AF65-F5344CB8AC3E}">
        <p14:creationId xmlns:p14="http://schemas.microsoft.com/office/powerpoint/2010/main" val="410883759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1295598068"/>
              </p:ext>
            </p:extLst>
          </p:nvPr>
        </p:nvGraphicFramePr>
        <p:xfrm>
          <a:off x="221892" y="784151"/>
          <a:ext cx="9867900" cy="3291840"/>
        </p:xfrm>
        <a:graphic>
          <a:graphicData uri="http://schemas.openxmlformats.org/drawingml/2006/table">
            <a:tbl>
              <a:tblPr/>
              <a:tblGrid>
                <a:gridCol w="429520"/>
                <a:gridCol w="9438380"/>
              </a:tblGrid>
              <a:tr h="0">
                <a:tc>
                  <a:txBody>
                    <a:bodyPr/>
                    <a:lstStyle/>
                    <a:p>
                      <a:pPr algn="r" rtl="0" fontAlgn="base"/>
                      <a:r>
                        <a:rPr lang="en-US" b="0" i="0" dirty="0">
                          <a:solidFill>
                            <a:srgbClr val="AFAFAF"/>
                          </a:solidFill>
                          <a:effectLst/>
                          <a:latin typeface="Monaco"/>
                        </a:rPr>
                        <a:t>1</a:t>
                      </a:r>
                    </a:p>
                    <a:p>
                      <a:pPr algn="r" rtl="0" fontAlgn="base"/>
                      <a:r>
                        <a:rPr lang="en-US" b="0" i="0" dirty="0">
                          <a:solidFill>
                            <a:srgbClr val="AFAFAF"/>
                          </a:solidFill>
                          <a:effectLst/>
                          <a:latin typeface="Monaco"/>
                        </a:rPr>
                        <a:t>2</a:t>
                      </a:r>
                    </a:p>
                    <a:p>
                      <a:pPr algn="r" rtl="0" fontAlgn="base"/>
                      <a:r>
                        <a:rPr lang="en-US" b="0" i="0" dirty="0">
                          <a:solidFill>
                            <a:srgbClr val="AFAFAF"/>
                          </a:solidFill>
                          <a:effectLst/>
                          <a:latin typeface="Monaco"/>
                        </a:rPr>
                        <a:t>3</a:t>
                      </a:r>
                    </a:p>
                    <a:p>
                      <a:pPr algn="r" rtl="0" fontAlgn="base"/>
                      <a:r>
                        <a:rPr lang="en-US" b="0" i="0" dirty="0">
                          <a:solidFill>
                            <a:srgbClr val="AFAFAF"/>
                          </a:solidFill>
                          <a:effectLst/>
                          <a:latin typeface="Monaco"/>
                        </a:rPr>
                        <a:t>4</a:t>
                      </a:r>
                    </a:p>
                    <a:p>
                      <a:pPr algn="r" rtl="0" fontAlgn="base"/>
                      <a:r>
                        <a:rPr lang="en-US" b="0" i="0" dirty="0">
                          <a:solidFill>
                            <a:srgbClr val="AFAFAF"/>
                          </a:solidFill>
                          <a:effectLst/>
                          <a:latin typeface="Monaco"/>
                        </a:rPr>
                        <a:t>5</a:t>
                      </a:r>
                    </a:p>
                    <a:p>
                      <a:pPr algn="r" rtl="0" fontAlgn="base"/>
                      <a:r>
                        <a:rPr lang="en-US" b="0" i="0" dirty="0">
                          <a:solidFill>
                            <a:srgbClr val="AFAFAF"/>
                          </a:solidFill>
                          <a:effectLst/>
                          <a:latin typeface="Monaco"/>
                        </a:rPr>
                        <a:t>6</a:t>
                      </a:r>
                    </a:p>
                    <a:p>
                      <a:pPr algn="r" rtl="0" fontAlgn="base"/>
                      <a:r>
                        <a:rPr lang="en-US" b="0" i="0" dirty="0">
                          <a:solidFill>
                            <a:srgbClr val="AFAFAF"/>
                          </a:solidFill>
                          <a:effectLst/>
                          <a:latin typeface="Monaco"/>
                        </a:rPr>
                        <a:t>7</a:t>
                      </a:r>
                    </a:p>
                    <a:p>
                      <a:pPr algn="r" rtl="0" fontAlgn="base"/>
                      <a:r>
                        <a:rPr lang="en-US" b="0" i="0" dirty="0">
                          <a:solidFill>
                            <a:srgbClr val="AFAFAF"/>
                          </a:solidFill>
                          <a:effectLst/>
                          <a:latin typeface="Monaco"/>
                        </a:rPr>
                        <a:t>8</a:t>
                      </a:r>
                    </a:p>
                    <a:p>
                      <a:pPr algn="r" rtl="0" fontAlgn="base"/>
                      <a:r>
                        <a:rPr lang="en-US" b="0" i="0" dirty="0">
                          <a:solidFill>
                            <a:srgbClr val="AFAFAF"/>
                          </a:solidFill>
                          <a:effectLst/>
                          <a:latin typeface="Monaco"/>
                        </a:rPr>
                        <a:t>9</a:t>
                      </a:r>
                    </a:p>
                    <a:p>
                      <a:pPr algn="r" rtl="0" fontAlgn="base"/>
                      <a:r>
                        <a:rPr lang="en-US" b="0" i="0" dirty="0">
                          <a:solidFill>
                            <a:srgbClr val="AFAFAF"/>
                          </a:solidFill>
                          <a:effectLst/>
                          <a:latin typeface="Monaco"/>
                        </a:rPr>
                        <a:t>10</a:t>
                      </a:r>
                    </a:p>
                    <a:p>
                      <a:pPr algn="r" rtl="0" fontAlgn="base"/>
                      <a:r>
                        <a:rPr lang="en-US" b="0" i="0" dirty="0">
                          <a:solidFill>
                            <a:srgbClr val="AFAFAF"/>
                          </a:solidFill>
                          <a:effectLst/>
                          <a:latin typeface="Monaco"/>
                        </a:rPr>
                        <a:t>11</a:t>
                      </a:r>
                    </a:p>
                    <a:p>
                      <a:pPr algn="r" rtl="0" fontAlgn="base"/>
                      <a:r>
                        <a:rPr lang="en-US" b="0" i="0" dirty="0">
                          <a:solidFill>
                            <a:srgbClr val="AFAFAF"/>
                          </a:solidFill>
                          <a:effectLst/>
                          <a:latin typeface="Monaco"/>
                        </a:rPr>
                        <a:t>12</a:t>
                      </a:r>
                    </a:p>
                  </a:txBody>
                  <a:tcPr marL="0" marR="0" marT="0" marB="0" anchor="ctr">
                    <a:lnL>
                      <a:noFill/>
                    </a:lnL>
                    <a:lnR>
                      <a:noFill/>
                    </a:lnR>
                    <a:lnT>
                      <a:noFill/>
                    </a:lnT>
                    <a:lnB>
                      <a:noFill/>
                    </a:lnB>
                  </a:tcPr>
                </a:tc>
                <a:tc>
                  <a:txBody>
                    <a:bodyPr/>
                    <a:lstStyle/>
                    <a:p>
                      <a:pPr algn="l" rtl="0" fontAlgn="base"/>
                      <a:r>
                        <a:rPr lang="en-US" b="0" i="0" dirty="0">
                          <a:effectLst/>
                          <a:latin typeface="Monaco"/>
                        </a:rPr>
                        <a:t>import cv2</a:t>
                      </a:r>
                    </a:p>
                    <a:p>
                      <a:pPr algn="l" rtl="0" fontAlgn="base"/>
                      <a:r>
                        <a:rPr lang="en-US" b="0" i="0" dirty="0">
                          <a:effectLst/>
                          <a:latin typeface="Monaco"/>
                        </a:rPr>
                        <a:t>import </a:t>
                      </a:r>
                      <a:r>
                        <a:rPr lang="en-US" b="0" i="0" dirty="0" err="1">
                          <a:effectLst/>
                          <a:latin typeface="Monaco"/>
                        </a:rPr>
                        <a:t>numpy</a:t>
                      </a:r>
                      <a:r>
                        <a:rPr lang="en-US" b="0" i="0" dirty="0">
                          <a:effectLst/>
                          <a:latin typeface="Monaco"/>
                        </a:rPr>
                        <a:t> as </a:t>
                      </a:r>
                      <a:r>
                        <a:rPr lang="en-US" b="0" i="0" dirty="0" err="1">
                          <a:effectLst/>
                          <a:latin typeface="Monaco"/>
                        </a:rPr>
                        <a:t>np</a:t>
                      </a:r>
                      <a:endParaRPr lang="en-US" b="0" i="0" dirty="0">
                        <a:effectLst/>
                        <a:latin typeface="Monaco"/>
                      </a:endParaRPr>
                    </a:p>
                    <a:p>
                      <a:pPr algn="l" rtl="0" fontAlgn="base"/>
                      <a:r>
                        <a:rPr lang="en-US" b="0" i="0" dirty="0">
                          <a:effectLst/>
                          <a:latin typeface="Monaco"/>
                        </a:rPr>
                        <a:t> </a:t>
                      </a:r>
                    </a:p>
                    <a:p>
                      <a:pPr algn="l" rtl="0" fontAlgn="base"/>
                      <a:r>
                        <a:rPr lang="en-US" b="0" i="0" dirty="0">
                          <a:effectLst/>
                          <a:latin typeface="Monaco"/>
                        </a:rPr>
                        <a:t>#importing the </a:t>
                      </a:r>
                      <a:r>
                        <a:rPr lang="en-US" b="0" i="0" dirty="0" err="1">
                          <a:effectLst/>
                          <a:latin typeface="Monaco"/>
                        </a:rPr>
                        <a:t>opencv</a:t>
                      </a:r>
                      <a:r>
                        <a:rPr lang="en-US" b="0" i="0" dirty="0">
                          <a:effectLst/>
                          <a:latin typeface="Monaco"/>
                        </a:rPr>
                        <a:t> module  </a:t>
                      </a:r>
                    </a:p>
                    <a:p>
                      <a:pPr algn="l" rtl="0" fontAlgn="base"/>
                      <a:r>
                        <a:rPr lang="en-US" b="0" i="0" dirty="0">
                          <a:effectLst/>
                          <a:latin typeface="Monaco"/>
                        </a:rPr>
                        <a:t>import cv2  </a:t>
                      </a:r>
                    </a:p>
                    <a:p>
                      <a:pPr algn="l" rtl="0" fontAlgn="base"/>
                      <a:r>
                        <a:rPr lang="en-US" b="0" i="0" dirty="0">
                          <a:effectLst/>
                          <a:latin typeface="Monaco"/>
                        </a:rPr>
                        <a:t># using </a:t>
                      </a:r>
                      <a:r>
                        <a:rPr lang="en-US" b="0" i="0" dirty="0" err="1">
                          <a:effectLst/>
                          <a:latin typeface="Monaco"/>
                        </a:rPr>
                        <a:t>imread</a:t>
                      </a:r>
                      <a:r>
                        <a:rPr lang="en-US" b="0" i="0" dirty="0">
                          <a:effectLst/>
                          <a:latin typeface="Monaco"/>
                        </a:rPr>
                        <a:t>('path') and 1 denotes read as  color image  </a:t>
                      </a:r>
                    </a:p>
                    <a:p>
                      <a:pPr algn="l" rtl="0" fontAlgn="base"/>
                      <a:r>
                        <a:rPr lang="en-US" b="0" i="0" dirty="0" err="1">
                          <a:effectLst/>
                          <a:latin typeface="Monaco"/>
                        </a:rPr>
                        <a:t>img</a:t>
                      </a:r>
                      <a:r>
                        <a:rPr lang="en-US" b="0" i="0" dirty="0">
                          <a:effectLst/>
                          <a:latin typeface="Monaco"/>
                        </a:rPr>
                        <a:t> = cv2.imread('dog.jpg',1)  </a:t>
                      </a:r>
                    </a:p>
                    <a:p>
                      <a:pPr algn="l" rtl="0" fontAlgn="base"/>
                      <a:r>
                        <a:rPr lang="en-US" b="0" i="0" dirty="0">
                          <a:effectLst/>
                          <a:latin typeface="Monaco"/>
                        </a:rPr>
                        <a:t>print(</a:t>
                      </a:r>
                      <a:r>
                        <a:rPr lang="en-US" b="0" i="0" dirty="0" err="1">
                          <a:effectLst/>
                          <a:latin typeface="Monaco"/>
                        </a:rPr>
                        <a:t>img.shape</a:t>
                      </a:r>
                      <a:r>
                        <a:rPr lang="en-US" b="0" i="0" dirty="0">
                          <a:effectLst/>
                          <a:latin typeface="Monaco"/>
                        </a:rPr>
                        <a:t>)</a:t>
                      </a:r>
                    </a:p>
                    <a:p>
                      <a:pPr algn="l" rtl="0" fontAlgn="base"/>
                      <a:r>
                        <a:rPr lang="en-US" b="0" i="0" dirty="0">
                          <a:effectLst/>
                          <a:latin typeface="Monaco"/>
                        </a:rPr>
                        <a:t>image = cv2.rotate(</a:t>
                      </a:r>
                      <a:r>
                        <a:rPr lang="en-US" b="0" i="0" dirty="0" err="1">
                          <a:effectLst/>
                          <a:latin typeface="Monaco"/>
                        </a:rPr>
                        <a:t>img</a:t>
                      </a:r>
                      <a:r>
                        <a:rPr lang="en-US" b="0" i="0" dirty="0">
                          <a:effectLst/>
                          <a:latin typeface="Monaco"/>
                        </a:rPr>
                        <a:t>, cv2.ROTATE_90_COUNTERCLOCKWISE) </a:t>
                      </a:r>
                    </a:p>
                    <a:p>
                      <a:pPr algn="l" rtl="0" fontAlgn="base"/>
                      <a:r>
                        <a:rPr lang="en-US" b="0" i="0" dirty="0">
                          <a:effectLst/>
                          <a:latin typeface="Monaco"/>
                        </a:rPr>
                        <a:t>cv2.imshow("</a:t>
                      </a:r>
                      <a:r>
                        <a:rPr lang="en-US" b="0" i="0" dirty="0" err="1">
                          <a:effectLst/>
                          <a:latin typeface="Monaco"/>
                        </a:rPr>
                        <a:t>Rotated",image</a:t>
                      </a:r>
                      <a:r>
                        <a:rPr lang="en-US" b="0" i="0" dirty="0">
                          <a:effectLst/>
                          <a:latin typeface="Monaco"/>
                        </a:rPr>
                        <a:t>)</a:t>
                      </a:r>
                    </a:p>
                    <a:p>
                      <a:pPr algn="l" rtl="0" fontAlgn="base"/>
                      <a:r>
                        <a:rPr lang="en-US" b="0" i="0" dirty="0">
                          <a:effectLst/>
                          <a:latin typeface="Monaco"/>
                        </a:rPr>
                        <a:t>cv2.waitKey()</a:t>
                      </a:r>
                    </a:p>
                    <a:p>
                      <a:pPr algn="l" rtl="0" fontAlgn="base"/>
                      <a:r>
                        <a:rPr lang="en-US" b="0" i="0" dirty="0">
                          <a:effectLst/>
                          <a:latin typeface="Monaco"/>
                        </a:rPr>
                        <a:t>cv2.destroyAllWindows()</a:t>
                      </a:r>
                    </a:p>
                  </a:txBody>
                  <a:tcPr marL="0" marR="0" marT="0" marB="0" anchor="ctr">
                    <a:lnL>
                      <a:noFill/>
                    </a:lnL>
                    <a:lnR>
                      <a:noFill/>
                    </a:lnR>
                    <a:lnT>
                      <a:noFill/>
                    </a:lnT>
                    <a:lnB>
                      <a:noFill/>
                    </a:lnB>
                  </a:tcPr>
                </a:tc>
              </a:tr>
            </a:tbl>
          </a:graphicData>
        </a:graphic>
      </p:graphicFrame>
      <p:sp>
        <p:nvSpPr>
          <p:cNvPr id="7" name="Rectangle 3"/>
          <p:cNvSpPr>
            <a:spLocks noChangeArrowheads="1"/>
          </p:cNvSpPr>
          <p:nvPr/>
        </p:nvSpPr>
        <p:spPr bwMode="auto">
          <a:xfrm>
            <a:off x="540913"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222222"/>
                </a:solidFill>
                <a:effectLst/>
                <a:latin typeface="Poppins"/>
              </a:rPr>
              <a:t>Here is an example using this function.</a:t>
            </a:r>
            <a:endParaRPr kumimoji="0" 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23335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TotalTime>
  <Words>3214</Words>
  <Application>Microsoft Office PowerPoint</Application>
  <PresentationFormat>Widescreen</PresentationFormat>
  <Paragraphs>273</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Monaco</vt:lpstr>
      <vt:lpstr>Poppins</vt:lpstr>
      <vt:lpstr>Office Theme</vt:lpstr>
      <vt:lpstr>AI</vt:lpstr>
      <vt:lpstr>PowerPoint Presentation</vt:lpstr>
      <vt:lpstr>Introduction to Artificial Intelligence Levels </vt:lpstr>
      <vt:lpstr>History of Artificial Intelligence </vt:lpstr>
      <vt:lpstr>Year Milestone / Innovation </vt:lpstr>
      <vt:lpstr>PowerPoint Presentation</vt:lpstr>
      <vt:lpstr>PowerPoint Presentation</vt:lpstr>
      <vt:lpstr>Goals of Artificial Intelligence </vt:lpstr>
      <vt:lpstr>Subfields of Artificial Intelligence</vt:lpstr>
      <vt:lpstr>PowerPoint Presentation</vt:lpstr>
      <vt:lpstr>PowerPoint Presentation</vt:lpstr>
      <vt:lpstr>Types of Artificial Intelligence </vt:lpstr>
      <vt:lpstr>AI Vs Machine Learning </vt:lpstr>
      <vt:lpstr>PowerPoint Presentation</vt:lpstr>
      <vt:lpstr>PowerPoint Presentation</vt:lpstr>
      <vt:lpstr>PowerPoint Presentation</vt:lpstr>
      <vt:lpstr>Why is AI booming now? </vt:lpstr>
      <vt:lpstr>PowerPoint Presentation</vt:lpstr>
      <vt:lpstr>PowerPoint Presentation</vt:lpstr>
      <vt:lpstr>PowerPoint Presentation</vt:lpstr>
      <vt:lpstr>PowerPoint Presentation</vt:lpstr>
      <vt:lpstr>OpenCV in Python </vt:lpstr>
      <vt:lpstr>How does a computer read an image? </vt:lpstr>
      <vt:lpstr>PowerPoint Presentation</vt:lpstr>
      <vt:lpstr>OpenCV installation </vt:lpstr>
      <vt:lpstr>Read &amp; Save Images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14</cp:revision>
  <dcterms:created xsi:type="dcterms:W3CDTF">2022-06-20T09:04:14Z</dcterms:created>
  <dcterms:modified xsi:type="dcterms:W3CDTF">2024-06-28T08:06:18Z</dcterms:modified>
</cp:coreProperties>
</file>