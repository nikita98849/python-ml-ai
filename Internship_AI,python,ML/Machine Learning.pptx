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62" r:id="rId4"/>
    <p:sldId id="257" r:id="rId5"/>
    <p:sldId id="258" r:id="rId6"/>
    <p:sldId id="259" r:id="rId7"/>
    <p:sldId id="260"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E49F769-8B76-4EE1-AFFD-2ACCA6563BB6}" type="datetimeFigureOut">
              <a:rPr lang="en-US" smtClean="0"/>
              <a:t>6/17/2022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ED9030-7712-43C9-8BB0-246CC532D56E}" type="slidenum">
              <a:rPr lang="en-US" smtClean="0"/>
              <a:t>‹#›</a:t>
            </a:fld>
            <a:endParaRPr lang="en-US"/>
          </a:p>
        </p:txBody>
      </p:sp>
    </p:spTree>
    <p:extLst>
      <p:ext uri="{BB962C8B-B14F-4D97-AF65-F5344CB8AC3E}">
        <p14:creationId xmlns:p14="http://schemas.microsoft.com/office/powerpoint/2010/main" val="2478858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E49F769-8B76-4EE1-AFFD-2ACCA6563BB6}" type="datetimeFigureOut">
              <a:rPr lang="en-US" smtClean="0"/>
              <a:t>6/17/2022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ED9030-7712-43C9-8BB0-246CC532D56E}" type="slidenum">
              <a:rPr lang="en-US" smtClean="0"/>
              <a:t>‹#›</a:t>
            </a:fld>
            <a:endParaRPr lang="en-US"/>
          </a:p>
        </p:txBody>
      </p:sp>
    </p:spTree>
    <p:extLst>
      <p:ext uri="{BB962C8B-B14F-4D97-AF65-F5344CB8AC3E}">
        <p14:creationId xmlns:p14="http://schemas.microsoft.com/office/powerpoint/2010/main" val="1735624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E49F769-8B76-4EE1-AFFD-2ACCA6563BB6}" type="datetimeFigureOut">
              <a:rPr lang="en-US" smtClean="0"/>
              <a:t>6/17/2022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ED9030-7712-43C9-8BB0-246CC532D56E}" type="slidenum">
              <a:rPr lang="en-US" smtClean="0"/>
              <a:t>‹#›</a:t>
            </a:fld>
            <a:endParaRPr lang="en-US"/>
          </a:p>
        </p:txBody>
      </p:sp>
    </p:spTree>
    <p:extLst>
      <p:ext uri="{BB962C8B-B14F-4D97-AF65-F5344CB8AC3E}">
        <p14:creationId xmlns:p14="http://schemas.microsoft.com/office/powerpoint/2010/main" val="42094468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E49F769-8B76-4EE1-AFFD-2ACCA6563BB6}" type="datetimeFigureOut">
              <a:rPr lang="en-US" smtClean="0"/>
              <a:t>6/17/2022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ED9030-7712-43C9-8BB0-246CC532D56E}" type="slidenum">
              <a:rPr lang="en-US" smtClean="0"/>
              <a:t>‹#›</a:t>
            </a:fld>
            <a:endParaRPr lang="en-US"/>
          </a:p>
        </p:txBody>
      </p:sp>
    </p:spTree>
    <p:extLst>
      <p:ext uri="{BB962C8B-B14F-4D97-AF65-F5344CB8AC3E}">
        <p14:creationId xmlns:p14="http://schemas.microsoft.com/office/powerpoint/2010/main" val="206027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E49F769-8B76-4EE1-AFFD-2ACCA6563BB6}" type="datetimeFigureOut">
              <a:rPr lang="en-US" smtClean="0"/>
              <a:t>6/17/2022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1ED9030-7712-43C9-8BB0-246CC532D56E}" type="slidenum">
              <a:rPr lang="en-US" smtClean="0"/>
              <a:t>‹#›</a:t>
            </a:fld>
            <a:endParaRPr lang="en-US"/>
          </a:p>
        </p:txBody>
      </p:sp>
    </p:spTree>
    <p:extLst>
      <p:ext uri="{BB962C8B-B14F-4D97-AF65-F5344CB8AC3E}">
        <p14:creationId xmlns:p14="http://schemas.microsoft.com/office/powerpoint/2010/main" val="296686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E49F769-8B76-4EE1-AFFD-2ACCA6563BB6}" type="datetimeFigureOut">
              <a:rPr lang="en-US" smtClean="0"/>
              <a:t>6/17/2022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1ED9030-7712-43C9-8BB0-246CC532D56E}" type="slidenum">
              <a:rPr lang="en-US" smtClean="0"/>
              <a:t>‹#›</a:t>
            </a:fld>
            <a:endParaRPr lang="en-US"/>
          </a:p>
        </p:txBody>
      </p:sp>
    </p:spTree>
    <p:extLst>
      <p:ext uri="{BB962C8B-B14F-4D97-AF65-F5344CB8AC3E}">
        <p14:creationId xmlns:p14="http://schemas.microsoft.com/office/powerpoint/2010/main" val="25577678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49F769-8B76-4EE1-AFFD-2ACCA6563BB6}" type="datetimeFigureOut">
              <a:rPr lang="en-US" smtClean="0"/>
              <a:t>6/17/2022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1ED9030-7712-43C9-8BB0-246CC532D56E}" type="slidenum">
              <a:rPr lang="en-US" smtClean="0"/>
              <a:t>‹#›</a:t>
            </a:fld>
            <a:endParaRPr lang="en-US"/>
          </a:p>
        </p:txBody>
      </p:sp>
    </p:spTree>
    <p:extLst>
      <p:ext uri="{BB962C8B-B14F-4D97-AF65-F5344CB8AC3E}">
        <p14:creationId xmlns:p14="http://schemas.microsoft.com/office/powerpoint/2010/main" val="1026066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E49F769-8B76-4EE1-AFFD-2ACCA6563BB6}" type="datetimeFigureOut">
              <a:rPr lang="en-US" smtClean="0"/>
              <a:t>6/17/2022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ED9030-7712-43C9-8BB0-246CC532D56E}" type="slidenum">
              <a:rPr lang="en-US" smtClean="0"/>
              <a:t>‹#›</a:t>
            </a:fld>
            <a:endParaRPr lang="en-US"/>
          </a:p>
        </p:txBody>
      </p:sp>
    </p:spTree>
    <p:extLst>
      <p:ext uri="{BB962C8B-B14F-4D97-AF65-F5344CB8AC3E}">
        <p14:creationId xmlns:p14="http://schemas.microsoft.com/office/powerpoint/2010/main" val="1127630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E49F769-8B76-4EE1-AFFD-2ACCA6563BB6}" type="datetimeFigureOut">
              <a:rPr lang="en-US" smtClean="0"/>
              <a:t>6/17/2022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ED9030-7712-43C9-8BB0-246CC532D56E}" type="slidenum">
              <a:rPr lang="en-US" smtClean="0"/>
              <a:t>‹#›</a:t>
            </a:fld>
            <a:endParaRPr lang="en-US"/>
          </a:p>
        </p:txBody>
      </p:sp>
    </p:spTree>
    <p:extLst>
      <p:ext uri="{BB962C8B-B14F-4D97-AF65-F5344CB8AC3E}">
        <p14:creationId xmlns:p14="http://schemas.microsoft.com/office/powerpoint/2010/main" val="1908585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E49F769-8B76-4EE1-AFFD-2ACCA6563BB6}" type="datetimeFigureOut">
              <a:rPr lang="en-US" smtClean="0"/>
              <a:t>6/17/2022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ED9030-7712-43C9-8BB0-246CC532D56E}" type="slidenum">
              <a:rPr lang="en-US" smtClean="0"/>
              <a:t>‹#›</a:t>
            </a:fld>
            <a:endParaRPr lang="en-US"/>
          </a:p>
        </p:txBody>
      </p:sp>
    </p:spTree>
    <p:extLst>
      <p:ext uri="{BB962C8B-B14F-4D97-AF65-F5344CB8AC3E}">
        <p14:creationId xmlns:p14="http://schemas.microsoft.com/office/powerpoint/2010/main" val="2554647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E49F769-8B76-4EE1-AFFD-2ACCA6563BB6}" type="datetimeFigureOut">
              <a:rPr lang="en-US" smtClean="0"/>
              <a:t>6/17/2022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ED9030-7712-43C9-8BB0-246CC532D56E}" type="slidenum">
              <a:rPr lang="en-US" smtClean="0"/>
              <a:t>‹#›</a:t>
            </a:fld>
            <a:endParaRPr lang="en-US"/>
          </a:p>
        </p:txBody>
      </p:sp>
    </p:spTree>
    <p:extLst>
      <p:ext uri="{BB962C8B-B14F-4D97-AF65-F5344CB8AC3E}">
        <p14:creationId xmlns:p14="http://schemas.microsoft.com/office/powerpoint/2010/main" val="3443596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49F769-8B76-4EE1-AFFD-2ACCA6563BB6}" type="datetimeFigureOut">
              <a:rPr lang="en-US" smtClean="0"/>
              <a:t>6/17/2022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ED9030-7712-43C9-8BB0-246CC532D56E}" type="slidenum">
              <a:rPr lang="en-US" smtClean="0"/>
              <a:t>‹#›</a:t>
            </a:fld>
            <a:endParaRPr lang="en-US"/>
          </a:p>
        </p:txBody>
      </p:sp>
    </p:spTree>
    <p:extLst>
      <p:ext uri="{BB962C8B-B14F-4D97-AF65-F5344CB8AC3E}">
        <p14:creationId xmlns:p14="http://schemas.microsoft.com/office/powerpoint/2010/main" val="22827423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www.w3schools.com/python/numpy/default.asp"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296" y="1043188"/>
            <a:ext cx="6409386" cy="1700011"/>
          </a:xfrm>
        </p:spPr>
        <p:txBody>
          <a:bodyPr/>
          <a:lstStyle/>
          <a:p>
            <a:r>
              <a:rPr lang="en-US" dirty="0" smtClean="0"/>
              <a:t>Machine Learning</a:t>
            </a:r>
            <a:endParaRPr lang="en-US" dirty="0"/>
          </a:p>
        </p:txBody>
      </p:sp>
      <p:sp>
        <p:nvSpPr>
          <p:cNvPr id="3" name="Subtitle 2"/>
          <p:cNvSpPr>
            <a:spLocks noGrp="1"/>
          </p:cNvSpPr>
          <p:nvPr>
            <p:ph type="subTitle" idx="1"/>
          </p:nvPr>
        </p:nvSpPr>
        <p:spPr/>
        <p:txBody>
          <a:bodyPr>
            <a:normAutofit fontScale="77500" lnSpcReduction="20000"/>
          </a:bodyPr>
          <a:lstStyle/>
          <a:p>
            <a:endParaRPr lang="en-US" dirty="0"/>
          </a:p>
          <a:p>
            <a:pPr algn="l"/>
            <a:r>
              <a:rPr lang="en-US" dirty="0">
                <a:solidFill>
                  <a:srgbClr val="FF0000"/>
                </a:solidFill>
              </a:rPr>
              <a:t>Presented By:</a:t>
            </a:r>
          </a:p>
          <a:p>
            <a:pPr algn="l"/>
            <a:r>
              <a:rPr lang="en-US" dirty="0" err="1">
                <a:solidFill>
                  <a:srgbClr val="FF0000"/>
                </a:solidFill>
              </a:rPr>
              <a:t>Mrs.Vinayashree.S</a:t>
            </a:r>
            <a:r>
              <a:rPr lang="en-US" dirty="0">
                <a:solidFill>
                  <a:srgbClr val="FF0000"/>
                </a:solidFill>
              </a:rPr>
              <a:t>. Akkalkot</a:t>
            </a:r>
          </a:p>
          <a:p>
            <a:pPr algn="l"/>
            <a:r>
              <a:rPr lang="en-US" dirty="0">
                <a:solidFill>
                  <a:srgbClr val="FF0000"/>
                </a:solidFill>
              </a:rPr>
              <a:t>MCSA, MICROSOFT  Virtualization Specialist, CCNA, JCINA </a:t>
            </a:r>
          </a:p>
          <a:p>
            <a:pPr algn="l"/>
            <a:r>
              <a:rPr lang="en-US" dirty="0">
                <a:solidFill>
                  <a:srgbClr val="FF0000"/>
                </a:solidFill>
              </a:rPr>
              <a:t>Director of Domain Computer Education Sangli</a:t>
            </a:r>
          </a:p>
          <a:p>
            <a:endParaRPr lang="en-US" dirty="0">
              <a:solidFill>
                <a:srgbClr val="FF0000"/>
              </a:solidFill>
            </a:endParaRPr>
          </a:p>
        </p:txBody>
      </p:sp>
      <p:pic>
        <p:nvPicPr>
          <p:cNvPr id="4" name="Picture 3"/>
          <p:cNvPicPr>
            <a:picLocks noChangeAspect="1"/>
          </p:cNvPicPr>
          <p:nvPr/>
        </p:nvPicPr>
        <p:blipFill>
          <a:blip r:embed="rId2"/>
          <a:stretch>
            <a:fillRect/>
          </a:stretch>
        </p:blipFill>
        <p:spPr>
          <a:xfrm>
            <a:off x="6403542" y="142809"/>
            <a:ext cx="5302885" cy="3411762"/>
          </a:xfrm>
          <a:prstGeom prst="rect">
            <a:avLst/>
          </a:prstGeom>
        </p:spPr>
      </p:pic>
      <p:pic>
        <p:nvPicPr>
          <p:cNvPr id="5" name="Picture 4"/>
          <p:cNvPicPr>
            <a:picLocks noChangeAspect="1"/>
          </p:cNvPicPr>
          <p:nvPr/>
        </p:nvPicPr>
        <p:blipFill>
          <a:blip r:embed="rId3"/>
          <a:stretch>
            <a:fillRect/>
          </a:stretch>
        </p:blipFill>
        <p:spPr>
          <a:xfrm>
            <a:off x="292575" y="124691"/>
            <a:ext cx="3724979" cy="1457070"/>
          </a:xfrm>
          <a:prstGeom prst="rect">
            <a:avLst/>
          </a:prstGeom>
        </p:spPr>
      </p:pic>
    </p:spTree>
    <p:extLst>
      <p:ext uri="{BB962C8B-B14F-4D97-AF65-F5344CB8AC3E}">
        <p14:creationId xmlns:p14="http://schemas.microsoft.com/office/powerpoint/2010/main" val="23904101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Machine Learning is making the computer learn from studying data and statistics.</a:t>
            </a:r>
          </a:p>
          <a:p>
            <a:endParaRPr lang="en-US" dirty="0" smtClean="0"/>
          </a:p>
          <a:p>
            <a:r>
              <a:rPr lang="en-US" dirty="0" smtClean="0"/>
              <a:t>Machine Learning is a step into the direction of artificial intelligence (AI).</a:t>
            </a:r>
          </a:p>
          <a:p>
            <a:endParaRPr lang="en-US" dirty="0" smtClean="0"/>
          </a:p>
          <a:p>
            <a:r>
              <a:rPr lang="en-US" dirty="0" smtClean="0"/>
              <a:t>Machine Learning is a program that analyses data and learns to predict the outcome.</a:t>
            </a:r>
            <a:endParaRPr lang="en-US" dirty="0"/>
          </a:p>
        </p:txBody>
      </p:sp>
      <p:pic>
        <p:nvPicPr>
          <p:cNvPr id="5" name="Picture 4"/>
          <p:cNvPicPr>
            <a:picLocks noChangeAspect="1"/>
          </p:cNvPicPr>
          <p:nvPr/>
        </p:nvPicPr>
        <p:blipFill>
          <a:blip r:embed="rId2"/>
          <a:stretch>
            <a:fillRect/>
          </a:stretch>
        </p:blipFill>
        <p:spPr>
          <a:xfrm>
            <a:off x="10238081" y="133786"/>
            <a:ext cx="1633457" cy="638946"/>
          </a:xfrm>
          <a:prstGeom prst="rect">
            <a:avLst/>
          </a:prstGeom>
        </p:spPr>
      </p:pic>
    </p:spTree>
    <p:extLst>
      <p:ext uri="{BB962C8B-B14F-4D97-AF65-F5344CB8AC3E}">
        <p14:creationId xmlns:p14="http://schemas.microsoft.com/office/powerpoint/2010/main" val="28446092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Set</a:t>
            </a:r>
            <a:br>
              <a:rPr lang="en-US" dirty="0" smtClean="0"/>
            </a:br>
            <a:endParaRPr lang="en-US" dirty="0"/>
          </a:p>
        </p:txBody>
      </p:sp>
      <p:sp>
        <p:nvSpPr>
          <p:cNvPr id="3" name="Content Placeholder 2"/>
          <p:cNvSpPr>
            <a:spLocks noGrp="1"/>
          </p:cNvSpPr>
          <p:nvPr>
            <p:ph idx="1"/>
          </p:nvPr>
        </p:nvSpPr>
        <p:spPr/>
        <p:txBody>
          <a:bodyPr/>
          <a:lstStyle/>
          <a:p>
            <a:r>
              <a:rPr lang="en-US" dirty="0" smtClean="0"/>
              <a:t>In the mind of a computer, a data set is any collection of data. It can be anything from an array to a complete database.</a:t>
            </a:r>
          </a:p>
          <a:p>
            <a:endParaRPr lang="en-US" dirty="0" smtClean="0"/>
          </a:p>
          <a:p>
            <a:r>
              <a:rPr lang="en-US" dirty="0" smtClean="0"/>
              <a:t>Example of an array:</a:t>
            </a:r>
          </a:p>
          <a:p>
            <a:endParaRPr lang="en-US" dirty="0" smtClean="0"/>
          </a:p>
          <a:p>
            <a:r>
              <a:rPr lang="en-US" dirty="0" smtClean="0"/>
              <a:t>[99,86,87,88,111,86,103,87,94,78,77,85,86]</a:t>
            </a:r>
            <a:endParaRPr lang="en-US" dirty="0"/>
          </a:p>
        </p:txBody>
      </p:sp>
      <p:pic>
        <p:nvPicPr>
          <p:cNvPr id="4" name="Picture 3"/>
          <p:cNvPicPr>
            <a:picLocks noChangeAspect="1"/>
          </p:cNvPicPr>
          <p:nvPr/>
        </p:nvPicPr>
        <p:blipFill>
          <a:blip r:embed="rId2"/>
          <a:stretch>
            <a:fillRect/>
          </a:stretch>
        </p:blipFill>
        <p:spPr>
          <a:xfrm>
            <a:off x="10238081" y="133786"/>
            <a:ext cx="1633457" cy="638946"/>
          </a:xfrm>
          <a:prstGeom prst="rect">
            <a:avLst/>
          </a:prstGeom>
        </p:spPr>
      </p:pic>
    </p:spTree>
    <p:extLst>
      <p:ext uri="{BB962C8B-B14F-4D97-AF65-F5344CB8AC3E}">
        <p14:creationId xmlns:p14="http://schemas.microsoft.com/office/powerpoint/2010/main" val="40074441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00"/>
                </a:solidFill>
                <a:latin typeface="Verdana" panose="020B0604030504040204" pitchFamily="34" charset="0"/>
              </a:rPr>
              <a:t>Example of a database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60614682"/>
              </p:ext>
            </p:extLst>
          </p:nvPr>
        </p:nvGraphicFramePr>
        <p:xfrm>
          <a:off x="1584100" y="1596976"/>
          <a:ext cx="7550025" cy="4579988"/>
        </p:xfrm>
        <a:graphic>
          <a:graphicData uri="http://schemas.openxmlformats.org/drawingml/2006/table">
            <a:tbl>
              <a:tblPr/>
              <a:tblGrid>
                <a:gridCol w="1510005"/>
                <a:gridCol w="1510005"/>
                <a:gridCol w="1510005"/>
                <a:gridCol w="1510005"/>
                <a:gridCol w="1510005"/>
              </a:tblGrid>
              <a:tr h="327142">
                <a:tc>
                  <a:txBody>
                    <a:bodyPr/>
                    <a:lstStyle/>
                    <a:p>
                      <a:pPr algn="l" fontAlgn="t"/>
                      <a:r>
                        <a:rPr lang="en-US" sz="1300" dirty="0" err="1">
                          <a:effectLst/>
                        </a:rPr>
                        <a:t>Carname</a:t>
                      </a:r>
                      <a:endParaRPr lang="en-US" sz="1300" dirty="0">
                        <a:effectLst/>
                      </a:endParaRPr>
                    </a:p>
                  </a:txBody>
                  <a:tcPr marL="111004"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300" dirty="0">
                          <a:effectLst/>
                        </a:rPr>
                        <a:t>Color</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r" fontAlgn="t"/>
                      <a:r>
                        <a:rPr lang="en-US" sz="1300" dirty="0">
                          <a:effectLst/>
                        </a:rPr>
                        <a:t>Age</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r" fontAlgn="t"/>
                      <a:r>
                        <a:rPr lang="en-US" sz="1300" dirty="0">
                          <a:effectLst/>
                        </a:rPr>
                        <a:t>Speed</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sz="1300" dirty="0" err="1">
                          <a:effectLst/>
                        </a:rPr>
                        <a:t>AutoPass</a:t>
                      </a:r>
                      <a:endParaRPr lang="en-US" sz="1300" dirty="0">
                        <a:effectLst/>
                      </a:endParaRP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327142">
                <a:tc>
                  <a:txBody>
                    <a:bodyPr/>
                    <a:lstStyle/>
                    <a:p>
                      <a:pPr algn="l" fontAlgn="t"/>
                      <a:r>
                        <a:rPr lang="en-US" sz="1300">
                          <a:effectLst/>
                        </a:rPr>
                        <a:t>BMW</a:t>
                      </a:r>
                    </a:p>
                  </a:txBody>
                  <a:tcPr marL="111004"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300">
                          <a:effectLst/>
                        </a:rPr>
                        <a:t>red</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r" fontAlgn="t"/>
                      <a:r>
                        <a:rPr lang="en-US" sz="1300" dirty="0">
                          <a:effectLst/>
                        </a:rPr>
                        <a:t>5</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r" fontAlgn="t"/>
                      <a:r>
                        <a:rPr lang="en-US" sz="1300" dirty="0">
                          <a:effectLst/>
                        </a:rPr>
                        <a:t>99</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ctr" fontAlgn="t"/>
                      <a:r>
                        <a:rPr lang="en-US" sz="1300">
                          <a:effectLst/>
                        </a:rPr>
                        <a:t>Y</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r>
              <a:tr h="327142">
                <a:tc>
                  <a:txBody>
                    <a:bodyPr/>
                    <a:lstStyle/>
                    <a:p>
                      <a:pPr algn="l" fontAlgn="t"/>
                      <a:r>
                        <a:rPr lang="en-US" sz="1300">
                          <a:effectLst/>
                        </a:rPr>
                        <a:t>Volvo</a:t>
                      </a:r>
                    </a:p>
                  </a:txBody>
                  <a:tcPr marL="111004"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300">
                          <a:effectLst/>
                        </a:rPr>
                        <a:t>black</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r" fontAlgn="t"/>
                      <a:r>
                        <a:rPr lang="en-US" sz="1300">
                          <a:effectLst/>
                        </a:rPr>
                        <a:t>7</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r" fontAlgn="t"/>
                      <a:r>
                        <a:rPr lang="en-US" sz="1300">
                          <a:effectLst/>
                        </a:rPr>
                        <a:t>86</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sz="1300">
                          <a:effectLst/>
                        </a:rPr>
                        <a:t>Y</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327142">
                <a:tc>
                  <a:txBody>
                    <a:bodyPr/>
                    <a:lstStyle/>
                    <a:p>
                      <a:pPr algn="l" fontAlgn="t"/>
                      <a:r>
                        <a:rPr lang="en-US" sz="1300">
                          <a:effectLst/>
                        </a:rPr>
                        <a:t>VW</a:t>
                      </a:r>
                    </a:p>
                  </a:txBody>
                  <a:tcPr marL="111004"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300">
                          <a:effectLst/>
                        </a:rPr>
                        <a:t>gray</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r" fontAlgn="t"/>
                      <a:r>
                        <a:rPr lang="en-US" sz="1300">
                          <a:effectLst/>
                        </a:rPr>
                        <a:t>8</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r" fontAlgn="t"/>
                      <a:r>
                        <a:rPr lang="en-US" sz="1300">
                          <a:effectLst/>
                        </a:rPr>
                        <a:t>87</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ctr" fontAlgn="t"/>
                      <a:r>
                        <a:rPr lang="en-US" sz="1300">
                          <a:effectLst/>
                        </a:rPr>
                        <a:t>N</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r>
              <a:tr h="327142">
                <a:tc>
                  <a:txBody>
                    <a:bodyPr/>
                    <a:lstStyle/>
                    <a:p>
                      <a:pPr algn="l" fontAlgn="t"/>
                      <a:r>
                        <a:rPr lang="en-US" sz="1300">
                          <a:effectLst/>
                        </a:rPr>
                        <a:t>VW</a:t>
                      </a:r>
                    </a:p>
                  </a:txBody>
                  <a:tcPr marL="111004"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300">
                          <a:effectLst/>
                        </a:rPr>
                        <a:t>white</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r" fontAlgn="t"/>
                      <a:r>
                        <a:rPr lang="en-US" sz="1300">
                          <a:effectLst/>
                        </a:rPr>
                        <a:t>7</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r" fontAlgn="t"/>
                      <a:r>
                        <a:rPr lang="en-US" sz="1300">
                          <a:effectLst/>
                        </a:rPr>
                        <a:t>88</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sz="1300">
                          <a:effectLst/>
                        </a:rPr>
                        <a:t>Y</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327142">
                <a:tc>
                  <a:txBody>
                    <a:bodyPr/>
                    <a:lstStyle/>
                    <a:p>
                      <a:pPr algn="l" fontAlgn="t"/>
                      <a:r>
                        <a:rPr lang="en-US" sz="1300">
                          <a:effectLst/>
                        </a:rPr>
                        <a:t>Ford</a:t>
                      </a:r>
                    </a:p>
                  </a:txBody>
                  <a:tcPr marL="111004"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300">
                          <a:effectLst/>
                        </a:rPr>
                        <a:t>white</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r" fontAlgn="t"/>
                      <a:r>
                        <a:rPr lang="en-US" sz="1300">
                          <a:effectLst/>
                        </a:rPr>
                        <a:t>2</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r" fontAlgn="t"/>
                      <a:r>
                        <a:rPr lang="en-US" sz="1300">
                          <a:effectLst/>
                        </a:rPr>
                        <a:t>111</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ctr" fontAlgn="t"/>
                      <a:r>
                        <a:rPr lang="en-US" sz="1300">
                          <a:effectLst/>
                        </a:rPr>
                        <a:t>Y</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r>
              <a:tr h="327142">
                <a:tc>
                  <a:txBody>
                    <a:bodyPr/>
                    <a:lstStyle/>
                    <a:p>
                      <a:pPr algn="l" fontAlgn="t"/>
                      <a:r>
                        <a:rPr lang="en-US" sz="1300">
                          <a:effectLst/>
                        </a:rPr>
                        <a:t>VW</a:t>
                      </a:r>
                    </a:p>
                  </a:txBody>
                  <a:tcPr marL="111004"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300">
                          <a:effectLst/>
                        </a:rPr>
                        <a:t>white</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r" fontAlgn="t"/>
                      <a:r>
                        <a:rPr lang="en-US" sz="1300">
                          <a:effectLst/>
                        </a:rPr>
                        <a:t>17</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r" fontAlgn="t"/>
                      <a:r>
                        <a:rPr lang="en-US" sz="1300">
                          <a:effectLst/>
                        </a:rPr>
                        <a:t>86</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sz="1300">
                          <a:effectLst/>
                        </a:rPr>
                        <a:t>Y</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327142">
                <a:tc>
                  <a:txBody>
                    <a:bodyPr/>
                    <a:lstStyle/>
                    <a:p>
                      <a:pPr algn="l" fontAlgn="t"/>
                      <a:r>
                        <a:rPr lang="en-US" sz="1300">
                          <a:effectLst/>
                        </a:rPr>
                        <a:t>Tesla</a:t>
                      </a:r>
                    </a:p>
                  </a:txBody>
                  <a:tcPr marL="111004"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300">
                          <a:effectLst/>
                        </a:rPr>
                        <a:t>red</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r" fontAlgn="t"/>
                      <a:r>
                        <a:rPr lang="en-US" sz="1300">
                          <a:effectLst/>
                        </a:rPr>
                        <a:t>2</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r" fontAlgn="t"/>
                      <a:r>
                        <a:rPr lang="en-US" sz="1300">
                          <a:effectLst/>
                        </a:rPr>
                        <a:t>103</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ctr" fontAlgn="t"/>
                      <a:r>
                        <a:rPr lang="en-US" sz="1300">
                          <a:effectLst/>
                        </a:rPr>
                        <a:t>Y</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r>
              <a:tr h="327142">
                <a:tc>
                  <a:txBody>
                    <a:bodyPr/>
                    <a:lstStyle/>
                    <a:p>
                      <a:pPr algn="l" fontAlgn="t"/>
                      <a:r>
                        <a:rPr lang="en-US" sz="1300">
                          <a:effectLst/>
                        </a:rPr>
                        <a:t>BMW</a:t>
                      </a:r>
                    </a:p>
                  </a:txBody>
                  <a:tcPr marL="111004"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300">
                          <a:effectLst/>
                        </a:rPr>
                        <a:t>black</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r" fontAlgn="t"/>
                      <a:r>
                        <a:rPr lang="en-US" sz="1300">
                          <a:effectLst/>
                        </a:rPr>
                        <a:t>9</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r" fontAlgn="t"/>
                      <a:r>
                        <a:rPr lang="en-US" sz="1300">
                          <a:effectLst/>
                        </a:rPr>
                        <a:t>87</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sz="1300">
                          <a:effectLst/>
                        </a:rPr>
                        <a:t>Y</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327142">
                <a:tc>
                  <a:txBody>
                    <a:bodyPr/>
                    <a:lstStyle/>
                    <a:p>
                      <a:pPr algn="l" fontAlgn="t"/>
                      <a:r>
                        <a:rPr lang="en-US" sz="1300">
                          <a:effectLst/>
                        </a:rPr>
                        <a:t>Volvo</a:t>
                      </a:r>
                    </a:p>
                  </a:txBody>
                  <a:tcPr marL="111004"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300">
                          <a:effectLst/>
                        </a:rPr>
                        <a:t>gray</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r" fontAlgn="t"/>
                      <a:r>
                        <a:rPr lang="en-US" sz="1300">
                          <a:effectLst/>
                        </a:rPr>
                        <a:t>4</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r" fontAlgn="t"/>
                      <a:r>
                        <a:rPr lang="en-US" sz="1300">
                          <a:effectLst/>
                        </a:rPr>
                        <a:t>94</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ctr" fontAlgn="t"/>
                      <a:r>
                        <a:rPr lang="en-US" sz="1300">
                          <a:effectLst/>
                        </a:rPr>
                        <a:t>N</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r>
              <a:tr h="327142">
                <a:tc>
                  <a:txBody>
                    <a:bodyPr/>
                    <a:lstStyle/>
                    <a:p>
                      <a:pPr algn="l" fontAlgn="t"/>
                      <a:r>
                        <a:rPr lang="en-US" sz="1300">
                          <a:effectLst/>
                        </a:rPr>
                        <a:t>Ford</a:t>
                      </a:r>
                    </a:p>
                  </a:txBody>
                  <a:tcPr marL="111004"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300">
                          <a:effectLst/>
                        </a:rPr>
                        <a:t>white</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r" fontAlgn="t"/>
                      <a:r>
                        <a:rPr lang="en-US" sz="1300">
                          <a:effectLst/>
                        </a:rPr>
                        <a:t>11</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r" fontAlgn="t"/>
                      <a:r>
                        <a:rPr lang="en-US" sz="1300">
                          <a:effectLst/>
                        </a:rPr>
                        <a:t>78</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sz="1300">
                          <a:effectLst/>
                        </a:rPr>
                        <a:t>N</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327142">
                <a:tc>
                  <a:txBody>
                    <a:bodyPr/>
                    <a:lstStyle/>
                    <a:p>
                      <a:pPr algn="l" fontAlgn="t"/>
                      <a:r>
                        <a:rPr lang="en-US" sz="1300">
                          <a:effectLst/>
                        </a:rPr>
                        <a:t>Toyota</a:t>
                      </a:r>
                    </a:p>
                  </a:txBody>
                  <a:tcPr marL="111004"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300">
                          <a:effectLst/>
                        </a:rPr>
                        <a:t>gray</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r" fontAlgn="t"/>
                      <a:r>
                        <a:rPr lang="en-US" sz="1300">
                          <a:effectLst/>
                        </a:rPr>
                        <a:t>12</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r" fontAlgn="t"/>
                      <a:r>
                        <a:rPr lang="en-US" sz="1300">
                          <a:effectLst/>
                        </a:rPr>
                        <a:t>77</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ctr" fontAlgn="t"/>
                      <a:r>
                        <a:rPr lang="en-US" sz="1300">
                          <a:effectLst/>
                        </a:rPr>
                        <a:t>N</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r>
              <a:tr h="327142">
                <a:tc>
                  <a:txBody>
                    <a:bodyPr/>
                    <a:lstStyle/>
                    <a:p>
                      <a:pPr algn="l" fontAlgn="t"/>
                      <a:r>
                        <a:rPr lang="en-US" sz="1300">
                          <a:effectLst/>
                        </a:rPr>
                        <a:t>VW</a:t>
                      </a:r>
                    </a:p>
                  </a:txBody>
                  <a:tcPr marL="111004"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300">
                          <a:effectLst/>
                        </a:rPr>
                        <a:t>white</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r" fontAlgn="t"/>
                      <a:r>
                        <a:rPr lang="en-US" sz="1300">
                          <a:effectLst/>
                        </a:rPr>
                        <a:t>9</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r" fontAlgn="t"/>
                      <a:r>
                        <a:rPr lang="en-US" sz="1300">
                          <a:effectLst/>
                        </a:rPr>
                        <a:t>85</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sz="1300">
                          <a:effectLst/>
                        </a:rPr>
                        <a:t>N</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327142">
                <a:tc>
                  <a:txBody>
                    <a:bodyPr/>
                    <a:lstStyle/>
                    <a:p>
                      <a:pPr algn="l" fontAlgn="t"/>
                      <a:r>
                        <a:rPr lang="en-US" sz="1300">
                          <a:effectLst/>
                        </a:rPr>
                        <a:t>Toyota</a:t>
                      </a:r>
                    </a:p>
                  </a:txBody>
                  <a:tcPr marL="111004"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c>
                  <a:txBody>
                    <a:bodyPr/>
                    <a:lstStyle/>
                    <a:p>
                      <a:pPr algn="l" fontAlgn="t"/>
                      <a:r>
                        <a:rPr lang="en-US" sz="1300">
                          <a:effectLst/>
                        </a:rPr>
                        <a:t>blue</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c>
                  <a:txBody>
                    <a:bodyPr/>
                    <a:lstStyle/>
                    <a:p>
                      <a:pPr algn="r" fontAlgn="t"/>
                      <a:r>
                        <a:rPr lang="en-US" sz="1300">
                          <a:effectLst/>
                        </a:rPr>
                        <a:t>6</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c>
                  <a:txBody>
                    <a:bodyPr/>
                    <a:lstStyle/>
                    <a:p>
                      <a:pPr algn="r" fontAlgn="t"/>
                      <a:r>
                        <a:rPr lang="en-US" sz="1300">
                          <a:effectLst/>
                        </a:rPr>
                        <a:t>86</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c>
                  <a:txBody>
                    <a:bodyPr/>
                    <a:lstStyle/>
                    <a:p>
                      <a:pPr algn="ctr" fontAlgn="t"/>
                      <a:r>
                        <a:rPr lang="en-US" sz="1300" dirty="0">
                          <a:effectLst/>
                        </a:rPr>
                        <a:t>Y</a:t>
                      </a:r>
                    </a:p>
                  </a:txBody>
                  <a:tcPr marL="55502" marR="55502" marT="55502" marB="5550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r>
            </a:tbl>
          </a:graphicData>
        </a:graphic>
      </p:graphicFrame>
      <p:sp>
        <p:nvSpPr>
          <p:cNvPr id="5" name="Rectangle 1"/>
          <p:cNvSpPr>
            <a:spLocks noChangeArrowheads="1"/>
          </p:cNvSpPr>
          <p:nvPr/>
        </p:nvSpPr>
        <p:spPr bwMode="auto">
          <a:xfrm>
            <a:off x="0" y="97795"/>
            <a:ext cx="2487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000000"/>
                </a:solidFill>
                <a:effectLst/>
                <a:latin typeface="Verdana" panose="020B0604030504040204" pitchFamily="34" charset="0"/>
              </a:rPr>
              <a:t>:</a:t>
            </a: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pic>
        <p:nvPicPr>
          <p:cNvPr id="6" name="Picture 5"/>
          <p:cNvPicPr>
            <a:picLocks noChangeAspect="1"/>
          </p:cNvPicPr>
          <p:nvPr/>
        </p:nvPicPr>
        <p:blipFill>
          <a:blip r:embed="rId2"/>
          <a:stretch>
            <a:fillRect/>
          </a:stretch>
        </p:blipFill>
        <p:spPr>
          <a:xfrm>
            <a:off x="10238081" y="133786"/>
            <a:ext cx="1633457" cy="638946"/>
          </a:xfrm>
          <a:prstGeom prst="rect">
            <a:avLst/>
          </a:prstGeom>
        </p:spPr>
      </p:pic>
    </p:spTree>
    <p:extLst>
      <p:ext uri="{BB962C8B-B14F-4D97-AF65-F5344CB8AC3E}">
        <p14:creationId xmlns:p14="http://schemas.microsoft.com/office/powerpoint/2010/main" val="182369789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By looking at the array, we can guess that the average value is probably around 80 or 90, and we are also able to determine the highest value and the lowest value, but what else can we do?</a:t>
            </a:r>
          </a:p>
          <a:p>
            <a:endParaRPr lang="en-US" dirty="0" smtClean="0"/>
          </a:p>
          <a:p>
            <a:r>
              <a:rPr lang="en-US" dirty="0" smtClean="0"/>
              <a:t>And by looking at the database we can see that the most popular color is white, and the oldest car is 17 years, but what if we could predict if a car had an </a:t>
            </a:r>
            <a:r>
              <a:rPr lang="en-US" dirty="0" err="1" smtClean="0"/>
              <a:t>AutoPass</a:t>
            </a:r>
            <a:r>
              <a:rPr lang="en-US" dirty="0" smtClean="0"/>
              <a:t>, just by looking at the other values?</a:t>
            </a:r>
          </a:p>
          <a:p>
            <a:endParaRPr lang="en-US" dirty="0" smtClean="0"/>
          </a:p>
          <a:p>
            <a:r>
              <a:rPr lang="en-US" dirty="0" smtClean="0"/>
              <a:t>That is what Machine Learning is for! Analyzing data and predicting the outcome!</a:t>
            </a:r>
            <a:endParaRPr lang="en-US" dirty="0"/>
          </a:p>
        </p:txBody>
      </p:sp>
      <p:pic>
        <p:nvPicPr>
          <p:cNvPr id="4" name="Picture 3"/>
          <p:cNvPicPr>
            <a:picLocks noChangeAspect="1"/>
          </p:cNvPicPr>
          <p:nvPr/>
        </p:nvPicPr>
        <p:blipFill>
          <a:blip r:embed="rId2"/>
          <a:stretch>
            <a:fillRect/>
          </a:stretch>
        </p:blipFill>
        <p:spPr>
          <a:xfrm>
            <a:off x="10238081" y="133786"/>
            <a:ext cx="1633457" cy="638946"/>
          </a:xfrm>
          <a:prstGeom prst="rect">
            <a:avLst/>
          </a:prstGeom>
        </p:spPr>
      </p:pic>
    </p:spTree>
    <p:extLst>
      <p:ext uri="{BB962C8B-B14F-4D97-AF65-F5344CB8AC3E}">
        <p14:creationId xmlns:p14="http://schemas.microsoft.com/office/powerpoint/2010/main" val="6663549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Types</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To analyze data, it is important to know what type of data we are dealing with.</a:t>
            </a:r>
          </a:p>
          <a:p>
            <a:endParaRPr lang="en-US" dirty="0" smtClean="0"/>
          </a:p>
          <a:p>
            <a:r>
              <a:rPr lang="en-US" dirty="0" smtClean="0"/>
              <a:t>We can split the data types into three main categories:</a:t>
            </a:r>
          </a:p>
          <a:p>
            <a:endParaRPr lang="en-US" dirty="0" smtClean="0"/>
          </a:p>
          <a:p>
            <a:r>
              <a:rPr lang="en-US" dirty="0" smtClean="0"/>
              <a:t>Numerical</a:t>
            </a:r>
          </a:p>
          <a:p>
            <a:r>
              <a:rPr lang="en-US" dirty="0" smtClean="0"/>
              <a:t>Categorical</a:t>
            </a:r>
          </a:p>
          <a:p>
            <a:r>
              <a:rPr lang="en-US" dirty="0" smtClean="0"/>
              <a:t>Ordinal</a:t>
            </a:r>
          </a:p>
          <a:p>
            <a:r>
              <a:rPr lang="en-US" dirty="0" smtClean="0"/>
              <a:t>Numerical data are numbers, and can be split into two numerical categories:</a:t>
            </a:r>
          </a:p>
          <a:p>
            <a:endParaRPr lang="en-US" dirty="0" smtClean="0"/>
          </a:p>
        </p:txBody>
      </p:sp>
      <p:pic>
        <p:nvPicPr>
          <p:cNvPr id="4" name="Picture 3"/>
          <p:cNvPicPr>
            <a:picLocks noChangeAspect="1"/>
          </p:cNvPicPr>
          <p:nvPr/>
        </p:nvPicPr>
        <p:blipFill>
          <a:blip r:embed="rId2"/>
          <a:stretch>
            <a:fillRect/>
          </a:stretch>
        </p:blipFill>
        <p:spPr>
          <a:xfrm>
            <a:off x="10238081" y="133786"/>
            <a:ext cx="1633457" cy="638946"/>
          </a:xfrm>
          <a:prstGeom prst="rect">
            <a:avLst/>
          </a:prstGeom>
        </p:spPr>
      </p:pic>
    </p:spTree>
    <p:extLst>
      <p:ext uri="{BB962C8B-B14F-4D97-AF65-F5344CB8AC3E}">
        <p14:creationId xmlns:p14="http://schemas.microsoft.com/office/powerpoint/2010/main" val="14841618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smtClean="0"/>
              <a:t>Discrete Data</a:t>
            </a:r>
          </a:p>
          <a:p>
            <a:r>
              <a:rPr lang="en-US" dirty="0" smtClean="0"/>
              <a:t>- numbers that are limited to integers. Example: The number of cars passing by.</a:t>
            </a:r>
          </a:p>
          <a:p>
            <a:r>
              <a:rPr lang="en-US" dirty="0" smtClean="0"/>
              <a:t>Continuous Data</a:t>
            </a:r>
          </a:p>
          <a:p>
            <a:r>
              <a:rPr lang="en-US" dirty="0" smtClean="0"/>
              <a:t>- numbers that are of infinite value. Example: The price of an item, or the size of an item</a:t>
            </a:r>
          </a:p>
          <a:p>
            <a:r>
              <a:rPr lang="en-US" dirty="0" smtClean="0"/>
              <a:t>Categorical data are values that cannot be measured up against each other. Example: a color value, or any yes/no values.</a:t>
            </a:r>
          </a:p>
          <a:p>
            <a:endParaRPr lang="en-US" dirty="0" smtClean="0"/>
          </a:p>
          <a:p>
            <a:r>
              <a:rPr lang="en-US" dirty="0" smtClean="0"/>
              <a:t>Ordinal data are like categorical data, but can be measured up against each other. Example: school grades where A is better than B and so on.</a:t>
            </a:r>
          </a:p>
          <a:p>
            <a:endParaRPr lang="en-US" dirty="0" smtClean="0"/>
          </a:p>
          <a:p>
            <a:r>
              <a:rPr lang="en-US" dirty="0" smtClean="0"/>
              <a:t>By knowing the data type of your data source, you will be able to know what technique to use when analyzing them.</a:t>
            </a:r>
          </a:p>
          <a:p>
            <a:endParaRPr lang="en-US" dirty="0"/>
          </a:p>
        </p:txBody>
      </p:sp>
      <p:pic>
        <p:nvPicPr>
          <p:cNvPr id="4" name="Picture 3"/>
          <p:cNvPicPr>
            <a:picLocks noChangeAspect="1"/>
          </p:cNvPicPr>
          <p:nvPr/>
        </p:nvPicPr>
        <p:blipFill>
          <a:blip r:embed="rId2"/>
          <a:stretch>
            <a:fillRect/>
          </a:stretch>
        </p:blipFill>
        <p:spPr>
          <a:xfrm>
            <a:off x="10238081" y="133786"/>
            <a:ext cx="1633457" cy="638946"/>
          </a:xfrm>
          <a:prstGeom prst="rect">
            <a:avLst/>
          </a:prstGeom>
        </p:spPr>
      </p:pic>
    </p:spTree>
    <p:extLst>
      <p:ext uri="{BB962C8B-B14F-4D97-AF65-F5344CB8AC3E}">
        <p14:creationId xmlns:p14="http://schemas.microsoft.com/office/powerpoint/2010/main" val="41673031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Mean, Median, and Mode</a:t>
            </a:r>
          </a:p>
          <a:p>
            <a:r>
              <a:rPr lang="en-US" dirty="0" smtClean="0"/>
              <a:t>What can we learn from looking at a group of numbers?</a:t>
            </a:r>
          </a:p>
          <a:p>
            <a:endParaRPr lang="en-US" dirty="0" smtClean="0"/>
          </a:p>
          <a:p>
            <a:r>
              <a:rPr lang="en-US" dirty="0" smtClean="0"/>
              <a:t>In Machine Learning (and in mathematics) there are often three values that interests us:</a:t>
            </a:r>
          </a:p>
          <a:p>
            <a:endParaRPr lang="en-US" dirty="0" smtClean="0"/>
          </a:p>
          <a:p>
            <a:r>
              <a:rPr lang="en-US" dirty="0" smtClean="0"/>
              <a:t>Mean - The average value</a:t>
            </a:r>
          </a:p>
          <a:p>
            <a:r>
              <a:rPr lang="en-US" dirty="0" smtClean="0"/>
              <a:t>Median - The mid point value</a:t>
            </a:r>
          </a:p>
          <a:p>
            <a:r>
              <a:rPr lang="en-US" dirty="0" smtClean="0"/>
              <a:t>Mode - The most common value</a:t>
            </a:r>
            <a:endParaRPr lang="en-US" dirty="0"/>
          </a:p>
        </p:txBody>
      </p:sp>
      <p:pic>
        <p:nvPicPr>
          <p:cNvPr id="4" name="Picture 3"/>
          <p:cNvPicPr>
            <a:picLocks noChangeAspect="1"/>
          </p:cNvPicPr>
          <p:nvPr/>
        </p:nvPicPr>
        <p:blipFill>
          <a:blip r:embed="rId2"/>
          <a:stretch>
            <a:fillRect/>
          </a:stretch>
        </p:blipFill>
        <p:spPr>
          <a:xfrm>
            <a:off x="10238081" y="133786"/>
            <a:ext cx="1633457" cy="638946"/>
          </a:xfrm>
          <a:prstGeom prst="rect">
            <a:avLst/>
          </a:prstGeom>
        </p:spPr>
      </p:pic>
    </p:spTree>
    <p:extLst>
      <p:ext uri="{BB962C8B-B14F-4D97-AF65-F5344CB8AC3E}">
        <p14:creationId xmlns:p14="http://schemas.microsoft.com/office/powerpoint/2010/main" val="8214542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Example: We have registered the speed of 13 cars:</a:t>
            </a:r>
          </a:p>
          <a:p>
            <a:endParaRPr lang="en-US" dirty="0" smtClean="0"/>
          </a:p>
          <a:p>
            <a:r>
              <a:rPr lang="en-US" dirty="0" smtClean="0"/>
              <a:t>speed = [99,86,87,88,111,86,103,87,94,78,77,85,86]</a:t>
            </a:r>
          </a:p>
          <a:p>
            <a:endParaRPr lang="en-US" dirty="0" smtClean="0"/>
          </a:p>
          <a:p>
            <a:r>
              <a:rPr lang="en-US" dirty="0" smtClean="0"/>
              <a:t>What is the average, the middle, or the most common speed value?</a:t>
            </a:r>
            <a:endParaRPr lang="en-US" dirty="0"/>
          </a:p>
        </p:txBody>
      </p:sp>
      <p:pic>
        <p:nvPicPr>
          <p:cNvPr id="4" name="Picture 3"/>
          <p:cNvPicPr>
            <a:picLocks noChangeAspect="1"/>
          </p:cNvPicPr>
          <p:nvPr/>
        </p:nvPicPr>
        <p:blipFill>
          <a:blip r:embed="rId2"/>
          <a:stretch>
            <a:fillRect/>
          </a:stretch>
        </p:blipFill>
        <p:spPr>
          <a:xfrm>
            <a:off x="10238081" y="133786"/>
            <a:ext cx="1633457" cy="638946"/>
          </a:xfrm>
          <a:prstGeom prst="rect">
            <a:avLst/>
          </a:prstGeom>
        </p:spPr>
      </p:pic>
    </p:spTree>
    <p:extLst>
      <p:ext uri="{BB962C8B-B14F-4D97-AF65-F5344CB8AC3E}">
        <p14:creationId xmlns:p14="http://schemas.microsoft.com/office/powerpoint/2010/main" val="28987342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Mean</a:t>
            </a:r>
          </a:p>
          <a:p>
            <a:r>
              <a:rPr lang="en-US" dirty="0" smtClean="0"/>
              <a:t>The mean value is the average value.</a:t>
            </a:r>
          </a:p>
          <a:p>
            <a:endParaRPr lang="en-US" dirty="0" smtClean="0"/>
          </a:p>
          <a:p>
            <a:r>
              <a:rPr lang="en-US" dirty="0" smtClean="0"/>
              <a:t>To calculate the mean, find the sum of all values, and divide the sum by the number of values:</a:t>
            </a:r>
          </a:p>
          <a:p>
            <a:endParaRPr lang="en-US" dirty="0" smtClean="0"/>
          </a:p>
          <a:p>
            <a:r>
              <a:rPr lang="en-US" dirty="0" smtClean="0"/>
              <a:t>(99+86+87+88+111+86+103+87+94+78+77+85+86) / 13 = 89.77</a:t>
            </a:r>
            <a:endParaRPr lang="en-US" dirty="0"/>
          </a:p>
        </p:txBody>
      </p:sp>
      <p:pic>
        <p:nvPicPr>
          <p:cNvPr id="4" name="Picture 3"/>
          <p:cNvPicPr>
            <a:picLocks noChangeAspect="1"/>
          </p:cNvPicPr>
          <p:nvPr/>
        </p:nvPicPr>
        <p:blipFill>
          <a:blip r:embed="rId2"/>
          <a:stretch>
            <a:fillRect/>
          </a:stretch>
        </p:blipFill>
        <p:spPr>
          <a:xfrm>
            <a:off x="10238081" y="133786"/>
            <a:ext cx="1633457" cy="638946"/>
          </a:xfrm>
          <a:prstGeom prst="rect">
            <a:avLst/>
          </a:prstGeom>
        </p:spPr>
      </p:pic>
    </p:spTree>
    <p:extLst>
      <p:ext uri="{BB962C8B-B14F-4D97-AF65-F5344CB8AC3E}">
        <p14:creationId xmlns:p14="http://schemas.microsoft.com/office/powerpoint/2010/main" val="358128524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smtClean="0"/>
              <a:t>Example</a:t>
            </a:r>
          </a:p>
          <a:p>
            <a:r>
              <a:rPr lang="en-US" dirty="0" smtClean="0"/>
              <a:t>Use the </a:t>
            </a:r>
            <a:r>
              <a:rPr lang="en-US" dirty="0" err="1" smtClean="0"/>
              <a:t>NumPy</a:t>
            </a:r>
            <a:r>
              <a:rPr lang="en-US" dirty="0" smtClean="0"/>
              <a:t> mean() method to find the average speed:</a:t>
            </a:r>
          </a:p>
          <a:p>
            <a:endParaRPr lang="en-US" dirty="0" smtClean="0"/>
          </a:p>
          <a:p>
            <a:r>
              <a:rPr lang="en-US" dirty="0" smtClean="0"/>
              <a:t>import </a:t>
            </a:r>
            <a:r>
              <a:rPr lang="en-US" dirty="0" err="1" smtClean="0"/>
              <a:t>numpy</a:t>
            </a:r>
            <a:endParaRPr lang="en-US" dirty="0" smtClean="0"/>
          </a:p>
          <a:p>
            <a:endParaRPr lang="en-US" dirty="0" smtClean="0"/>
          </a:p>
          <a:p>
            <a:r>
              <a:rPr lang="en-US" dirty="0" smtClean="0"/>
              <a:t>speed = [99,86,87,88,111,86,103,87,94,78,77,85,86]</a:t>
            </a:r>
          </a:p>
          <a:p>
            <a:endParaRPr lang="en-US" dirty="0" smtClean="0"/>
          </a:p>
          <a:p>
            <a:r>
              <a:rPr lang="en-US" dirty="0" smtClean="0"/>
              <a:t>x = </a:t>
            </a:r>
            <a:r>
              <a:rPr lang="en-US" dirty="0" err="1" smtClean="0"/>
              <a:t>numpy.mean</a:t>
            </a:r>
            <a:r>
              <a:rPr lang="en-US" dirty="0" smtClean="0"/>
              <a:t>(speed)</a:t>
            </a:r>
          </a:p>
          <a:p>
            <a:endParaRPr lang="en-US" dirty="0" smtClean="0"/>
          </a:p>
          <a:p>
            <a:r>
              <a:rPr lang="en-US" dirty="0" smtClean="0"/>
              <a:t>print(x)</a:t>
            </a:r>
            <a:endParaRPr lang="en-US" dirty="0"/>
          </a:p>
        </p:txBody>
      </p:sp>
      <p:pic>
        <p:nvPicPr>
          <p:cNvPr id="4" name="Picture 3"/>
          <p:cNvPicPr>
            <a:picLocks noChangeAspect="1"/>
          </p:cNvPicPr>
          <p:nvPr/>
        </p:nvPicPr>
        <p:blipFill>
          <a:blip r:embed="rId2"/>
          <a:stretch>
            <a:fillRect/>
          </a:stretch>
        </p:blipFill>
        <p:spPr>
          <a:xfrm>
            <a:off x="10238081" y="133786"/>
            <a:ext cx="1633457" cy="638946"/>
          </a:xfrm>
          <a:prstGeom prst="rect">
            <a:avLst/>
          </a:prstGeom>
        </p:spPr>
      </p:pic>
    </p:spTree>
    <p:extLst>
      <p:ext uri="{BB962C8B-B14F-4D97-AF65-F5344CB8AC3E}">
        <p14:creationId xmlns:p14="http://schemas.microsoft.com/office/powerpoint/2010/main" val="2963990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1972" y="206062"/>
            <a:ext cx="11031828" cy="5970901"/>
          </a:xfrm>
        </p:spPr>
        <p:txBody>
          <a:bodyPr>
            <a:normAutofit fontScale="55000" lnSpcReduction="20000"/>
          </a:bodyPr>
          <a:lstStyle/>
          <a:p>
            <a:r>
              <a:rPr lang="en-US" dirty="0" smtClean="0"/>
              <a:t>Median</a:t>
            </a:r>
          </a:p>
          <a:p>
            <a:r>
              <a:rPr lang="en-US" dirty="0" smtClean="0"/>
              <a:t>The median value is the value in the middle, after you have sorted all the values:</a:t>
            </a:r>
          </a:p>
          <a:p>
            <a:endParaRPr lang="en-US" dirty="0" smtClean="0"/>
          </a:p>
          <a:p>
            <a:r>
              <a:rPr lang="en-US" dirty="0" smtClean="0"/>
              <a:t>77, 78, 85, 86, 86, 86, 87, 87, 88, 94, 99, 103, 111</a:t>
            </a:r>
          </a:p>
          <a:p>
            <a:endParaRPr lang="en-US" dirty="0" smtClean="0"/>
          </a:p>
          <a:p>
            <a:r>
              <a:rPr lang="en-US" dirty="0" smtClean="0"/>
              <a:t>It is important that the numbers are sorted before you can find the median.</a:t>
            </a:r>
          </a:p>
          <a:p>
            <a:endParaRPr lang="en-US" dirty="0" smtClean="0"/>
          </a:p>
          <a:p>
            <a:r>
              <a:rPr lang="en-US" dirty="0" smtClean="0"/>
              <a:t>The </a:t>
            </a:r>
            <a:r>
              <a:rPr lang="en-US" dirty="0" err="1" smtClean="0"/>
              <a:t>NumPy</a:t>
            </a:r>
            <a:r>
              <a:rPr lang="en-US" dirty="0" smtClean="0"/>
              <a:t> module has a method for this:</a:t>
            </a:r>
          </a:p>
          <a:p>
            <a:endParaRPr lang="en-US" dirty="0" smtClean="0"/>
          </a:p>
          <a:p>
            <a:r>
              <a:rPr lang="en-US" dirty="0" smtClean="0"/>
              <a:t>Example</a:t>
            </a:r>
          </a:p>
          <a:p>
            <a:r>
              <a:rPr lang="en-US" dirty="0" smtClean="0"/>
              <a:t>Use the </a:t>
            </a:r>
            <a:r>
              <a:rPr lang="en-US" dirty="0" err="1" smtClean="0"/>
              <a:t>NumPy</a:t>
            </a:r>
            <a:r>
              <a:rPr lang="en-US" dirty="0" smtClean="0"/>
              <a:t> median() method to find the middle value:</a:t>
            </a:r>
          </a:p>
          <a:p>
            <a:endParaRPr lang="en-US" dirty="0" smtClean="0"/>
          </a:p>
          <a:p>
            <a:r>
              <a:rPr lang="en-US" dirty="0" smtClean="0"/>
              <a:t>import </a:t>
            </a:r>
            <a:r>
              <a:rPr lang="en-US" dirty="0" err="1" smtClean="0"/>
              <a:t>numpy</a:t>
            </a:r>
            <a:endParaRPr lang="en-US" dirty="0" smtClean="0"/>
          </a:p>
          <a:p>
            <a:endParaRPr lang="en-US" dirty="0" smtClean="0"/>
          </a:p>
          <a:p>
            <a:r>
              <a:rPr lang="en-US" dirty="0" smtClean="0"/>
              <a:t>speed = [99,86,87,88,111,86,103,87,94,78,77,85,86]</a:t>
            </a:r>
          </a:p>
          <a:p>
            <a:endParaRPr lang="en-US" dirty="0" smtClean="0"/>
          </a:p>
          <a:p>
            <a:r>
              <a:rPr lang="en-US" dirty="0" smtClean="0"/>
              <a:t>x = </a:t>
            </a:r>
            <a:r>
              <a:rPr lang="en-US" dirty="0" err="1" smtClean="0"/>
              <a:t>numpy.median</a:t>
            </a:r>
            <a:r>
              <a:rPr lang="en-US" dirty="0" smtClean="0"/>
              <a:t>(speed)</a:t>
            </a:r>
          </a:p>
          <a:p>
            <a:endParaRPr lang="en-US" dirty="0" smtClean="0"/>
          </a:p>
          <a:p>
            <a:r>
              <a:rPr lang="en-US" dirty="0" smtClean="0"/>
              <a:t>print(x)</a:t>
            </a:r>
            <a:endParaRPr lang="en-US" dirty="0"/>
          </a:p>
        </p:txBody>
      </p:sp>
      <p:pic>
        <p:nvPicPr>
          <p:cNvPr id="4" name="Picture 3"/>
          <p:cNvPicPr>
            <a:picLocks noChangeAspect="1"/>
          </p:cNvPicPr>
          <p:nvPr/>
        </p:nvPicPr>
        <p:blipFill>
          <a:blip r:embed="rId2"/>
          <a:stretch>
            <a:fillRect/>
          </a:stretch>
        </p:blipFill>
        <p:spPr>
          <a:xfrm>
            <a:off x="10238081" y="133786"/>
            <a:ext cx="1633457" cy="638946"/>
          </a:xfrm>
          <a:prstGeom prst="rect">
            <a:avLst/>
          </a:prstGeom>
        </p:spPr>
      </p:pic>
    </p:spTree>
    <p:extLst>
      <p:ext uri="{BB962C8B-B14F-4D97-AF65-F5344CB8AC3E}">
        <p14:creationId xmlns:p14="http://schemas.microsoft.com/office/powerpoint/2010/main" val="185027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If there are two numbers in the middle, divide the sum of those numbers by two.</a:t>
            </a:r>
          </a:p>
          <a:p>
            <a:endParaRPr lang="en-US" dirty="0"/>
          </a:p>
          <a:p>
            <a:r>
              <a:rPr lang="en-US" dirty="0"/>
              <a:t>77, 78, 85, 86, 86, 86, 87, 87, 94, 98, 99, 103</a:t>
            </a:r>
          </a:p>
          <a:p>
            <a:endParaRPr lang="en-US" dirty="0"/>
          </a:p>
          <a:p>
            <a:r>
              <a:rPr lang="en-US" dirty="0"/>
              <a:t>(86 + 87) / 2 = 86.5</a:t>
            </a:r>
          </a:p>
        </p:txBody>
      </p:sp>
      <p:pic>
        <p:nvPicPr>
          <p:cNvPr id="4" name="Picture 3"/>
          <p:cNvPicPr>
            <a:picLocks noChangeAspect="1"/>
          </p:cNvPicPr>
          <p:nvPr/>
        </p:nvPicPr>
        <p:blipFill>
          <a:blip r:embed="rId2"/>
          <a:stretch>
            <a:fillRect/>
          </a:stretch>
        </p:blipFill>
        <p:spPr>
          <a:xfrm>
            <a:off x="10238081" y="133786"/>
            <a:ext cx="1633457" cy="638946"/>
          </a:xfrm>
          <a:prstGeom prst="rect">
            <a:avLst/>
          </a:prstGeom>
        </p:spPr>
      </p:pic>
    </p:spTree>
    <p:extLst>
      <p:ext uri="{BB962C8B-B14F-4D97-AF65-F5344CB8AC3E}">
        <p14:creationId xmlns:p14="http://schemas.microsoft.com/office/powerpoint/2010/main" val="23811249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a:t>Example</a:t>
            </a:r>
          </a:p>
          <a:p>
            <a:r>
              <a:rPr lang="en-US" dirty="0"/>
              <a:t>Using the </a:t>
            </a:r>
            <a:r>
              <a:rPr lang="en-US" dirty="0" err="1"/>
              <a:t>NumPy</a:t>
            </a:r>
            <a:r>
              <a:rPr lang="en-US" dirty="0"/>
              <a:t> module:</a:t>
            </a:r>
          </a:p>
          <a:p>
            <a:endParaRPr lang="en-US" dirty="0"/>
          </a:p>
          <a:p>
            <a:r>
              <a:rPr lang="en-US" dirty="0"/>
              <a:t>import </a:t>
            </a:r>
            <a:r>
              <a:rPr lang="en-US" dirty="0" err="1"/>
              <a:t>numpy</a:t>
            </a:r>
            <a:endParaRPr lang="en-US" dirty="0"/>
          </a:p>
          <a:p>
            <a:endParaRPr lang="en-US" dirty="0"/>
          </a:p>
          <a:p>
            <a:r>
              <a:rPr lang="en-US" dirty="0"/>
              <a:t>speed = [99,86,87,88,86,103,87,94,78,77,85,86]</a:t>
            </a:r>
          </a:p>
          <a:p>
            <a:endParaRPr lang="en-US" dirty="0"/>
          </a:p>
          <a:p>
            <a:r>
              <a:rPr lang="en-US" dirty="0"/>
              <a:t>x = </a:t>
            </a:r>
            <a:r>
              <a:rPr lang="en-US" dirty="0" err="1"/>
              <a:t>numpy.median</a:t>
            </a:r>
            <a:r>
              <a:rPr lang="en-US" dirty="0"/>
              <a:t>(speed)</a:t>
            </a:r>
          </a:p>
          <a:p>
            <a:endParaRPr lang="en-US" dirty="0"/>
          </a:p>
          <a:p>
            <a:r>
              <a:rPr lang="en-US" dirty="0"/>
              <a:t>print(x)</a:t>
            </a:r>
          </a:p>
          <a:p>
            <a:endParaRPr lang="en-US" dirty="0"/>
          </a:p>
        </p:txBody>
      </p:sp>
      <p:pic>
        <p:nvPicPr>
          <p:cNvPr id="4" name="Picture 3"/>
          <p:cNvPicPr>
            <a:picLocks noChangeAspect="1"/>
          </p:cNvPicPr>
          <p:nvPr/>
        </p:nvPicPr>
        <p:blipFill>
          <a:blip r:embed="rId2"/>
          <a:stretch>
            <a:fillRect/>
          </a:stretch>
        </p:blipFill>
        <p:spPr>
          <a:xfrm>
            <a:off x="10238081" y="133786"/>
            <a:ext cx="1633457" cy="638946"/>
          </a:xfrm>
          <a:prstGeom prst="rect">
            <a:avLst/>
          </a:prstGeom>
        </p:spPr>
      </p:pic>
    </p:spTree>
    <p:extLst>
      <p:ext uri="{BB962C8B-B14F-4D97-AF65-F5344CB8AC3E}">
        <p14:creationId xmlns:p14="http://schemas.microsoft.com/office/powerpoint/2010/main" val="28702392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6366" y="257577"/>
            <a:ext cx="10967434" cy="5919386"/>
          </a:xfrm>
        </p:spPr>
        <p:txBody>
          <a:bodyPr>
            <a:normAutofit fontScale="70000" lnSpcReduction="20000"/>
          </a:bodyPr>
          <a:lstStyle/>
          <a:p>
            <a:r>
              <a:rPr lang="en-US" dirty="0"/>
              <a:t>Mode</a:t>
            </a:r>
          </a:p>
          <a:p>
            <a:r>
              <a:rPr lang="en-US" dirty="0"/>
              <a:t>The Mode value is the value that appears the most number of times:</a:t>
            </a:r>
          </a:p>
          <a:p>
            <a:endParaRPr lang="en-US" dirty="0"/>
          </a:p>
          <a:p>
            <a:r>
              <a:rPr lang="en-US" dirty="0"/>
              <a:t>99, 86, 87, 88, 111, 86, 103, 87, 94, 78, 77, 85, 86 = 86</a:t>
            </a:r>
          </a:p>
          <a:p>
            <a:endParaRPr lang="en-US" dirty="0"/>
          </a:p>
          <a:p>
            <a:r>
              <a:rPr lang="en-US" dirty="0"/>
              <a:t>The </a:t>
            </a:r>
            <a:r>
              <a:rPr lang="en-US" dirty="0" err="1"/>
              <a:t>SciPy</a:t>
            </a:r>
            <a:r>
              <a:rPr lang="en-US" dirty="0"/>
              <a:t> module has a method for this. Learn about the </a:t>
            </a:r>
            <a:r>
              <a:rPr lang="en-US" dirty="0" err="1"/>
              <a:t>SciPy</a:t>
            </a:r>
            <a:r>
              <a:rPr lang="en-US" dirty="0"/>
              <a:t> module in our </a:t>
            </a:r>
            <a:r>
              <a:rPr lang="en-US" dirty="0" err="1"/>
              <a:t>SciPy</a:t>
            </a:r>
            <a:r>
              <a:rPr lang="en-US" dirty="0"/>
              <a:t> Tutorial.</a:t>
            </a:r>
          </a:p>
          <a:p>
            <a:endParaRPr lang="en-US" dirty="0"/>
          </a:p>
          <a:p>
            <a:r>
              <a:rPr lang="en-US" dirty="0"/>
              <a:t>Example</a:t>
            </a:r>
          </a:p>
          <a:p>
            <a:r>
              <a:rPr lang="en-US" dirty="0"/>
              <a:t>Use the </a:t>
            </a:r>
            <a:r>
              <a:rPr lang="en-US" dirty="0" err="1"/>
              <a:t>SciPy</a:t>
            </a:r>
            <a:r>
              <a:rPr lang="en-US" dirty="0"/>
              <a:t> mode() method to find the number that appears the most:</a:t>
            </a:r>
          </a:p>
          <a:p>
            <a:endParaRPr lang="en-US" dirty="0"/>
          </a:p>
          <a:p>
            <a:r>
              <a:rPr lang="en-US" dirty="0"/>
              <a:t>from </a:t>
            </a:r>
            <a:r>
              <a:rPr lang="en-US" dirty="0" err="1"/>
              <a:t>scipy</a:t>
            </a:r>
            <a:r>
              <a:rPr lang="en-US" dirty="0"/>
              <a:t> import stats</a:t>
            </a:r>
          </a:p>
          <a:p>
            <a:endParaRPr lang="en-US" dirty="0"/>
          </a:p>
          <a:p>
            <a:r>
              <a:rPr lang="en-US" dirty="0"/>
              <a:t>speed = [99,86,87,88,111,86,103,87,94,78,77,85,86]</a:t>
            </a:r>
          </a:p>
          <a:p>
            <a:endParaRPr lang="en-US" dirty="0"/>
          </a:p>
          <a:p>
            <a:r>
              <a:rPr lang="en-US" dirty="0"/>
              <a:t>x = </a:t>
            </a:r>
            <a:r>
              <a:rPr lang="en-US" dirty="0" err="1"/>
              <a:t>stats.mode</a:t>
            </a:r>
            <a:r>
              <a:rPr lang="en-US" dirty="0"/>
              <a:t>(speed)</a:t>
            </a:r>
          </a:p>
          <a:p>
            <a:endParaRPr lang="en-US" dirty="0"/>
          </a:p>
          <a:p>
            <a:r>
              <a:rPr lang="en-US" dirty="0"/>
              <a:t>print(x)</a:t>
            </a:r>
          </a:p>
        </p:txBody>
      </p:sp>
      <p:pic>
        <p:nvPicPr>
          <p:cNvPr id="4" name="Picture 3"/>
          <p:cNvPicPr>
            <a:picLocks noChangeAspect="1"/>
          </p:cNvPicPr>
          <p:nvPr/>
        </p:nvPicPr>
        <p:blipFill>
          <a:blip r:embed="rId2"/>
          <a:stretch>
            <a:fillRect/>
          </a:stretch>
        </p:blipFill>
        <p:spPr>
          <a:xfrm>
            <a:off x="10238081" y="133786"/>
            <a:ext cx="1633457" cy="638946"/>
          </a:xfrm>
          <a:prstGeom prst="rect">
            <a:avLst/>
          </a:prstGeom>
        </p:spPr>
      </p:pic>
    </p:spTree>
    <p:extLst>
      <p:ext uri="{BB962C8B-B14F-4D97-AF65-F5344CB8AC3E}">
        <p14:creationId xmlns:p14="http://schemas.microsoft.com/office/powerpoint/2010/main" val="280908427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Standard Deviation?</a:t>
            </a:r>
            <a:br>
              <a:rPr lang="en-US" dirty="0"/>
            </a:b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Standard </a:t>
            </a:r>
            <a:r>
              <a:rPr lang="en-US" dirty="0"/>
              <a:t>deviation is a number that describes how spread out the values are.</a:t>
            </a:r>
          </a:p>
          <a:p>
            <a:endParaRPr lang="en-US" dirty="0"/>
          </a:p>
          <a:p>
            <a:r>
              <a:rPr lang="en-US" b="1" dirty="0"/>
              <a:t>A low standard deviation </a:t>
            </a:r>
            <a:r>
              <a:rPr lang="en-US" dirty="0"/>
              <a:t>means that most of the numbers are close to the mean (average) value.</a:t>
            </a:r>
          </a:p>
          <a:p>
            <a:endParaRPr lang="en-US" dirty="0"/>
          </a:p>
          <a:p>
            <a:r>
              <a:rPr lang="en-US" b="1" dirty="0"/>
              <a:t>A high standard deviation </a:t>
            </a:r>
            <a:r>
              <a:rPr lang="en-US" dirty="0"/>
              <a:t>means that the values are spread out over a wider range.</a:t>
            </a:r>
          </a:p>
          <a:p>
            <a:endParaRPr lang="en-US" dirty="0"/>
          </a:p>
          <a:p>
            <a:r>
              <a:rPr lang="en-US" dirty="0"/>
              <a:t>Example: This time we have registered the speed of 7 cars:</a:t>
            </a:r>
          </a:p>
          <a:p>
            <a:endParaRPr lang="en-US" dirty="0"/>
          </a:p>
          <a:p>
            <a:r>
              <a:rPr lang="en-US" dirty="0"/>
              <a:t>speed = [86,87,88,86,87,85,86]</a:t>
            </a:r>
          </a:p>
          <a:p>
            <a:endParaRPr lang="en-US" dirty="0"/>
          </a:p>
          <a:p>
            <a:r>
              <a:rPr lang="en-US" dirty="0"/>
              <a:t>The standard deviation is:</a:t>
            </a:r>
          </a:p>
          <a:p>
            <a:endParaRPr lang="en-US" dirty="0"/>
          </a:p>
          <a:p>
            <a:r>
              <a:rPr lang="en-US" dirty="0"/>
              <a:t>0.9</a:t>
            </a:r>
          </a:p>
        </p:txBody>
      </p:sp>
      <p:pic>
        <p:nvPicPr>
          <p:cNvPr id="4" name="Picture 3"/>
          <p:cNvPicPr>
            <a:picLocks noChangeAspect="1"/>
          </p:cNvPicPr>
          <p:nvPr/>
        </p:nvPicPr>
        <p:blipFill>
          <a:blip r:embed="rId2"/>
          <a:stretch>
            <a:fillRect/>
          </a:stretch>
        </p:blipFill>
        <p:spPr>
          <a:xfrm>
            <a:off x="10238081" y="133786"/>
            <a:ext cx="1633457" cy="638946"/>
          </a:xfrm>
          <a:prstGeom prst="rect">
            <a:avLst/>
          </a:prstGeom>
        </p:spPr>
      </p:pic>
    </p:spTree>
    <p:extLst>
      <p:ext uri="{BB962C8B-B14F-4D97-AF65-F5344CB8AC3E}">
        <p14:creationId xmlns:p14="http://schemas.microsoft.com/office/powerpoint/2010/main" val="21345696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0761" y="167425"/>
            <a:ext cx="10903039" cy="6009538"/>
          </a:xfrm>
        </p:spPr>
        <p:txBody>
          <a:bodyPr>
            <a:normAutofit fontScale="70000" lnSpcReduction="20000"/>
          </a:bodyPr>
          <a:lstStyle/>
          <a:p>
            <a:r>
              <a:rPr lang="en-US" dirty="0"/>
              <a:t>Meaning that most of the values are within the range of 0.9 from the mean value, which is 86.4.</a:t>
            </a:r>
          </a:p>
          <a:p>
            <a:endParaRPr lang="en-US" dirty="0"/>
          </a:p>
          <a:p>
            <a:r>
              <a:rPr lang="en-US" dirty="0"/>
              <a:t>Let us do the same with a selection of numbers with a wider range:</a:t>
            </a:r>
          </a:p>
          <a:p>
            <a:endParaRPr lang="en-US" dirty="0"/>
          </a:p>
          <a:p>
            <a:r>
              <a:rPr lang="en-US" dirty="0"/>
              <a:t>speed = [32,111,138,28,59,77,97]</a:t>
            </a:r>
          </a:p>
          <a:p>
            <a:endParaRPr lang="en-US" dirty="0"/>
          </a:p>
          <a:p>
            <a:r>
              <a:rPr lang="en-US" dirty="0"/>
              <a:t>The standard deviation is:</a:t>
            </a:r>
          </a:p>
          <a:p>
            <a:endParaRPr lang="en-US" dirty="0"/>
          </a:p>
          <a:p>
            <a:r>
              <a:rPr lang="en-US" dirty="0"/>
              <a:t>37.85</a:t>
            </a:r>
          </a:p>
          <a:p>
            <a:endParaRPr lang="en-US" dirty="0"/>
          </a:p>
          <a:p>
            <a:r>
              <a:rPr lang="en-US" dirty="0"/>
              <a:t>Meaning that most of the values are within the range of 37.85 from the mean value, which is 77.4.</a:t>
            </a:r>
          </a:p>
          <a:p>
            <a:endParaRPr lang="en-US" dirty="0"/>
          </a:p>
          <a:p>
            <a:r>
              <a:rPr lang="en-US" dirty="0"/>
              <a:t>As you can see, a higher standard deviation indicates that the values are spread out over a wider range.</a:t>
            </a:r>
          </a:p>
          <a:p>
            <a:endParaRPr lang="en-US" dirty="0"/>
          </a:p>
          <a:p>
            <a:r>
              <a:rPr lang="en-US" dirty="0"/>
              <a:t>The </a:t>
            </a:r>
            <a:r>
              <a:rPr lang="en-US" dirty="0" err="1"/>
              <a:t>NumPy</a:t>
            </a:r>
            <a:r>
              <a:rPr lang="en-US" dirty="0"/>
              <a:t> module has a method to calculate the standard deviation:</a:t>
            </a:r>
          </a:p>
        </p:txBody>
      </p:sp>
      <p:pic>
        <p:nvPicPr>
          <p:cNvPr id="4" name="Picture 3"/>
          <p:cNvPicPr>
            <a:picLocks noChangeAspect="1"/>
          </p:cNvPicPr>
          <p:nvPr/>
        </p:nvPicPr>
        <p:blipFill>
          <a:blip r:embed="rId2"/>
          <a:stretch>
            <a:fillRect/>
          </a:stretch>
        </p:blipFill>
        <p:spPr>
          <a:xfrm>
            <a:off x="10238081" y="133786"/>
            <a:ext cx="1633457" cy="638946"/>
          </a:xfrm>
          <a:prstGeom prst="rect">
            <a:avLst/>
          </a:prstGeom>
        </p:spPr>
      </p:pic>
    </p:spTree>
    <p:extLst>
      <p:ext uri="{BB962C8B-B14F-4D97-AF65-F5344CB8AC3E}">
        <p14:creationId xmlns:p14="http://schemas.microsoft.com/office/powerpoint/2010/main" val="349318769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3" name="Content Placeholder 2"/>
          <p:cNvSpPr>
            <a:spLocks noGrp="1"/>
          </p:cNvSpPr>
          <p:nvPr>
            <p:ph sz="half" idx="1"/>
          </p:nvPr>
        </p:nvSpPr>
        <p:spPr/>
        <p:txBody>
          <a:bodyPr>
            <a:normAutofit fontScale="92500" lnSpcReduction="10000"/>
          </a:bodyPr>
          <a:lstStyle/>
          <a:p>
            <a:r>
              <a:rPr lang="en-US" dirty="0"/>
              <a:t>Use the </a:t>
            </a:r>
            <a:r>
              <a:rPr lang="en-US" dirty="0" err="1"/>
              <a:t>NumPy</a:t>
            </a:r>
            <a:r>
              <a:rPr lang="en-US" dirty="0"/>
              <a:t> </a:t>
            </a:r>
            <a:r>
              <a:rPr lang="en-US" dirty="0" err="1"/>
              <a:t>std</a:t>
            </a:r>
            <a:r>
              <a:rPr lang="en-US" dirty="0"/>
              <a:t>() method to find the standard deviation:</a:t>
            </a:r>
          </a:p>
          <a:p>
            <a:endParaRPr lang="en-US" dirty="0"/>
          </a:p>
          <a:p>
            <a:r>
              <a:rPr lang="en-US" dirty="0"/>
              <a:t>import </a:t>
            </a:r>
            <a:r>
              <a:rPr lang="en-US" dirty="0" err="1"/>
              <a:t>numpy</a:t>
            </a:r>
            <a:endParaRPr lang="en-US" dirty="0"/>
          </a:p>
          <a:p>
            <a:endParaRPr lang="en-US" dirty="0"/>
          </a:p>
          <a:p>
            <a:r>
              <a:rPr lang="en-US" dirty="0"/>
              <a:t>speed = [86,87,88,86,87,85,86]</a:t>
            </a:r>
          </a:p>
          <a:p>
            <a:endParaRPr lang="en-US" dirty="0"/>
          </a:p>
          <a:p>
            <a:r>
              <a:rPr lang="en-US" dirty="0"/>
              <a:t>x = </a:t>
            </a:r>
            <a:r>
              <a:rPr lang="en-US" dirty="0" err="1"/>
              <a:t>numpy.std</a:t>
            </a:r>
            <a:r>
              <a:rPr lang="en-US" dirty="0"/>
              <a:t>(speed)</a:t>
            </a:r>
          </a:p>
          <a:p>
            <a:endParaRPr lang="en-US" dirty="0"/>
          </a:p>
          <a:p>
            <a:r>
              <a:rPr lang="en-US" dirty="0"/>
              <a:t>print(x)</a:t>
            </a:r>
          </a:p>
        </p:txBody>
      </p:sp>
      <p:sp>
        <p:nvSpPr>
          <p:cNvPr id="6" name="Content Placeholder 5"/>
          <p:cNvSpPr>
            <a:spLocks noGrp="1"/>
          </p:cNvSpPr>
          <p:nvPr>
            <p:ph sz="half" idx="2"/>
          </p:nvPr>
        </p:nvSpPr>
        <p:spPr/>
        <p:txBody>
          <a:bodyPr>
            <a:normAutofit fontScale="92500" lnSpcReduction="10000"/>
          </a:bodyPr>
          <a:lstStyle/>
          <a:p>
            <a:r>
              <a:rPr lang="en-US" dirty="0"/>
              <a:t>Example</a:t>
            </a:r>
          </a:p>
          <a:p>
            <a:r>
              <a:rPr lang="en-US" dirty="0"/>
              <a:t>import </a:t>
            </a:r>
            <a:r>
              <a:rPr lang="en-US" dirty="0" err="1"/>
              <a:t>numpy</a:t>
            </a:r>
            <a:endParaRPr lang="en-US" dirty="0"/>
          </a:p>
          <a:p>
            <a:endParaRPr lang="en-US" dirty="0"/>
          </a:p>
          <a:p>
            <a:r>
              <a:rPr lang="en-US" dirty="0"/>
              <a:t>speed = [32,111,138,28,59,77,97]</a:t>
            </a:r>
          </a:p>
          <a:p>
            <a:endParaRPr lang="en-US" dirty="0"/>
          </a:p>
          <a:p>
            <a:r>
              <a:rPr lang="en-US" dirty="0"/>
              <a:t>x = </a:t>
            </a:r>
            <a:r>
              <a:rPr lang="en-US" dirty="0" err="1"/>
              <a:t>numpy.std</a:t>
            </a:r>
            <a:r>
              <a:rPr lang="en-US" dirty="0"/>
              <a:t>(speed)</a:t>
            </a:r>
          </a:p>
          <a:p>
            <a:endParaRPr lang="en-US" dirty="0"/>
          </a:p>
          <a:p>
            <a:r>
              <a:rPr lang="en-US" dirty="0"/>
              <a:t>print(x)</a:t>
            </a:r>
          </a:p>
          <a:p>
            <a:endParaRPr lang="en-US" dirty="0"/>
          </a:p>
        </p:txBody>
      </p:sp>
      <p:pic>
        <p:nvPicPr>
          <p:cNvPr id="4" name="Picture 3"/>
          <p:cNvPicPr>
            <a:picLocks noChangeAspect="1"/>
          </p:cNvPicPr>
          <p:nvPr/>
        </p:nvPicPr>
        <p:blipFill>
          <a:blip r:embed="rId2"/>
          <a:stretch>
            <a:fillRect/>
          </a:stretch>
        </p:blipFill>
        <p:spPr>
          <a:xfrm>
            <a:off x="10238081" y="133786"/>
            <a:ext cx="1633457" cy="638946"/>
          </a:xfrm>
          <a:prstGeom prst="rect">
            <a:avLst/>
          </a:prstGeom>
        </p:spPr>
      </p:pic>
    </p:spTree>
    <p:extLst>
      <p:ext uri="{BB962C8B-B14F-4D97-AF65-F5344CB8AC3E}">
        <p14:creationId xmlns:p14="http://schemas.microsoft.com/office/powerpoint/2010/main" val="232059432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10238081" y="133786"/>
            <a:ext cx="1633457" cy="638946"/>
          </a:xfrm>
          <a:prstGeom prst="rect">
            <a:avLst/>
          </a:prstGeom>
        </p:spPr>
      </p:pic>
    </p:spTree>
    <p:extLst>
      <p:ext uri="{BB962C8B-B14F-4D97-AF65-F5344CB8AC3E}">
        <p14:creationId xmlns:p14="http://schemas.microsoft.com/office/powerpoint/2010/main" val="257712975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Machine Learning - Percentiles</a:t>
            </a:r>
          </a:p>
        </p:txBody>
      </p:sp>
      <p:sp>
        <p:nvSpPr>
          <p:cNvPr id="3" name="Content Placeholder 2"/>
          <p:cNvSpPr>
            <a:spLocks noGrp="1"/>
          </p:cNvSpPr>
          <p:nvPr>
            <p:ph idx="1"/>
          </p:nvPr>
        </p:nvSpPr>
        <p:spPr/>
        <p:txBody>
          <a:bodyPr>
            <a:normAutofit fontScale="77500" lnSpcReduction="20000"/>
          </a:bodyPr>
          <a:lstStyle/>
          <a:p>
            <a:r>
              <a:rPr lang="en-US" dirty="0"/>
              <a:t>What are Percentiles?</a:t>
            </a:r>
          </a:p>
          <a:p>
            <a:r>
              <a:rPr lang="en-US" dirty="0"/>
              <a:t>Percentiles are used in statistics to give you a number that describes the value that a given percent of the values are lower than.</a:t>
            </a:r>
          </a:p>
          <a:p>
            <a:endParaRPr lang="en-US" dirty="0"/>
          </a:p>
          <a:p>
            <a:r>
              <a:rPr lang="en-US" dirty="0"/>
              <a:t>Example: Let's say we have an array of the ages of all the people that lives in a street.</a:t>
            </a:r>
          </a:p>
          <a:p>
            <a:endParaRPr lang="en-US" dirty="0"/>
          </a:p>
          <a:p>
            <a:r>
              <a:rPr lang="en-US" dirty="0"/>
              <a:t>ages = [5,31,43,48,50,41,7,11,15,39,80,82,32,2,8,6,25,36,27,61,31]</a:t>
            </a:r>
          </a:p>
          <a:p>
            <a:endParaRPr lang="en-US" dirty="0"/>
          </a:p>
          <a:p>
            <a:r>
              <a:rPr lang="en-US" dirty="0"/>
              <a:t>What is the 75. percentile? The answer is 43, meaning that 75% of the people are 43 or younger.</a:t>
            </a:r>
          </a:p>
          <a:p>
            <a:endParaRPr lang="en-US" dirty="0"/>
          </a:p>
          <a:p>
            <a:r>
              <a:rPr lang="en-US" dirty="0"/>
              <a:t>The </a:t>
            </a:r>
            <a:r>
              <a:rPr lang="en-US" dirty="0" err="1"/>
              <a:t>NumPy</a:t>
            </a:r>
            <a:r>
              <a:rPr lang="en-US" dirty="0"/>
              <a:t> module has a method for finding the specified percentile:</a:t>
            </a:r>
          </a:p>
        </p:txBody>
      </p:sp>
      <p:pic>
        <p:nvPicPr>
          <p:cNvPr id="4" name="Picture 3"/>
          <p:cNvPicPr>
            <a:picLocks noChangeAspect="1"/>
          </p:cNvPicPr>
          <p:nvPr/>
        </p:nvPicPr>
        <p:blipFill>
          <a:blip r:embed="rId2"/>
          <a:stretch>
            <a:fillRect/>
          </a:stretch>
        </p:blipFill>
        <p:spPr>
          <a:xfrm>
            <a:off x="10238081" y="133786"/>
            <a:ext cx="1633457" cy="638946"/>
          </a:xfrm>
          <a:prstGeom prst="rect">
            <a:avLst/>
          </a:prstGeom>
        </p:spPr>
      </p:pic>
    </p:spTree>
    <p:extLst>
      <p:ext uri="{BB962C8B-B14F-4D97-AF65-F5344CB8AC3E}">
        <p14:creationId xmlns:p14="http://schemas.microsoft.com/office/powerpoint/2010/main" val="160005776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a:t>Example</a:t>
            </a:r>
          </a:p>
          <a:p>
            <a:r>
              <a:rPr lang="en-US" dirty="0"/>
              <a:t>Use the </a:t>
            </a:r>
            <a:r>
              <a:rPr lang="en-US" dirty="0" err="1"/>
              <a:t>NumPy</a:t>
            </a:r>
            <a:r>
              <a:rPr lang="en-US" dirty="0"/>
              <a:t> percentile() method to find the percentiles:</a:t>
            </a:r>
          </a:p>
          <a:p>
            <a:endParaRPr lang="en-US" dirty="0"/>
          </a:p>
          <a:p>
            <a:r>
              <a:rPr lang="en-US" dirty="0"/>
              <a:t>import </a:t>
            </a:r>
            <a:r>
              <a:rPr lang="en-US" dirty="0" err="1"/>
              <a:t>numpy</a:t>
            </a:r>
            <a:endParaRPr lang="en-US" dirty="0"/>
          </a:p>
          <a:p>
            <a:endParaRPr lang="en-US" dirty="0"/>
          </a:p>
          <a:p>
            <a:r>
              <a:rPr lang="en-US" dirty="0"/>
              <a:t>ages = [5,31,43,48,50,41,7,11,15,39,80,82,32,2,8,6,25,36,27,61,31]</a:t>
            </a:r>
          </a:p>
          <a:p>
            <a:endParaRPr lang="en-US" dirty="0"/>
          </a:p>
          <a:p>
            <a:r>
              <a:rPr lang="en-US" dirty="0"/>
              <a:t>x = </a:t>
            </a:r>
            <a:r>
              <a:rPr lang="en-US" dirty="0" err="1"/>
              <a:t>numpy.percentile</a:t>
            </a:r>
            <a:r>
              <a:rPr lang="en-US" dirty="0"/>
              <a:t>(ages, 75)</a:t>
            </a:r>
          </a:p>
          <a:p>
            <a:endParaRPr lang="en-US" dirty="0"/>
          </a:p>
          <a:p>
            <a:r>
              <a:rPr lang="en-US" dirty="0"/>
              <a:t>print(x)</a:t>
            </a:r>
          </a:p>
          <a:p>
            <a:endParaRPr lang="en-US" dirty="0"/>
          </a:p>
        </p:txBody>
      </p:sp>
      <p:pic>
        <p:nvPicPr>
          <p:cNvPr id="4" name="Picture 3"/>
          <p:cNvPicPr>
            <a:picLocks noChangeAspect="1"/>
          </p:cNvPicPr>
          <p:nvPr/>
        </p:nvPicPr>
        <p:blipFill>
          <a:blip r:embed="rId2"/>
          <a:stretch>
            <a:fillRect/>
          </a:stretch>
        </p:blipFill>
        <p:spPr>
          <a:xfrm>
            <a:off x="10238081" y="133786"/>
            <a:ext cx="1633457" cy="638946"/>
          </a:xfrm>
          <a:prstGeom prst="rect">
            <a:avLst/>
          </a:prstGeom>
        </p:spPr>
      </p:pic>
    </p:spTree>
    <p:extLst>
      <p:ext uri="{BB962C8B-B14F-4D97-AF65-F5344CB8AC3E}">
        <p14:creationId xmlns:p14="http://schemas.microsoft.com/office/powerpoint/2010/main" val="354964881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8186" y="515155"/>
            <a:ext cx="10735614" cy="5661808"/>
          </a:xfrm>
        </p:spPr>
        <p:txBody>
          <a:bodyPr>
            <a:normAutofit/>
          </a:bodyPr>
          <a:lstStyle/>
          <a:p>
            <a:r>
              <a:rPr lang="en-US" dirty="0"/>
              <a:t>Example</a:t>
            </a:r>
          </a:p>
          <a:p>
            <a:r>
              <a:rPr lang="en-US" dirty="0"/>
              <a:t>What is the age that 90% of the people are younger than?</a:t>
            </a:r>
          </a:p>
          <a:p>
            <a:endParaRPr lang="en-US" dirty="0"/>
          </a:p>
          <a:p>
            <a:r>
              <a:rPr lang="en-US" dirty="0"/>
              <a:t>import </a:t>
            </a:r>
            <a:r>
              <a:rPr lang="en-US" dirty="0" err="1"/>
              <a:t>numpy</a:t>
            </a:r>
            <a:endParaRPr lang="en-US" dirty="0"/>
          </a:p>
          <a:p>
            <a:endParaRPr lang="en-US" dirty="0"/>
          </a:p>
          <a:p>
            <a:r>
              <a:rPr lang="en-US" dirty="0"/>
              <a:t>ages = [5,31,43,48,50,41,7,11,15,39,80,82,32,2,8,6,25,36,27,61,31]</a:t>
            </a:r>
          </a:p>
          <a:p>
            <a:endParaRPr lang="en-US" dirty="0"/>
          </a:p>
          <a:p>
            <a:r>
              <a:rPr lang="en-US" dirty="0"/>
              <a:t>x = </a:t>
            </a:r>
            <a:r>
              <a:rPr lang="en-US" dirty="0" err="1"/>
              <a:t>numpy.percentile</a:t>
            </a:r>
            <a:r>
              <a:rPr lang="en-US" dirty="0"/>
              <a:t>(ages, 90)</a:t>
            </a:r>
          </a:p>
          <a:p>
            <a:endParaRPr lang="en-US" dirty="0"/>
          </a:p>
          <a:p>
            <a:r>
              <a:rPr lang="en-US" dirty="0"/>
              <a:t>print(x)</a:t>
            </a:r>
          </a:p>
        </p:txBody>
      </p:sp>
      <p:pic>
        <p:nvPicPr>
          <p:cNvPr id="4" name="Picture 3"/>
          <p:cNvPicPr>
            <a:picLocks noChangeAspect="1"/>
          </p:cNvPicPr>
          <p:nvPr/>
        </p:nvPicPr>
        <p:blipFill>
          <a:blip r:embed="rId2"/>
          <a:stretch>
            <a:fillRect/>
          </a:stretch>
        </p:blipFill>
        <p:spPr>
          <a:xfrm>
            <a:off x="10238081" y="133786"/>
            <a:ext cx="1633457" cy="638946"/>
          </a:xfrm>
          <a:prstGeom prst="rect">
            <a:avLst/>
          </a:prstGeom>
        </p:spPr>
      </p:pic>
    </p:spTree>
    <p:extLst>
      <p:ext uri="{BB962C8B-B14F-4D97-AF65-F5344CB8AC3E}">
        <p14:creationId xmlns:p14="http://schemas.microsoft.com/office/powerpoint/2010/main" val="181694577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Distribution</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smtClean="0"/>
              <a:t>Earlier </a:t>
            </a:r>
            <a:r>
              <a:rPr lang="en-US" dirty="0"/>
              <a:t>in this tutorial we have worked with very small amounts of data in our examples, just to understand the different concepts.</a:t>
            </a:r>
          </a:p>
          <a:p>
            <a:endParaRPr lang="en-US" dirty="0"/>
          </a:p>
          <a:p>
            <a:r>
              <a:rPr lang="en-US" dirty="0"/>
              <a:t>In the real world, the data sets are much bigger, but it can be difficult to gather real world data, at least at an early stage of a project.</a:t>
            </a:r>
          </a:p>
          <a:p>
            <a:endParaRPr lang="en-US" dirty="0"/>
          </a:p>
          <a:p>
            <a:r>
              <a:rPr lang="en-US" dirty="0"/>
              <a:t>How Can we Get Big Data Sets?</a:t>
            </a:r>
          </a:p>
          <a:p>
            <a:r>
              <a:rPr lang="en-US" dirty="0"/>
              <a:t>To create big data sets for testing, we use the Python module </a:t>
            </a:r>
            <a:r>
              <a:rPr lang="en-US" dirty="0" err="1"/>
              <a:t>NumPy</a:t>
            </a:r>
            <a:r>
              <a:rPr lang="en-US" dirty="0"/>
              <a:t>, which comes with a number of methods to create random data sets, of any size.</a:t>
            </a:r>
          </a:p>
        </p:txBody>
      </p:sp>
      <p:pic>
        <p:nvPicPr>
          <p:cNvPr id="4" name="Picture 3"/>
          <p:cNvPicPr>
            <a:picLocks noChangeAspect="1"/>
          </p:cNvPicPr>
          <p:nvPr/>
        </p:nvPicPr>
        <p:blipFill>
          <a:blip r:embed="rId2"/>
          <a:stretch>
            <a:fillRect/>
          </a:stretch>
        </p:blipFill>
        <p:spPr>
          <a:xfrm>
            <a:off x="10238081" y="133786"/>
            <a:ext cx="1633457" cy="638946"/>
          </a:xfrm>
          <a:prstGeom prst="rect">
            <a:avLst/>
          </a:prstGeom>
        </p:spPr>
      </p:pic>
    </p:spTree>
    <p:extLst>
      <p:ext uri="{BB962C8B-B14F-4D97-AF65-F5344CB8AC3E}">
        <p14:creationId xmlns:p14="http://schemas.microsoft.com/office/powerpoint/2010/main" val="3493631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Example</a:t>
            </a:r>
          </a:p>
          <a:p>
            <a:r>
              <a:rPr lang="en-US" dirty="0"/>
              <a:t>Create an array containing 250 random floats between 0 and 5:</a:t>
            </a:r>
          </a:p>
          <a:p>
            <a:endParaRPr lang="en-US" dirty="0"/>
          </a:p>
          <a:p>
            <a:r>
              <a:rPr lang="en-US" dirty="0"/>
              <a:t>import </a:t>
            </a:r>
            <a:r>
              <a:rPr lang="en-US" dirty="0" err="1"/>
              <a:t>numpy</a:t>
            </a:r>
            <a:endParaRPr lang="en-US" dirty="0"/>
          </a:p>
          <a:p>
            <a:endParaRPr lang="en-US" dirty="0"/>
          </a:p>
          <a:p>
            <a:r>
              <a:rPr lang="en-US" dirty="0"/>
              <a:t>x = </a:t>
            </a:r>
            <a:r>
              <a:rPr lang="en-US" dirty="0" err="1"/>
              <a:t>numpy.random.uniform</a:t>
            </a:r>
            <a:r>
              <a:rPr lang="en-US" dirty="0"/>
              <a:t>(0.0, 5.0, 250)</a:t>
            </a:r>
          </a:p>
          <a:p>
            <a:endParaRPr lang="en-US" dirty="0"/>
          </a:p>
          <a:p>
            <a:r>
              <a:rPr lang="en-US" dirty="0"/>
              <a:t>print(x)</a:t>
            </a:r>
          </a:p>
          <a:p>
            <a:endParaRPr lang="en-US" dirty="0"/>
          </a:p>
        </p:txBody>
      </p:sp>
      <p:pic>
        <p:nvPicPr>
          <p:cNvPr id="4" name="Picture 3"/>
          <p:cNvPicPr>
            <a:picLocks noChangeAspect="1"/>
          </p:cNvPicPr>
          <p:nvPr/>
        </p:nvPicPr>
        <p:blipFill>
          <a:blip r:embed="rId2"/>
          <a:stretch>
            <a:fillRect/>
          </a:stretch>
        </p:blipFill>
        <p:spPr>
          <a:xfrm>
            <a:off x="10238081" y="133786"/>
            <a:ext cx="1633457" cy="638946"/>
          </a:xfrm>
          <a:prstGeom prst="rect">
            <a:avLst/>
          </a:prstGeom>
        </p:spPr>
      </p:pic>
    </p:spTree>
    <p:extLst>
      <p:ext uri="{BB962C8B-B14F-4D97-AF65-F5344CB8AC3E}">
        <p14:creationId xmlns:p14="http://schemas.microsoft.com/office/powerpoint/2010/main" val="17224808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Histogram</a:t>
            </a:r>
          </a:p>
          <a:p>
            <a:r>
              <a:rPr lang="en-US" dirty="0"/>
              <a:t>To visualize the data set we can draw a histogram with the data we collected.</a:t>
            </a:r>
          </a:p>
          <a:p>
            <a:endParaRPr lang="en-US" dirty="0"/>
          </a:p>
          <a:p>
            <a:r>
              <a:rPr lang="en-US" dirty="0"/>
              <a:t>We will use the Python module </a:t>
            </a:r>
            <a:r>
              <a:rPr lang="en-US" dirty="0" err="1"/>
              <a:t>Matplotlib</a:t>
            </a:r>
            <a:r>
              <a:rPr lang="en-US" dirty="0"/>
              <a:t> to draw a histogram</a:t>
            </a:r>
          </a:p>
        </p:txBody>
      </p:sp>
      <p:pic>
        <p:nvPicPr>
          <p:cNvPr id="4" name="Picture 3"/>
          <p:cNvPicPr>
            <a:picLocks noChangeAspect="1"/>
          </p:cNvPicPr>
          <p:nvPr/>
        </p:nvPicPr>
        <p:blipFill>
          <a:blip r:embed="rId2"/>
          <a:stretch>
            <a:fillRect/>
          </a:stretch>
        </p:blipFill>
        <p:spPr>
          <a:xfrm>
            <a:off x="10238081" y="133786"/>
            <a:ext cx="1633457" cy="638946"/>
          </a:xfrm>
          <a:prstGeom prst="rect">
            <a:avLst/>
          </a:prstGeom>
        </p:spPr>
      </p:pic>
    </p:spTree>
    <p:extLst>
      <p:ext uri="{BB962C8B-B14F-4D97-AF65-F5344CB8AC3E}">
        <p14:creationId xmlns:p14="http://schemas.microsoft.com/office/powerpoint/2010/main" val="39424118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Draw a histogram:</a:t>
            </a:r>
          </a:p>
          <a:p>
            <a:endParaRPr lang="en-US" dirty="0"/>
          </a:p>
          <a:p>
            <a:r>
              <a:rPr lang="en-US" dirty="0"/>
              <a:t>import </a:t>
            </a:r>
            <a:r>
              <a:rPr lang="en-US" dirty="0" err="1"/>
              <a:t>numpy</a:t>
            </a:r>
            <a:endParaRPr lang="en-US" dirty="0"/>
          </a:p>
          <a:p>
            <a:r>
              <a:rPr lang="en-US" dirty="0"/>
              <a:t>import </a:t>
            </a:r>
            <a:r>
              <a:rPr lang="en-US" dirty="0" err="1"/>
              <a:t>matplotlib.pyplot</a:t>
            </a:r>
            <a:r>
              <a:rPr lang="en-US" dirty="0"/>
              <a:t> as </a:t>
            </a:r>
            <a:r>
              <a:rPr lang="en-US" dirty="0" err="1"/>
              <a:t>plt</a:t>
            </a:r>
            <a:endParaRPr lang="en-US" dirty="0"/>
          </a:p>
          <a:p>
            <a:endParaRPr lang="en-US" dirty="0"/>
          </a:p>
          <a:p>
            <a:r>
              <a:rPr lang="en-US" dirty="0"/>
              <a:t>x = </a:t>
            </a:r>
            <a:r>
              <a:rPr lang="en-US" dirty="0" err="1"/>
              <a:t>numpy.random.uniform</a:t>
            </a:r>
            <a:r>
              <a:rPr lang="en-US" dirty="0"/>
              <a:t>(0.0, 5.0, 250)</a:t>
            </a:r>
          </a:p>
          <a:p>
            <a:endParaRPr lang="en-US" dirty="0"/>
          </a:p>
          <a:p>
            <a:r>
              <a:rPr lang="en-US" dirty="0" err="1"/>
              <a:t>plt.hist</a:t>
            </a:r>
            <a:r>
              <a:rPr lang="en-US" dirty="0"/>
              <a:t>(x, 5)</a:t>
            </a:r>
          </a:p>
          <a:p>
            <a:r>
              <a:rPr lang="en-US" dirty="0" err="1"/>
              <a:t>plt.show</a:t>
            </a:r>
            <a:r>
              <a:rPr lang="en-US" dirty="0"/>
              <a:t>()</a:t>
            </a:r>
          </a:p>
        </p:txBody>
      </p:sp>
      <p:pic>
        <p:nvPicPr>
          <p:cNvPr id="4" name="Picture 3"/>
          <p:cNvPicPr>
            <a:picLocks noChangeAspect="1"/>
          </p:cNvPicPr>
          <p:nvPr/>
        </p:nvPicPr>
        <p:blipFill>
          <a:blip r:embed="rId2"/>
          <a:stretch>
            <a:fillRect/>
          </a:stretch>
        </p:blipFill>
        <p:spPr>
          <a:xfrm>
            <a:off x="10238081" y="133786"/>
            <a:ext cx="1633457" cy="638946"/>
          </a:xfrm>
          <a:prstGeom prst="rect">
            <a:avLst/>
          </a:prstGeom>
        </p:spPr>
      </p:pic>
    </p:spTree>
    <p:extLst>
      <p:ext uri="{BB962C8B-B14F-4D97-AF65-F5344CB8AC3E}">
        <p14:creationId xmlns:p14="http://schemas.microsoft.com/office/powerpoint/2010/main" val="6914421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3195108" y="1825625"/>
            <a:ext cx="5801784" cy="4351338"/>
          </a:xfrm>
          <a:prstGeom prst="rect">
            <a:avLst/>
          </a:prstGeom>
        </p:spPr>
      </p:pic>
      <p:pic>
        <p:nvPicPr>
          <p:cNvPr id="5" name="Picture 4"/>
          <p:cNvPicPr>
            <a:picLocks noChangeAspect="1"/>
          </p:cNvPicPr>
          <p:nvPr/>
        </p:nvPicPr>
        <p:blipFill>
          <a:blip r:embed="rId3"/>
          <a:stretch>
            <a:fillRect/>
          </a:stretch>
        </p:blipFill>
        <p:spPr>
          <a:xfrm>
            <a:off x="10238081" y="133786"/>
            <a:ext cx="1633457" cy="638946"/>
          </a:xfrm>
          <a:prstGeom prst="rect">
            <a:avLst/>
          </a:prstGeom>
        </p:spPr>
      </p:pic>
    </p:spTree>
    <p:extLst>
      <p:ext uri="{BB962C8B-B14F-4D97-AF65-F5344CB8AC3E}">
        <p14:creationId xmlns:p14="http://schemas.microsoft.com/office/powerpoint/2010/main" val="9287341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47500" lnSpcReduction="20000"/>
          </a:bodyPr>
          <a:lstStyle/>
          <a:p>
            <a:r>
              <a:rPr lang="en-US" dirty="0"/>
              <a:t>Histogram Explained</a:t>
            </a:r>
          </a:p>
          <a:p>
            <a:r>
              <a:rPr lang="en-US" dirty="0"/>
              <a:t>We use the array from the example above to draw a histogram with 5 bars.</a:t>
            </a:r>
          </a:p>
          <a:p>
            <a:endParaRPr lang="en-US" dirty="0"/>
          </a:p>
          <a:p>
            <a:r>
              <a:rPr lang="en-US" dirty="0"/>
              <a:t>The first bar represents how many values in the array are between 0 and 1.</a:t>
            </a:r>
          </a:p>
          <a:p>
            <a:endParaRPr lang="en-US" dirty="0"/>
          </a:p>
          <a:p>
            <a:r>
              <a:rPr lang="en-US" dirty="0"/>
              <a:t>The second bar represents how many values are between 1 and 2.</a:t>
            </a:r>
          </a:p>
          <a:p>
            <a:endParaRPr lang="en-US" dirty="0"/>
          </a:p>
          <a:p>
            <a:r>
              <a:rPr lang="en-US" dirty="0"/>
              <a:t>Etc.</a:t>
            </a:r>
          </a:p>
          <a:p>
            <a:endParaRPr lang="en-US" dirty="0"/>
          </a:p>
          <a:p>
            <a:r>
              <a:rPr lang="en-US" dirty="0"/>
              <a:t>Which gives us this result:</a:t>
            </a:r>
          </a:p>
          <a:p>
            <a:endParaRPr lang="en-US" dirty="0"/>
          </a:p>
          <a:p>
            <a:r>
              <a:rPr lang="en-US" dirty="0"/>
              <a:t>52 values are between 0 and 1</a:t>
            </a:r>
          </a:p>
          <a:p>
            <a:r>
              <a:rPr lang="en-US" dirty="0"/>
              <a:t>48 values are between 1 and 2</a:t>
            </a:r>
          </a:p>
          <a:p>
            <a:r>
              <a:rPr lang="en-US" dirty="0"/>
              <a:t>49 values are between 2 and 3</a:t>
            </a:r>
          </a:p>
          <a:p>
            <a:r>
              <a:rPr lang="en-US" dirty="0"/>
              <a:t>51 values are between 3 and 4</a:t>
            </a:r>
          </a:p>
          <a:p>
            <a:r>
              <a:rPr lang="en-US" dirty="0"/>
              <a:t>50 values are between 4 and 5</a:t>
            </a:r>
          </a:p>
        </p:txBody>
      </p:sp>
      <p:pic>
        <p:nvPicPr>
          <p:cNvPr id="4" name="Picture 3"/>
          <p:cNvPicPr>
            <a:picLocks noChangeAspect="1"/>
          </p:cNvPicPr>
          <p:nvPr/>
        </p:nvPicPr>
        <p:blipFill>
          <a:blip r:embed="rId2"/>
          <a:stretch>
            <a:fillRect/>
          </a:stretch>
        </p:blipFill>
        <p:spPr>
          <a:xfrm>
            <a:off x="10238081" y="133786"/>
            <a:ext cx="1633457" cy="638946"/>
          </a:xfrm>
          <a:prstGeom prst="rect">
            <a:avLst/>
          </a:prstGeom>
        </p:spPr>
      </p:pic>
    </p:spTree>
    <p:extLst>
      <p:ext uri="{BB962C8B-B14F-4D97-AF65-F5344CB8AC3E}">
        <p14:creationId xmlns:p14="http://schemas.microsoft.com/office/powerpoint/2010/main" val="16643615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dirty="0"/>
              <a:t>Big Data Distributions</a:t>
            </a:r>
          </a:p>
          <a:p>
            <a:r>
              <a:rPr lang="en-US" dirty="0"/>
              <a:t>An array containing 250 values is not considered very big, but now you know how to create a random set of values, and by changing the parameters, you can create the data set as big as you want.</a:t>
            </a:r>
          </a:p>
          <a:p>
            <a:endParaRPr lang="en-US" dirty="0"/>
          </a:p>
          <a:p>
            <a:r>
              <a:rPr lang="en-US" dirty="0"/>
              <a:t>Example</a:t>
            </a:r>
          </a:p>
          <a:p>
            <a:r>
              <a:rPr lang="en-US" dirty="0"/>
              <a:t>Create an array with 100000 random numbers, and display them using a histogram with 100 bars:</a:t>
            </a:r>
          </a:p>
          <a:p>
            <a:endParaRPr lang="en-US" dirty="0"/>
          </a:p>
          <a:p>
            <a:r>
              <a:rPr lang="en-US" dirty="0"/>
              <a:t>import </a:t>
            </a:r>
            <a:r>
              <a:rPr lang="en-US" dirty="0" err="1"/>
              <a:t>numpy</a:t>
            </a:r>
            <a:endParaRPr lang="en-US" dirty="0"/>
          </a:p>
          <a:p>
            <a:r>
              <a:rPr lang="en-US" dirty="0"/>
              <a:t>import </a:t>
            </a:r>
            <a:r>
              <a:rPr lang="en-US" dirty="0" err="1"/>
              <a:t>matplotlib.pyplot</a:t>
            </a:r>
            <a:r>
              <a:rPr lang="en-US" dirty="0"/>
              <a:t> as </a:t>
            </a:r>
            <a:r>
              <a:rPr lang="en-US" dirty="0" err="1"/>
              <a:t>plt</a:t>
            </a:r>
            <a:endParaRPr lang="en-US" dirty="0"/>
          </a:p>
          <a:p>
            <a:endParaRPr lang="en-US" dirty="0"/>
          </a:p>
          <a:p>
            <a:r>
              <a:rPr lang="en-US" dirty="0"/>
              <a:t>x = </a:t>
            </a:r>
            <a:r>
              <a:rPr lang="en-US" dirty="0" err="1"/>
              <a:t>numpy.random.uniform</a:t>
            </a:r>
            <a:r>
              <a:rPr lang="en-US" dirty="0"/>
              <a:t>(0.0, 5.0, 100000)</a:t>
            </a:r>
          </a:p>
          <a:p>
            <a:endParaRPr lang="en-US" dirty="0"/>
          </a:p>
          <a:p>
            <a:r>
              <a:rPr lang="en-US" dirty="0" err="1"/>
              <a:t>plt.hist</a:t>
            </a:r>
            <a:r>
              <a:rPr lang="en-US" dirty="0"/>
              <a:t>(x, 100)</a:t>
            </a:r>
          </a:p>
          <a:p>
            <a:r>
              <a:rPr lang="en-US" dirty="0" err="1"/>
              <a:t>plt.show</a:t>
            </a:r>
            <a:r>
              <a:rPr lang="en-US" dirty="0"/>
              <a:t>()</a:t>
            </a:r>
          </a:p>
        </p:txBody>
      </p:sp>
      <p:pic>
        <p:nvPicPr>
          <p:cNvPr id="4" name="Picture 3"/>
          <p:cNvPicPr>
            <a:picLocks noChangeAspect="1"/>
          </p:cNvPicPr>
          <p:nvPr/>
        </p:nvPicPr>
        <p:blipFill>
          <a:blip r:embed="rId2"/>
          <a:stretch>
            <a:fillRect/>
          </a:stretch>
        </p:blipFill>
        <p:spPr>
          <a:xfrm>
            <a:off x="10238081" y="133786"/>
            <a:ext cx="1633457" cy="638946"/>
          </a:xfrm>
          <a:prstGeom prst="rect">
            <a:avLst/>
          </a:prstGeom>
        </p:spPr>
      </p:pic>
    </p:spTree>
    <p:extLst>
      <p:ext uri="{BB962C8B-B14F-4D97-AF65-F5344CB8AC3E}">
        <p14:creationId xmlns:p14="http://schemas.microsoft.com/office/powerpoint/2010/main" val="15868286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SciPy</a:t>
            </a:r>
            <a:r>
              <a:rPr lang="en-US" dirty="0"/>
              <a:t> Introduction</a:t>
            </a:r>
          </a:p>
        </p:txBody>
      </p:sp>
      <p:sp>
        <p:nvSpPr>
          <p:cNvPr id="3" name="Content Placeholder 2"/>
          <p:cNvSpPr>
            <a:spLocks noGrp="1"/>
          </p:cNvSpPr>
          <p:nvPr>
            <p:ph idx="1"/>
          </p:nvPr>
        </p:nvSpPr>
        <p:spPr/>
        <p:txBody>
          <a:bodyPr/>
          <a:lstStyle/>
          <a:p>
            <a:r>
              <a:rPr lang="en-US" dirty="0"/>
              <a:t>What is </a:t>
            </a:r>
            <a:r>
              <a:rPr lang="en-US" dirty="0" err="1"/>
              <a:t>SciPy</a:t>
            </a:r>
            <a:r>
              <a:rPr lang="en-US" dirty="0"/>
              <a:t>?</a:t>
            </a:r>
          </a:p>
          <a:p>
            <a:r>
              <a:rPr lang="en-US" dirty="0" err="1"/>
              <a:t>SciPy</a:t>
            </a:r>
            <a:r>
              <a:rPr lang="en-US" dirty="0"/>
              <a:t> is a scientific computation library that uses </a:t>
            </a:r>
            <a:r>
              <a:rPr lang="en-US" dirty="0" err="1">
                <a:hlinkClick r:id="rId2"/>
              </a:rPr>
              <a:t>NumPy</a:t>
            </a:r>
            <a:r>
              <a:rPr lang="en-US" dirty="0"/>
              <a:t> underneath.</a:t>
            </a:r>
          </a:p>
          <a:p>
            <a:r>
              <a:rPr lang="en-US" dirty="0" err="1"/>
              <a:t>SciPy</a:t>
            </a:r>
            <a:r>
              <a:rPr lang="en-US" dirty="0"/>
              <a:t> stands for Scientific Python.</a:t>
            </a:r>
          </a:p>
          <a:p>
            <a:r>
              <a:rPr lang="en-US" dirty="0"/>
              <a:t>It provides more utility functions for optimization, stats and signal processing.</a:t>
            </a:r>
          </a:p>
          <a:p>
            <a:r>
              <a:rPr lang="en-US" dirty="0"/>
              <a:t>Like </a:t>
            </a:r>
            <a:r>
              <a:rPr lang="en-US" dirty="0" err="1"/>
              <a:t>NumPy</a:t>
            </a:r>
            <a:r>
              <a:rPr lang="en-US" dirty="0"/>
              <a:t>, </a:t>
            </a:r>
            <a:r>
              <a:rPr lang="en-US" dirty="0" err="1"/>
              <a:t>SciPy</a:t>
            </a:r>
            <a:r>
              <a:rPr lang="en-US" dirty="0"/>
              <a:t> is open source so we can use it freely.</a:t>
            </a:r>
          </a:p>
          <a:p>
            <a:r>
              <a:rPr lang="en-US" dirty="0" err="1"/>
              <a:t>SciPy</a:t>
            </a:r>
            <a:r>
              <a:rPr lang="en-US" dirty="0"/>
              <a:t> was created by </a:t>
            </a:r>
            <a:r>
              <a:rPr lang="en-US" dirty="0" err="1"/>
              <a:t>NumPy's</a:t>
            </a:r>
            <a:r>
              <a:rPr lang="en-US" dirty="0"/>
              <a:t> creator Travis </a:t>
            </a:r>
            <a:r>
              <a:rPr lang="en-US" dirty="0" err="1"/>
              <a:t>Olliphant</a:t>
            </a:r>
            <a:r>
              <a:rPr lang="en-US" dirty="0"/>
              <a:t>.</a:t>
            </a:r>
          </a:p>
          <a:p>
            <a:r>
              <a:rPr lang="en-US" dirty="0"/>
              <a:t/>
            </a:r>
            <a:br>
              <a:rPr lang="en-US" dirty="0"/>
            </a:br>
            <a:endParaRPr lang="en-US" dirty="0"/>
          </a:p>
        </p:txBody>
      </p:sp>
    </p:spTree>
    <p:extLst>
      <p:ext uri="{BB962C8B-B14F-4D97-AF65-F5344CB8AC3E}">
        <p14:creationId xmlns:p14="http://schemas.microsoft.com/office/powerpoint/2010/main" val="41383132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Why Use </a:t>
            </a:r>
            <a:r>
              <a:rPr lang="en-US" dirty="0" err="1"/>
              <a:t>SciPy</a:t>
            </a:r>
            <a:r>
              <a:rPr lang="en-US" dirty="0"/>
              <a:t>?</a:t>
            </a:r>
          </a:p>
          <a:p>
            <a:r>
              <a:rPr lang="en-US" dirty="0"/>
              <a:t>If </a:t>
            </a:r>
            <a:r>
              <a:rPr lang="en-US" dirty="0" err="1"/>
              <a:t>SciPy</a:t>
            </a:r>
            <a:r>
              <a:rPr lang="en-US" dirty="0"/>
              <a:t> uses </a:t>
            </a:r>
            <a:r>
              <a:rPr lang="en-US" dirty="0" err="1"/>
              <a:t>NumPy</a:t>
            </a:r>
            <a:r>
              <a:rPr lang="en-US" dirty="0"/>
              <a:t> underneath, why can we not just use </a:t>
            </a:r>
            <a:r>
              <a:rPr lang="en-US" dirty="0" err="1"/>
              <a:t>NumPy</a:t>
            </a:r>
            <a:r>
              <a:rPr lang="en-US" dirty="0"/>
              <a:t>?</a:t>
            </a:r>
          </a:p>
          <a:p>
            <a:endParaRPr lang="en-US" dirty="0"/>
          </a:p>
          <a:p>
            <a:r>
              <a:rPr lang="en-US" dirty="0" err="1"/>
              <a:t>SciPy</a:t>
            </a:r>
            <a:r>
              <a:rPr lang="en-US" dirty="0"/>
              <a:t> has optimized and added functions that are frequently used in </a:t>
            </a:r>
            <a:r>
              <a:rPr lang="en-US" dirty="0" err="1"/>
              <a:t>NumPy</a:t>
            </a:r>
            <a:r>
              <a:rPr lang="en-US" dirty="0"/>
              <a:t> and Data Science.</a:t>
            </a:r>
          </a:p>
          <a:p>
            <a:endParaRPr lang="en-US" dirty="0"/>
          </a:p>
          <a:p>
            <a:r>
              <a:rPr lang="en-US" dirty="0"/>
              <a:t>Which Language is </a:t>
            </a:r>
            <a:r>
              <a:rPr lang="en-US" dirty="0" err="1"/>
              <a:t>SciPy</a:t>
            </a:r>
            <a:r>
              <a:rPr lang="en-US" dirty="0"/>
              <a:t> Written in?</a:t>
            </a:r>
          </a:p>
          <a:p>
            <a:r>
              <a:rPr lang="en-US" dirty="0" err="1"/>
              <a:t>SciPy</a:t>
            </a:r>
            <a:r>
              <a:rPr lang="en-US" dirty="0"/>
              <a:t> is predominantly written in Python, but a few segments are written in C.</a:t>
            </a:r>
          </a:p>
        </p:txBody>
      </p:sp>
    </p:spTree>
    <p:extLst>
      <p:ext uri="{BB962C8B-B14F-4D97-AF65-F5344CB8AC3E}">
        <p14:creationId xmlns:p14="http://schemas.microsoft.com/office/powerpoint/2010/main" val="30920019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Installation of </a:t>
            </a:r>
            <a:r>
              <a:rPr lang="en-US" dirty="0" err="1"/>
              <a:t>SciPy</a:t>
            </a:r>
            <a:endParaRPr lang="en-US" dirty="0"/>
          </a:p>
          <a:p>
            <a:r>
              <a:rPr lang="en-US" dirty="0"/>
              <a:t>If you have Python and PIP already installed on a system, then installation of </a:t>
            </a:r>
            <a:r>
              <a:rPr lang="en-US" dirty="0" err="1"/>
              <a:t>SciPy</a:t>
            </a:r>
            <a:r>
              <a:rPr lang="en-US" dirty="0"/>
              <a:t> is very easy.</a:t>
            </a:r>
          </a:p>
          <a:p>
            <a:endParaRPr lang="en-US" dirty="0"/>
          </a:p>
          <a:p>
            <a:r>
              <a:rPr lang="en-US" dirty="0"/>
              <a:t>Install it using this command:</a:t>
            </a:r>
          </a:p>
          <a:p>
            <a:endParaRPr lang="en-US" dirty="0"/>
          </a:p>
          <a:p>
            <a:r>
              <a:rPr lang="en-US" dirty="0"/>
              <a:t>C:\Users\Your Name&gt;pip install </a:t>
            </a:r>
            <a:r>
              <a:rPr lang="en-US" dirty="0" err="1"/>
              <a:t>scipy</a:t>
            </a:r>
            <a:endParaRPr lang="en-US" dirty="0"/>
          </a:p>
          <a:p>
            <a:r>
              <a:rPr lang="en-US" dirty="0"/>
              <a:t>If this command fails, then use a Python distribution that already has </a:t>
            </a:r>
            <a:r>
              <a:rPr lang="en-US" dirty="0" err="1"/>
              <a:t>SciPy</a:t>
            </a:r>
            <a:r>
              <a:rPr lang="en-US" dirty="0"/>
              <a:t> installed like, Anaconda, </a:t>
            </a:r>
            <a:r>
              <a:rPr lang="en-US" dirty="0" err="1"/>
              <a:t>Spyder</a:t>
            </a:r>
            <a:r>
              <a:rPr lang="en-US" dirty="0"/>
              <a:t> etc.</a:t>
            </a:r>
          </a:p>
        </p:txBody>
      </p:sp>
    </p:spTree>
    <p:extLst>
      <p:ext uri="{BB962C8B-B14F-4D97-AF65-F5344CB8AC3E}">
        <p14:creationId xmlns:p14="http://schemas.microsoft.com/office/powerpoint/2010/main" val="42552446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import </a:t>
            </a:r>
            <a:r>
              <a:rPr lang="en-US" dirty="0" err="1"/>
              <a:t>SciPy</a:t>
            </a:r>
            <a:endParaRPr lang="en-US" dirty="0"/>
          </a:p>
          <a:p>
            <a:r>
              <a:rPr lang="en-US" dirty="0"/>
              <a:t>Once </a:t>
            </a:r>
            <a:r>
              <a:rPr lang="en-US" dirty="0" err="1"/>
              <a:t>SciPy</a:t>
            </a:r>
            <a:r>
              <a:rPr lang="en-US" dirty="0"/>
              <a:t> is installed, import the </a:t>
            </a:r>
            <a:r>
              <a:rPr lang="en-US" dirty="0" err="1"/>
              <a:t>SciPy</a:t>
            </a:r>
            <a:r>
              <a:rPr lang="en-US" dirty="0"/>
              <a:t> module(s) you want to use in your applications by adding the from </a:t>
            </a:r>
            <a:r>
              <a:rPr lang="en-US" dirty="0" err="1"/>
              <a:t>scipy</a:t>
            </a:r>
            <a:r>
              <a:rPr lang="en-US" dirty="0"/>
              <a:t> import module statement:</a:t>
            </a:r>
          </a:p>
          <a:p>
            <a:endParaRPr lang="en-US" dirty="0"/>
          </a:p>
          <a:p>
            <a:r>
              <a:rPr lang="en-US" dirty="0"/>
              <a:t>from </a:t>
            </a:r>
            <a:r>
              <a:rPr lang="en-US" dirty="0" err="1"/>
              <a:t>scipy</a:t>
            </a:r>
            <a:r>
              <a:rPr lang="en-US" dirty="0"/>
              <a:t> import constants</a:t>
            </a:r>
          </a:p>
          <a:p>
            <a:r>
              <a:rPr lang="en-US" dirty="0"/>
              <a:t>Now we have imported the constants module from </a:t>
            </a:r>
            <a:r>
              <a:rPr lang="en-US" dirty="0" err="1"/>
              <a:t>SciPy</a:t>
            </a:r>
            <a:r>
              <a:rPr lang="en-US" dirty="0"/>
              <a:t>, and the application is ready to use it:</a:t>
            </a:r>
          </a:p>
        </p:txBody>
      </p:sp>
    </p:spTree>
    <p:extLst>
      <p:ext uri="{BB962C8B-B14F-4D97-AF65-F5344CB8AC3E}">
        <p14:creationId xmlns:p14="http://schemas.microsoft.com/office/powerpoint/2010/main" val="26392324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Example</a:t>
            </a:r>
          </a:p>
          <a:p>
            <a:r>
              <a:rPr lang="en-US" dirty="0"/>
              <a:t>How many cubic meters are in one liter:</a:t>
            </a:r>
          </a:p>
          <a:p>
            <a:endParaRPr lang="en-US" dirty="0"/>
          </a:p>
          <a:p>
            <a:r>
              <a:rPr lang="en-US" dirty="0"/>
              <a:t>from </a:t>
            </a:r>
            <a:r>
              <a:rPr lang="en-US" dirty="0" err="1"/>
              <a:t>scipy</a:t>
            </a:r>
            <a:r>
              <a:rPr lang="en-US" dirty="0"/>
              <a:t> import constants</a:t>
            </a:r>
          </a:p>
          <a:p>
            <a:endParaRPr lang="en-US" dirty="0"/>
          </a:p>
          <a:p>
            <a:r>
              <a:rPr lang="en-US" dirty="0"/>
              <a:t>print(</a:t>
            </a:r>
            <a:r>
              <a:rPr lang="en-US" dirty="0" err="1"/>
              <a:t>constants.liter</a:t>
            </a:r>
            <a:r>
              <a:rPr lang="en-US" dirty="0"/>
              <a:t>)</a:t>
            </a:r>
          </a:p>
        </p:txBody>
      </p:sp>
    </p:spTree>
    <p:extLst>
      <p:ext uri="{BB962C8B-B14F-4D97-AF65-F5344CB8AC3E}">
        <p14:creationId xmlns:p14="http://schemas.microsoft.com/office/powerpoint/2010/main" val="3637241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Checking </a:t>
            </a:r>
            <a:r>
              <a:rPr lang="en-US" dirty="0" err="1"/>
              <a:t>SciPy</a:t>
            </a:r>
            <a:r>
              <a:rPr lang="en-US" dirty="0"/>
              <a:t> Version</a:t>
            </a:r>
          </a:p>
          <a:p>
            <a:r>
              <a:rPr lang="en-US" dirty="0"/>
              <a:t>The version string is stored under the __version__ attribute.</a:t>
            </a:r>
          </a:p>
          <a:p>
            <a:endParaRPr lang="en-US" dirty="0"/>
          </a:p>
          <a:p>
            <a:r>
              <a:rPr lang="en-US" dirty="0"/>
              <a:t>Example</a:t>
            </a:r>
          </a:p>
          <a:p>
            <a:r>
              <a:rPr lang="en-US" dirty="0"/>
              <a:t>import </a:t>
            </a:r>
            <a:r>
              <a:rPr lang="en-US" dirty="0" err="1"/>
              <a:t>scipy</a:t>
            </a:r>
            <a:endParaRPr lang="en-US" dirty="0"/>
          </a:p>
          <a:p>
            <a:endParaRPr lang="en-US" dirty="0"/>
          </a:p>
          <a:p>
            <a:r>
              <a:rPr lang="en-US" dirty="0"/>
              <a:t>print(</a:t>
            </a:r>
            <a:r>
              <a:rPr lang="en-US" dirty="0" err="1"/>
              <a:t>scipy</a:t>
            </a:r>
            <a:r>
              <a:rPr lang="en-US" dirty="0"/>
              <a:t>.__version__)</a:t>
            </a:r>
          </a:p>
        </p:txBody>
      </p:sp>
    </p:spTree>
    <p:extLst>
      <p:ext uri="{BB962C8B-B14F-4D97-AF65-F5344CB8AC3E}">
        <p14:creationId xmlns:p14="http://schemas.microsoft.com/office/powerpoint/2010/main" val="9359099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SciPy</a:t>
            </a:r>
            <a:r>
              <a:rPr lang="en-US" dirty="0"/>
              <a:t> Constants</a:t>
            </a:r>
          </a:p>
        </p:txBody>
      </p:sp>
      <p:sp>
        <p:nvSpPr>
          <p:cNvPr id="3" name="Content Placeholder 2"/>
          <p:cNvSpPr>
            <a:spLocks noGrp="1"/>
          </p:cNvSpPr>
          <p:nvPr>
            <p:ph idx="1"/>
          </p:nvPr>
        </p:nvSpPr>
        <p:spPr/>
        <p:txBody>
          <a:bodyPr>
            <a:normAutofit/>
          </a:bodyPr>
          <a:lstStyle/>
          <a:p>
            <a:r>
              <a:rPr lang="en-US" dirty="0"/>
              <a:t>Constants in </a:t>
            </a:r>
            <a:r>
              <a:rPr lang="en-US" dirty="0" err="1"/>
              <a:t>SciPy</a:t>
            </a:r>
            <a:endParaRPr lang="en-US" dirty="0"/>
          </a:p>
          <a:p>
            <a:r>
              <a:rPr lang="en-US" dirty="0"/>
              <a:t>As </a:t>
            </a:r>
            <a:r>
              <a:rPr lang="en-US" dirty="0" err="1"/>
              <a:t>SciPy</a:t>
            </a:r>
            <a:r>
              <a:rPr lang="en-US" dirty="0"/>
              <a:t> is more focused on scientific implementations, it provides many built-in scientific constants.</a:t>
            </a:r>
          </a:p>
          <a:p>
            <a:endParaRPr lang="en-US" dirty="0"/>
          </a:p>
          <a:p>
            <a:r>
              <a:rPr lang="en-US" dirty="0"/>
              <a:t>These constants can be helpful when you are working with Data Science.</a:t>
            </a:r>
          </a:p>
          <a:p>
            <a:endParaRPr lang="en-US" dirty="0"/>
          </a:p>
          <a:p>
            <a:r>
              <a:rPr lang="en-US" dirty="0"/>
              <a:t>PI is an example of a scientific constant.</a:t>
            </a:r>
          </a:p>
          <a:p>
            <a:endParaRPr lang="en-US" dirty="0"/>
          </a:p>
        </p:txBody>
      </p:sp>
    </p:spTree>
    <p:extLst>
      <p:ext uri="{BB962C8B-B14F-4D97-AF65-F5344CB8AC3E}">
        <p14:creationId xmlns:p14="http://schemas.microsoft.com/office/powerpoint/2010/main" val="12711308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062" y="90152"/>
            <a:ext cx="11147738" cy="6086811"/>
          </a:xfrm>
        </p:spPr>
        <p:txBody>
          <a:bodyPr>
            <a:normAutofit fontScale="85000" lnSpcReduction="20000"/>
          </a:bodyPr>
          <a:lstStyle/>
          <a:p>
            <a:r>
              <a:rPr lang="en-US" dirty="0"/>
              <a:t>Example</a:t>
            </a:r>
          </a:p>
          <a:p>
            <a:r>
              <a:rPr lang="en-US" dirty="0"/>
              <a:t>Print the constant value of PI:</a:t>
            </a:r>
          </a:p>
          <a:p>
            <a:endParaRPr lang="en-US" dirty="0"/>
          </a:p>
          <a:p>
            <a:r>
              <a:rPr lang="en-US" dirty="0"/>
              <a:t>from </a:t>
            </a:r>
            <a:r>
              <a:rPr lang="en-US" dirty="0" err="1"/>
              <a:t>scipy</a:t>
            </a:r>
            <a:r>
              <a:rPr lang="en-US" dirty="0"/>
              <a:t> import constants</a:t>
            </a:r>
          </a:p>
          <a:p>
            <a:endParaRPr lang="en-US" dirty="0"/>
          </a:p>
          <a:p>
            <a:r>
              <a:rPr lang="en-US" dirty="0"/>
              <a:t>print(</a:t>
            </a:r>
            <a:r>
              <a:rPr lang="en-US" dirty="0" err="1"/>
              <a:t>constants.pi</a:t>
            </a:r>
            <a:r>
              <a:rPr lang="en-US" dirty="0"/>
              <a:t>)</a:t>
            </a:r>
          </a:p>
          <a:p>
            <a:r>
              <a:rPr lang="en-US" dirty="0"/>
              <a:t>Constant Units</a:t>
            </a:r>
          </a:p>
          <a:p>
            <a:r>
              <a:rPr lang="en-US" dirty="0"/>
              <a:t>A list of all units under the constants module can be seen using the </a:t>
            </a:r>
            <a:r>
              <a:rPr lang="en-US" dirty="0" err="1"/>
              <a:t>dir</a:t>
            </a:r>
            <a:r>
              <a:rPr lang="en-US" dirty="0"/>
              <a:t>() function.</a:t>
            </a:r>
          </a:p>
          <a:p>
            <a:endParaRPr lang="en-US" dirty="0"/>
          </a:p>
          <a:p>
            <a:r>
              <a:rPr lang="en-US" dirty="0"/>
              <a:t>Example</a:t>
            </a:r>
          </a:p>
          <a:p>
            <a:r>
              <a:rPr lang="en-US" dirty="0"/>
              <a:t>List all constants:</a:t>
            </a:r>
          </a:p>
          <a:p>
            <a:endParaRPr lang="en-US" dirty="0"/>
          </a:p>
          <a:p>
            <a:r>
              <a:rPr lang="en-US" dirty="0"/>
              <a:t>from </a:t>
            </a:r>
            <a:r>
              <a:rPr lang="en-US" dirty="0" err="1"/>
              <a:t>scipy</a:t>
            </a:r>
            <a:r>
              <a:rPr lang="en-US" dirty="0"/>
              <a:t> import constants</a:t>
            </a:r>
          </a:p>
          <a:p>
            <a:endParaRPr lang="en-US" dirty="0"/>
          </a:p>
          <a:p>
            <a:r>
              <a:rPr lang="en-US" dirty="0"/>
              <a:t>print(</a:t>
            </a:r>
            <a:r>
              <a:rPr lang="en-US" dirty="0" err="1"/>
              <a:t>dir</a:t>
            </a:r>
            <a:r>
              <a:rPr lang="en-US" dirty="0"/>
              <a:t>(constants))</a:t>
            </a:r>
          </a:p>
          <a:p>
            <a:endParaRPr lang="en-US" dirty="0"/>
          </a:p>
        </p:txBody>
      </p:sp>
    </p:spTree>
    <p:extLst>
      <p:ext uri="{BB962C8B-B14F-4D97-AF65-F5344CB8AC3E}">
        <p14:creationId xmlns:p14="http://schemas.microsoft.com/office/powerpoint/2010/main" val="42690688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Unit Categories</a:t>
            </a:r>
            <a:br>
              <a:rPr lang="en-US" dirty="0"/>
            </a:br>
            <a:endParaRPr lang="en-US" dirty="0"/>
          </a:p>
        </p:txBody>
      </p:sp>
      <p:sp>
        <p:nvSpPr>
          <p:cNvPr id="3" name="Content Placeholder 2"/>
          <p:cNvSpPr>
            <a:spLocks noGrp="1"/>
          </p:cNvSpPr>
          <p:nvPr>
            <p:ph idx="1"/>
          </p:nvPr>
        </p:nvSpPr>
        <p:spPr/>
        <p:txBody>
          <a:bodyPr>
            <a:normAutofit fontScale="55000" lnSpcReduction="20000"/>
          </a:bodyPr>
          <a:lstStyle/>
          <a:p>
            <a:r>
              <a:rPr lang="en-US" dirty="0" smtClean="0"/>
              <a:t>The </a:t>
            </a:r>
            <a:r>
              <a:rPr lang="en-US" dirty="0"/>
              <a:t>units are placed under these categories:</a:t>
            </a:r>
          </a:p>
          <a:p>
            <a:endParaRPr lang="en-US" dirty="0"/>
          </a:p>
          <a:p>
            <a:r>
              <a:rPr lang="en-US" dirty="0"/>
              <a:t>Metric</a:t>
            </a:r>
          </a:p>
          <a:p>
            <a:r>
              <a:rPr lang="en-US" dirty="0"/>
              <a:t>Binary</a:t>
            </a:r>
          </a:p>
          <a:p>
            <a:r>
              <a:rPr lang="en-US" dirty="0"/>
              <a:t>Mass</a:t>
            </a:r>
          </a:p>
          <a:p>
            <a:r>
              <a:rPr lang="en-US" dirty="0"/>
              <a:t>Angle</a:t>
            </a:r>
          </a:p>
          <a:p>
            <a:r>
              <a:rPr lang="en-US" dirty="0"/>
              <a:t>Time</a:t>
            </a:r>
          </a:p>
          <a:p>
            <a:r>
              <a:rPr lang="en-US" dirty="0"/>
              <a:t>Length</a:t>
            </a:r>
          </a:p>
          <a:p>
            <a:r>
              <a:rPr lang="en-US" dirty="0"/>
              <a:t>Pressure</a:t>
            </a:r>
          </a:p>
          <a:p>
            <a:r>
              <a:rPr lang="en-US" dirty="0"/>
              <a:t>Volume</a:t>
            </a:r>
          </a:p>
          <a:p>
            <a:r>
              <a:rPr lang="en-US" dirty="0"/>
              <a:t>Speed</a:t>
            </a:r>
          </a:p>
          <a:p>
            <a:r>
              <a:rPr lang="en-US" dirty="0"/>
              <a:t>Temperature</a:t>
            </a:r>
          </a:p>
          <a:p>
            <a:r>
              <a:rPr lang="en-US" dirty="0"/>
              <a:t>Energy</a:t>
            </a:r>
          </a:p>
          <a:p>
            <a:r>
              <a:rPr lang="en-US" dirty="0"/>
              <a:t>Power</a:t>
            </a:r>
          </a:p>
          <a:p>
            <a:r>
              <a:rPr lang="en-US" dirty="0"/>
              <a:t>Force</a:t>
            </a:r>
          </a:p>
        </p:txBody>
      </p:sp>
    </p:spTree>
    <p:extLst>
      <p:ext uri="{BB962C8B-B14F-4D97-AF65-F5344CB8AC3E}">
        <p14:creationId xmlns:p14="http://schemas.microsoft.com/office/powerpoint/2010/main" val="10443764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746975" y="1825625"/>
            <a:ext cx="10606825" cy="5231998"/>
          </a:xfrm>
        </p:spPr>
        <p:txBody>
          <a:bodyPr>
            <a:normAutofit fontScale="77500" lnSpcReduction="20000"/>
          </a:bodyPr>
          <a:lstStyle/>
          <a:p>
            <a:r>
              <a:rPr lang="en-US" dirty="0"/>
              <a:t>Metric (SI) Prefixes:</a:t>
            </a:r>
          </a:p>
          <a:p>
            <a:r>
              <a:rPr lang="en-US" dirty="0"/>
              <a:t>Return the specified unit in meter (e.g. </a:t>
            </a:r>
            <a:r>
              <a:rPr lang="en-US" dirty="0" err="1"/>
              <a:t>centi</a:t>
            </a:r>
            <a:r>
              <a:rPr lang="en-US" dirty="0"/>
              <a:t> returns 0.01)</a:t>
            </a:r>
          </a:p>
          <a:p>
            <a:endParaRPr lang="en-US" dirty="0"/>
          </a:p>
          <a:p>
            <a:r>
              <a:rPr lang="en-US" dirty="0"/>
              <a:t>Example</a:t>
            </a:r>
          </a:p>
          <a:p>
            <a:r>
              <a:rPr lang="en-US" dirty="0"/>
              <a:t>from </a:t>
            </a:r>
            <a:r>
              <a:rPr lang="en-US" dirty="0" err="1"/>
              <a:t>scipy</a:t>
            </a:r>
            <a:r>
              <a:rPr lang="en-US" dirty="0"/>
              <a:t> import constants</a:t>
            </a:r>
          </a:p>
          <a:p>
            <a:endParaRPr lang="en-US" dirty="0"/>
          </a:p>
          <a:p>
            <a:r>
              <a:rPr lang="en-US" dirty="0"/>
              <a:t>print(</a:t>
            </a:r>
            <a:r>
              <a:rPr lang="en-US" dirty="0" err="1"/>
              <a:t>constants.yotta</a:t>
            </a:r>
            <a:r>
              <a:rPr lang="en-US" dirty="0"/>
              <a:t>)    #1e+24</a:t>
            </a:r>
          </a:p>
          <a:p>
            <a:r>
              <a:rPr lang="en-US" dirty="0"/>
              <a:t>print(</a:t>
            </a:r>
            <a:r>
              <a:rPr lang="en-US" dirty="0" err="1"/>
              <a:t>constants.zetta</a:t>
            </a:r>
            <a:r>
              <a:rPr lang="en-US" dirty="0"/>
              <a:t>)    #1e+21</a:t>
            </a:r>
          </a:p>
          <a:p>
            <a:r>
              <a:rPr lang="en-US" dirty="0"/>
              <a:t>print(</a:t>
            </a:r>
            <a:r>
              <a:rPr lang="en-US" dirty="0" err="1"/>
              <a:t>constants.exa</a:t>
            </a:r>
            <a:r>
              <a:rPr lang="en-US" dirty="0"/>
              <a:t>)      #1e+18</a:t>
            </a:r>
          </a:p>
          <a:p>
            <a:r>
              <a:rPr lang="en-US" dirty="0"/>
              <a:t>print(</a:t>
            </a:r>
            <a:r>
              <a:rPr lang="en-US" dirty="0" err="1"/>
              <a:t>constants.peta</a:t>
            </a:r>
            <a:r>
              <a:rPr lang="en-US" dirty="0"/>
              <a:t>)     #1000000000000000.0</a:t>
            </a:r>
          </a:p>
          <a:p>
            <a:r>
              <a:rPr lang="en-US" dirty="0"/>
              <a:t>print(</a:t>
            </a:r>
            <a:r>
              <a:rPr lang="en-US" dirty="0" err="1"/>
              <a:t>constants.tera</a:t>
            </a:r>
            <a:r>
              <a:rPr lang="en-US" dirty="0"/>
              <a:t>)     #1000000000000.0</a:t>
            </a:r>
          </a:p>
          <a:p>
            <a:r>
              <a:rPr lang="en-US" dirty="0"/>
              <a:t>print(</a:t>
            </a:r>
            <a:r>
              <a:rPr lang="en-US" dirty="0" err="1"/>
              <a:t>constants.giga</a:t>
            </a:r>
            <a:r>
              <a:rPr lang="en-US" dirty="0"/>
              <a:t>)     #1000000000.0</a:t>
            </a:r>
          </a:p>
          <a:p>
            <a:r>
              <a:rPr lang="en-US" dirty="0"/>
              <a:t>print(</a:t>
            </a:r>
            <a:r>
              <a:rPr lang="en-US" dirty="0" err="1"/>
              <a:t>constants.mega</a:t>
            </a:r>
            <a:r>
              <a:rPr lang="en-US" dirty="0"/>
              <a:t>)     #1000000.0</a:t>
            </a:r>
          </a:p>
          <a:p>
            <a:r>
              <a:rPr lang="en-US" dirty="0"/>
              <a:t>print(</a:t>
            </a:r>
            <a:r>
              <a:rPr lang="en-US" dirty="0" err="1"/>
              <a:t>constants.kilo</a:t>
            </a:r>
            <a:r>
              <a:rPr lang="en-US" dirty="0"/>
              <a:t>)     #</a:t>
            </a:r>
            <a:r>
              <a:rPr lang="en-US" dirty="0" smtClean="0"/>
              <a:t>1000.0</a:t>
            </a:r>
            <a:endParaRPr lang="en-US" dirty="0"/>
          </a:p>
        </p:txBody>
      </p:sp>
    </p:spTree>
    <p:extLst>
      <p:ext uri="{BB962C8B-B14F-4D97-AF65-F5344CB8AC3E}">
        <p14:creationId xmlns:p14="http://schemas.microsoft.com/office/powerpoint/2010/main" val="40348347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a:t>print(</a:t>
            </a:r>
            <a:r>
              <a:rPr lang="en-US" dirty="0" err="1"/>
              <a:t>constants.hecto</a:t>
            </a:r>
            <a:r>
              <a:rPr lang="en-US" dirty="0"/>
              <a:t>)    #100.0</a:t>
            </a:r>
          </a:p>
          <a:p>
            <a:r>
              <a:rPr lang="en-US" dirty="0"/>
              <a:t>print(</a:t>
            </a:r>
            <a:r>
              <a:rPr lang="en-US" dirty="0" err="1"/>
              <a:t>constants.deka</a:t>
            </a:r>
            <a:r>
              <a:rPr lang="en-US" dirty="0"/>
              <a:t>)     #10.0</a:t>
            </a:r>
          </a:p>
          <a:p>
            <a:r>
              <a:rPr lang="en-US" dirty="0"/>
              <a:t>print(</a:t>
            </a:r>
            <a:r>
              <a:rPr lang="en-US" dirty="0" err="1"/>
              <a:t>constants.deci</a:t>
            </a:r>
            <a:r>
              <a:rPr lang="en-US" dirty="0"/>
              <a:t>)     #0.1</a:t>
            </a:r>
          </a:p>
          <a:p>
            <a:r>
              <a:rPr lang="en-US" dirty="0"/>
              <a:t>print(</a:t>
            </a:r>
            <a:r>
              <a:rPr lang="en-US" dirty="0" err="1"/>
              <a:t>constants.centi</a:t>
            </a:r>
            <a:r>
              <a:rPr lang="en-US" dirty="0"/>
              <a:t>)    #0.01</a:t>
            </a:r>
          </a:p>
          <a:p>
            <a:r>
              <a:rPr lang="en-US" dirty="0"/>
              <a:t>print(</a:t>
            </a:r>
            <a:r>
              <a:rPr lang="en-US" dirty="0" err="1"/>
              <a:t>constants.milli</a:t>
            </a:r>
            <a:r>
              <a:rPr lang="en-US" dirty="0"/>
              <a:t>)    #0.001</a:t>
            </a:r>
          </a:p>
          <a:p>
            <a:r>
              <a:rPr lang="en-US" dirty="0"/>
              <a:t>print(</a:t>
            </a:r>
            <a:r>
              <a:rPr lang="en-US" dirty="0" err="1"/>
              <a:t>constants.micro</a:t>
            </a:r>
            <a:r>
              <a:rPr lang="en-US" dirty="0"/>
              <a:t>)    #1e-06</a:t>
            </a:r>
          </a:p>
          <a:p>
            <a:r>
              <a:rPr lang="en-US" dirty="0"/>
              <a:t>print(</a:t>
            </a:r>
            <a:r>
              <a:rPr lang="en-US" dirty="0" err="1"/>
              <a:t>constants.nano</a:t>
            </a:r>
            <a:r>
              <a:rPr lang="en-US" dirty="0"/>
              <a:t>)     #1e-09</a:t>
            </a:r>
          </a:p>
          <a:p>
            <a:r>
              <a:rPr lang="en-US" dirty="0"/>
              <a:t>print(</a:t>
            </a:r>
            <a:r>
              <a:rPr lang="en-US" dirty="0" err="1"/>
              <a:t>constants.pico</a:t>
            </a:r>
            <a:r>
              <a:rPr lang="en-US" dirty="0"/>
              <a:t>)     #1e-12</a:t>
            </a:r>
          </a:p>
          <a:p>
            <a:r>
              <a:rPr lang="en-US" dirty="0"/>
              <a:t>print(</a:t>
            </a:r>
            <a:r>
              <a:rPr lang="en-US" dirty="0" err="1"/>
              <a:t>constants.femto</a:t>
            </a:r>
            <a:r>
              <a:rPr lang="en-US" dirty="0"/>
              <a:t>)    #1e-15</a:t>
            </a:r>
          </a:p>
          <a:p>
            <a:r>
              <a:rPr lang="en-US" dirty="0"/>
              <a:t>print(</a:t>
            </a:r>
            <a:r>
              <a:rPr lang="en-US" dirty="0" err="1"/>
              <a:t>constants.atto</a:t>
            </a:r>
            <a:r>
              <a:rPr lang="en-US" dirty="0"/>
              <a:t>)     #1e-18</a:t>
            </a:r>
          </a:p>
          <a:p>
            <a:r>
              <a:rPr lang="en-US" dirty="0"/>
              <a:t>print(</a:t>
            </a:r>
            <a:r>
              <a:rPr lang="en-US" dirty="0" err="1"/>
              <a:t>constants.zepto</a:t>
            </a:r>
            <a:r>
              <a:rPr lang="en-US" dirty="0"/>
              <a:t>)    #1e-21</a:t>
            </a:r>
          </a:p>
          <a:p>
            <a:endParaRPr lang="en-US" dirty="0"/>
          </a:p>
        </p:txBody>
      </p:sp>
    </p:spTree>
    <p:extLst>
      <p:ext uri="{BB962C8B-B14F-4D97-AF65-F5344CB8AC3E}">
        <p14:creationId xmlns:p14="http://schemas.microsoft.com/office/powerpoint/2010/main" val="42871940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592</TotalTime>
  <Words>2001</Words>
  <Application>Microsoft Office PowerPoint</Application>
  <PresentationFormat>Widescreen</PresentationFormat>
  <Paragraphs>429</Paragraphs>
  <Slides>40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Calibri Light</vt:lpstr>
      <vt:lpstr>Verdana</vt:lpstr>
      <vt:lpstr>Office Theme</vt:lpstr>
      <vt:lpstr>Machine Learning</vt:lpstr>
      <vt:lpstr>PowerPoint Presentation</vt:lpstr>
      <vt:lpstr>Data Set </vt:lpstr>
      <vt:lpstr>Example of a database</vt:lpstr>
      <vt:lpstr>PowerPoint Presentation</vt:lpstr>
      <vt:lpstr>Data Types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Standard Deviation? </vt:lpstr>
      <vt:lpstr>PowerPoint Presentation</vt:lpstr>
      <vt:lpstr>PowerPoint Presentation</vt:lpstr>
      <vt:lpstr>PowerPoint Presentation</vt:lpstr>
      <vt:lpstr>Machine Learning - Percentiles</vt:lpstr>
      <vt:lpstr>PowerPoint Presentation</vt:lpstr>
      <vt:lpstr>PowerPoint Presentation</vt:lpstr>
      <vt:lpstr>Data Distribution </vt:lpstr>
      <vt:lpstr>PowerPoint Presentation</vt:lpstr>
      <vt:lpstr>PowerPoint Presentation</vt:lpstr>
      <vt:lpstr>PowerPoint Presentation</vt:lpstr>
      <vt:lpstr>PowerPoint Presentation</vt:lpstr>
      <vt:lpstr>PowerPoint Presentation</vt:lpstr>
      <vt:lpstr>PowerPoint Presentation</vt:lpstr>
      <vt:lpstr>SciPy Introduction</vt:lpstr>
      <vt:lpstr>PowerPoint Presentation</vt:lpstr>
      <vt:lpstr>PowerPoint Presentation</vt:lpstr>
      <vt:lpstr>PowerPoint Presentation</vt:lpstr>
      <vt:lpstr>PowerPoint Presentation</vt:lpstr>
      <vt:lpstr>PowerPoint Presentation</vt:lpstr>
      <vt:lpstr>SciPy Constants</vt:lpstr>
      <vt:lpstr>PowerPoint Presentation</vt:lpstr>
      <vt:lpstr>Unit Categories </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dc:title>
  <dc:creator>Microsoft account</dc:creator>
  <cp:lastModifiedBy>Microsoft account</cp:lastModifiedBy>
  <cp:revision>21</cp:revision>
  <dcterms:created xsi:type="dcterms:W3CDTF">2022-06-11T09:51:42Z</dcterms:created>
  <dcterms:modified xsi:type="dcterms:W3CDTF">2022-06-17T12:15:04Z</dcterms:modified>
</cp:coreProperties>
</file>