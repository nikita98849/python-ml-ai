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85" d="100"/>
          <a:sy n="85" d="100"/>
        </p:scale>
        <p:origin x="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B82A2C7-D168-4164-AB3C-4573E1D9CF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4290344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82A2C7-D168-4164-AB3C-4573E1D9CF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2031517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B82A2C7-D168-4164-AB3C-4573E1D9CF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138433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B82A2C7-D168-4164-AB3C-4573E1D9CF86}" type="datetimeFigureOut">
              <a:rPr lang="en-US" smtClean="0"/>
              <a:t>5/31/2024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3310911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B82A2C7-D168-4164-AB3C-4573E1D9CF86}" type="datetimeFigureOut">
              <a:rPr lang="en-US" smtClean="0"/>
              <a:t>5/31/2024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378482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B82A2C7-D168-4164-AB3C-4573E1D9CF86}" type="datetimeFigureOut">
              <a:rPr lang="en-US" smtClean="0"/>
              <a:t>5/31/2024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2946230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82A2C7-D168-4164-AB3C-4573E1D9CF86}" type="datetimeFigureOut">
              <a:rPr lang="en-US" smtClean="0"/>
              <a:t>5/31/2024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4010964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82A2C7-D168-4164-AB3C-4573E1D9CF86}" type="datetimeFigureOut">
              <a:rPr lang="en-US" smtClean="0"/>
              <a:t>5/31/2024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2467178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82A2C7-D168-4164-AB3C-4573E1D9CF86}" type="datetimeFigureOut">
              <a:rPr lang="en-US" smtClean="0"/>
              <a:t>5/31/2024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833633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82A2C7-D168-4164-AB3C-4573E1D9CF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3911537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82A2C7-D168-4164-AB3C-4573E1D9CF86}" type="datetimeFigureOut">
              <a:rPr lang="en-US" smtClean="0"/>
              <a:t>5/31/2024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C5CC0-BD70-480C-AD69-BBE8045FCD15}" type="slidenum">
              <a:rPr lang="en-US" smtClean="0"/>
              <a:t>‹#›</a:t>
            </a:fld>
            <a:endParaRPr lang="en-US"/>
          </a:p>
        </p:txBody>
      </p:sp>
    </p:spTree>
    <p:extLst>
      <p:ext uri="{BB962C8B-B14F-4D97-AF65-F5344CB8AC3E}">
        <p14:creationId xmlns:p14="http://schemas.microsoft.com/office/powerpoint/2010/main" val="3698403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2A2C7-D168-4164-AB3C-4573E1D9CF86}" type="datetimeFigureOut">
              <a:rPr lang="en-US" smtClean="0"/>
              <a:t>5/31/2024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C5CC0-BD70-480C-AD69-BBE8045FCD15}" type="slidenum">
              <a:rPr lang="en-US" smtClean="0"/>
              <a:t>‹#›</a:t>
            </a:fld>
            <a:endParaRPr lang="en-US"/>
          </a:p>
        </p:txBody>
      </p:sp>
    </p:spTree>
    <p:extLst>
      <p:ext uri="{BB962C8B-B14F-4D97-AF65-F5344CB8AC3E}">
        <p14:creationId xmlns:p14="http://schemas.microsoft.com/office/powerpoint/2010/main" val="1109957914"/>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Day-13</a:t>
            </a:r>
            <a:endParaRPr lang="en-US" dirty="0"/>
          </a:p>
        </p:txBody>
      </p:sp>
      <p:sp>
        <p:nvSpPr>
          <p:cNvPr id="3" name="Subtitle 2"/>
          <p:cNvSpPr>
            <a:spLocks noGrp="1"/>
          </p:cNvSpPr>
          <p:nvPr>
            <p:ph type="subTitle" idx="1"/>
          </p:nvPr>
        </p:nvSpPr>
        <p:spPr/>
        <p:txBody>
          <a:bodyPr>
            <a:normAutofit/>
          </a:bodyPr>
          <a:lstStyle/>
          <a:p>
            <a:r>
              <a:rPr lang="en-US" sz="4800" dirty="0"/>
              <a:t>Python File Handling</a:t>
            </a:r>
          </a:p>
        </p:txBody>
      </p:sp>
      <p:pic>
        <p:nvPicPr>
          <p:cNvPr id="4" name="Picture 3"/>
          <p:cNvPicPr>
            <a:picLocks noChangeAspect="1"/>
          </p:cNvPicPr>
          <p:nvPr/>
        </p:nvPicPr>
        <p:blipFill>
          <a:blip r:embed="rId2"/>
          <a:stretch>
            <a:fillRect/>
          </a:stretch>
        </p:blipFill>
        <p:spPr>
          <a:xfrm>
            <a:off x="4074289" y="357187"/>
            <a:ext cx="4338522" cy="1697066"/>
          </a:xfrm>
          <a:prstGeom prst="rect">
            <a:avLst/>
          </a:prstGeom>
        </p:spPr>
      </p:pic>
    </p:spTree>
    <p:extLst>
      <p:ext uri="{BB962C8B-B14F-4D97-AF65-F5344CB8AC3E}">
        <p14:creationId xmlns:p14="http://schemas.microsoft.com/office/powerpoint/2010/main" val="4101961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File Handling</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Till now, we were taking the input from the console and writing it back to the console to interact with the user.</a:t>
            </a:r>
          </a:p>
          <a:p>
            <a:endParaRPr lang="en-US" dirty="0" smtClean="0"/>
          </a:p>
          <a:p>
            <a:r>
              <a:rPr lang="en-US" dirty="0" smtClean="0"/>
              <a:t>Sometimes, it is not enough to only display the data on the console. The data to be displayed may be very large, and only a limited amount of data can be displayed on the console since the memory is volatile, it is impossible to recover the programmatically generated data again and again.</a:t>
            </a:r>
          </a:p>
          <a:p>
            <a:endParaRPr lang="en-US" dirty="0" smtClean="0"/>
          </a:p>
          <a:p>
            <a:r>
              <a:rPr lang="en-US" dirty="0" smtClean="0"/>
              <a:t>The file handling plays an important role when the data needs to be stored permanently into the file. A file is a named location on disk to store related information. We can access the stored information (non-volatile) after the program termination.</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918929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The file-handling implementation is slightly lengthy or complicated in the other programming language, but it is easier and shorter in Python.</a:t>
            </a:r>
          </a:p>
          <a:p>
            <a:endParaRPr lang="en-US" dirty="0" smtClean="0"/>
          </a:p>
          <a:p>
            <a:r>
              <a:rPr lang="en-US" dirty="0" smtClean="0"/>
              <a:t>In Python, files are treated in two modes as text or binary. The file may be in the text or binary format, and each line of a file is ended with the special character.</a:t>
            </a:r>
          </a:p>
          <a:p>
            <a:endParaRPr lang="en-US" dirty="0" smtClean="0"/>
          </a:p>
          <a:p>
            <a:r>
              <a:rPr lang="en-US" dirty="0" smtClean="0"/>
              <a:t>Hence, a file operation can be done in the following order.</a:t>
            </a:r>
          </a:p>
          <a:p>
            <a:endParaRPr lang="en-US" dirty="0" smtClean="0"/>
          </a:p>
          <a:p>
            <a:r>
              <a:rPr lang="en-US" dirty="0" smtClean="0">
                <a:solidFill>
                  <a:srgbClr val="FFFF00"/>
                </a:solidFill>
              </a:rPr>
              <a:t>Open a file</a:t>
            </a:r>
          </a:p>
          <a:p>
            <a:r>
              <a:rPr lang="en-US" dirty="0" smtClean="0">
                <a:solidFill>
                  <a:srgbClr val="FFFF00"/>
                </a:solidFill>
              </a:rPr>
              <a:t>Read or write - Performing operation</a:t>
            </a:r>
          </a:p>
          <a:p>
            <a:r>
              <a:rPr lang="en-US" dirty="0" smtClean="0">
                <a:solidFill>
                  <a:srgbClr val="FFFF00"/>
                </a:solidFill>
              </a:rPr>
              <a:t>Close the file</a:t>
            </a:r>
            <a:endParaRPr lang="en-US" dirty="0">
              <a:solidFill>
                <a:srgbClr val="FFFF00"/>
              </a:solidFill>
            </a:endParaRPr>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61776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Opening a file</a:t>
            </a:r>
            <a:br>
              <a:rPr lang="en-US" dirty="0"/>
            </a:br>
            <a:endParaRPr lang="en-US" dirty="0"/>
          </a:p>
        </p:txBody>
      </p:sp>
      <p:sp>
        <p:nvSpPr>
          <p:cNvPr id="3" name="Content Placeholder 2"/>
          <p:cNvSpPr>
            <a:spLocks noGrp="1"/>
          </p:cNvSpPr>
          <p:nvPr>
            <p:ph idx="1"/>
          </p:nvPr>
        </p:nvSpPr>
        <p:spPr/>
        <p:txBody>
          <a:bodyPr/>
          <a:lstStyle/>
          <a:p>
            <a:r>
              <a:rPr lang="en-US" dirty="0" smtClean="0"/>
              <a:t>Python provides </a:t>
            </a:r>
            <a:r>
              <a:rPr lang="en-US" dirty="0" smtClean="0">
                <a:solidFill>
                  <a:srgbClr val="FFFF00"/>
                </a:solidFill>
              </a:rPr>
              <a:t>an open() function </a:t>
            </a:r>
            <a:r>
              <a:rPr lang="en-US" dirty="0" smtClean="0"/>
              <a:t>that accepts two arguments, file </a:t>
            </a:r>
            <a:r>
              <a:rPr lang="en-US" dirty="0" smtClean="0">
                <a:solidFill>
                  <a:srgbClr val="FFFF00"/>
                </a:solidFill>
              </a:rPr>
              <a:t>name and access mode in which the file is accessed</a:t>
            </a:r>
            <a:r>
              <a:rPr lang="en-US" dirty="0" smtClean="0"/>
              <a:t>. The function returns a file object which can be used to perform various operations like reading, writing, etc.</a:t>
            </a:r>
          </a:p>
          <a:p>
            <a:endParaRPr lang="en-US" dirty="0" smtClean="0"/>
          </a:p>
          <a:p>
            <a:r>
              <a:rPr lang="en-US" dirty="0" smtClean="0"/>
              <a:t>Syntax:</a:t>
            </a:r>
          </a:p>
          <a:p>
            <a:endParaRPr lang="en-US" dirty="0" smtClean="0"/>
          </a:p>
          <a:p>
            <a:r>
              <a:rPr lang="en-US" dirty="0" smtClean="0">
                <a:solidFill>
                  <a:srgbClr val="FFFF00"/>
                </a:solidFill>
              </a:rPr>
              <a:t>file object = open(&lt;file-name&gt;, &lt;access-mode&gt;, &lt;buffering&gt;) </a:t>
            </a:r>
            <a:endParaRPr lang="en-US" dirty="0">
              <a:solidFill>
                <a:srgbClr val="FFFF00"/>
              </a:solidFill>
            </a:endParaRPr>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418009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180" y="108648"/>
            <a:ext cx="10037956" cy="627334"/>
          </a:xfrm>
        </p:spPr>
        <p:txBody>
          <a:bodyPr>
            <a:normAutofit fontScale="90000"/>
          </a:bodyPr>
          <a:lstStyle/>
          <a:p>
            <a:r>
              <a:rPr lang="en-US" dirty="0" smtClean="0"/>
              <a:t/>
            </a:r>
            <a:br>
              <a:rPr lang="en-US" dirty="0" smtClean="0"/>
            </a:br>
            <a:r>
              <a:rPr lang="en-US" dirty="0" smtClean="0"/>
              <a:t>The files can be accessed using various modes like read, write, or append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47247817"/>
              </p:ext>
            </p:extLst>
          </p:nvPr>
        </p:nvGraphicFramePr>
        <p:xfrm>
          <a:off x="838200" y="1825625"/>
          <a:ext cx="10515600" cy="361696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pPr algn="l" fontAlgn="t"/>
                      <a:r>
                        <a:rPr lang="en-US" sz="1400" dirty="0">
                          <a:solidFill>
                            <a:srgbClr val="000000"/>
                          </a:solidFill>
                          <a:effectLst/>
                          <a:latin typeface="times new roman" panose="02020603050405020304" pitchFamily="18" charset="0"/>
                        </a:rPr>
                        <a:t>SN</a:t>
                      </a:r>
                    </a:p>
                  </a:txBody>
                  <a:tcPr marL="114300" marR="114300" marT="114300" marB="114300"/>
                </a:tc>
                <a:tc>
                  <a:txBody>
                    <a:bodyPr/>
                    <a:lstStyle/>
                    <a:p>
                      <a:pPr algn="l" fontAlgn="t"/>
                      <a:r>
                        <a:rPr lang="en-US" sz="1400">
                          <a:solidFill>
                            <a:srgbClr val="000000"/>
                          </a:solidFill>
                          <a:effectLst/>
                          <a:latin typeface="times new roman" panose="02020603050405020304" pitchFamily="18" charset="0"/>
                        </a:rPr>
                        <a:t>Access mode</a:t>
                      </a:r>
                    </a:p>
                  </a:txBody>
                  <a:tcPr marL="114300" marR="114300" marT="114300" marB="114300"/>
                </a:tc>
                <a:tc>
                  <a:txBody>
                    <a:bodyPr/>
                    <a:lstStyle/>
                    <a:p>
                      <a:pPr algn="l" fontAlgn="t"/>
                      <a:r>
                        <a:rPr lang="en-US" sz="1400">
                          <a:solidFill>
                            <a:srgbClr val="000000"/>
                          </a:solidFill>
                          <a:effectLst/>
                          <a:latin typeface="times new roman" panose="02020603050405020304" pitchFamily="18" charset="0"/>
                        </a:rPr>
                        <a:t>Description</a:t>
                      </a:r>
                    </a:p>
                  </a:txBody>
                  <a:tcPr marL="114300" marR="114300" marT="114300" marB="114300"/>
                </a:tc>
              </a:tr>
              <a:tr h="370840">
                <a:tc>
                  <a:txBody>
                    <a:bodyPr/>
                    <a:lstStyle/>
                    <a:p>
                      <a:pPr algn="l" fontAlgn="t"/>
                      <a:r>
                        <a:rPr lang="en-US" sz="1400" dirty="0">
                          <a:solidFill>
                            <a:srgbClr val="000000"/>
                          </a:solidFill>
                          <a:effectLst/>
                          <a:latin typeface="verdana" panose="020B0604030504040204" pitchFamily="34" charset="0"/>
                        </a:rPr>
                        <a:t>1</a:t>
                      </a:r>
                    </a:p>
                  </a:txBody>
                  <a:tcPr marL="76200" marR="76200" marT="76200" marB="76200"/>
                </a:tc>
                <a:tc>
                  <a:txBody>
                    <a:bodyPr/>
                    <a:lstStyle/>
                    <a:p>
                      <a:pPr algn="l" fontAlgn="t"/>
                      <a:r>
                        <a:rPr lang="en-US" sz="1400">
                          <a:solidFill>
                            <a:srgbClr val="000000"/>
                          </a:solidFill>
                          <a:effectLst/>
                          <a:latin typeface="verdana" panose="020B0604030504040204" pitchFamily="34" charset="0"/>
                        </a:rPr>
                        <a:t>r</a:t>
                      </a:r>
                    </a:p>
                  </a:txBody>
                  <a:tcPr marL="76200" marR="76200" marT="76200" marB="76200"/>
                </a:tc>
                <a:tc>
                  <a:txBody>
                    <a:bodyPr/>
                    <a:lstStyle/>
                    <a:p>
                      <a:pPr algn="l" fontAlgn="t"/>
                      <a:r>
                        <a:rPr lang="en-US" sz="1400">
                          <a:solidFill>
                            <a:srgbClr val="000000"/>
                          </a:solidFill>
                          <a:effectLst/>
                          <a:latin typeface="verdana" panose="020B0604030504040204" pitchFamily="34" charset="0"/>
                        </a:rPr>
                        <a:t>It opens the file to read-only mode. The file pointer exists at the beginning. The file is by default open in this mode if no access mode is passed.</a:t>
                      </a:r>
                    </a:p>
                  </a:txBody>
                  <a:tcPr marL="76200" marR="76200" marT="76200" marB="76200"/>
                </a:tc>
              </a:tr>
              <a:tr h="370840">
                <a:tc>
                  <a:txBody>
                    <a:bodyPr/>
                    <a:lstStyle/>
                    <a:p>
                      <a:pPr algn="l" fontAlgn="t"/>
                      <a:r>
                        <a:rPr lang="en-US" sz="1400" dirty="0">
                          <a:solidFill>
                            <a:srgbClr val="000000"/>
                          </a:solidFill>
                          <a:effectLst/>
                          <a:latin typeface="verdana" panose="020B0604030504040204" pitchFamily="34" charset="0"/>
                        </a:rPr>
                        <a:t>2</a:t>
                      </a:r>
                    </a:p>
                  </a:txBody>
                  <a:tcPr marL="76200" marR="76200" marT="76200" marB="76200"/>
                </a:tc>
                <a:tc>
                  <a:txBody>
                    <a:bodyPr/>
                    <a:lstStyle/>
                    <a:p>
                      <a:pPr algn="l" fontAlgn="t"/>
                      <a:r>
                        <a:rPr lang="en-US" sz="1400" dirty="0" err="1">
                          <a:solidFill>
                            <a:srgbClr val="000000"/>
                          </a:solidFill>
                          <a:effectLst/>
                          <a:latin typeface="verdana" panose="020B0604030504040204" pitchFamily="34" charset="0"/>
                        </a:rPr>
                        <a:t>rb</a:t>
                      </a:r>
                      <a:endParaRPr lang="en-US" sz="1400" dirty="0">
                        <a:solidFill>
                          <a:srgbClr val="000000"/>
                        </a:solidFill>
                        <a:effectLst/>
                        <a:latin typeface="verdana" panose="020B0604030504040204" pitchFamily="34" charset="0"/>
                      </a:endParaRPr>
                    </a:p>
                  </a:txBody>
                  <a:tcPr marL="76200" marR="76200" marT="76200" marB="76200"/>
                </a:tc>
                <a:tc>
                  <a:txBody>
                    <a:bodyPr/>
                    <a:lstStyle/>
                    <a:p>
                      <a:pPr algn="l" fontAlgn="t"/>
                      <a:r>
                        <a:rPr lang="en-US" sz="1400">
                          <a:solidFill>
                            <a:srgbClr val="000000"/>
                          </a:solidFill>
                          <a:effectLst/>
                          <a:latin typeface="verdana" panose="020B0604030504040204" pitchFamily="34" charset="0"/>
                        </a:rPr>
                        <a:t>It opens the file to read-only in binary format. The file pointer exists at the beginning of the file.</a:t>
                      </a:r>
                    </a:p>
                  </a:txBody>
                  <a:tcPr marL="76200" marR="76200" marT="76200" marB="76200"/>
                </a:tc>
              </a:tr>
              <a:tr h="370840">
                <a:tc>
                  <a:txBody>
                    <a:bodyPr/>
                    <a:lstStyle/>
                    <a:p>
                      <a:pPr algn="l" fontAlgn="t"/>
                      <a:r>
                        <a:rPr lang="en-US" sz="1400">
                          <a:solidFill>
                            <a:srgbClr val="000000"/>
                          </a:solidFill>
                          <a:effectLst/>
                          <a:latin typeface="verdana" panose="020B0604030504040204" pitchFamily="34" charset="0"/>
                        </a:rPr>
                        <a:t>3</a:t>
                      </a:r>
                    </a:p>
                  </a:txBody>
                  <a:tcPr marL="76200" marR="76200" marT="76200" marB="76200"/>
                </a:tc>
                <a:tc>
                  <a:txBody>
                    <a:bodyPr/>
                    <a:lstStyle/>
                    <a:p>
                      <a:pPr algn="l" fontAlgn="t"/>
                      <a:r>
                        <a:rPr lang="en-US" sz="1400" dirty="0">
                          <a:solidFill>
                            <a:srgbClr val="000000"/>
                          </a:solidFill>
                          <a:effectLst/>
                          <a:latin typeface="verdana" panose="020B0604030504040204" pitchFamily="34" charset="0"/>
                        </a:rPr>
                        <a:t>r+</a:t>
                      </a:r>
                    </a:p>
                  </a:txBody>
                  <a:tcPr marL="76200" marR="76200" marT="76200" marB="76200"/>
                </a:tc>
                <a:tc>
                  <a:txBody>
                    <a:bodyPr/>
                    <a:lstStyle/>
                    <a:p>
                      <a:pPr algn="l" fontAlgn="t"/>
                      <a:r>
                        <a:rPr lang="en-US" sz="1400" dirty="0">
                          <a:solidFill>
                            <a:srgbClr val="000000"/>
                          </a:solidFill>
                          <a:effectLst/>
                          <a:latin typeface="verdana" panose="020B0604030504040204" pitchFamily="34" charset="0"/>
                        </a:rPr>
                        <a:t>It opens the file to read and write both. The file pointer exists at the beginning of the file.</a:t>
                      </a:r>
                    </a:p>
                  </a:txBody>
                  <a:tcPr marL="76200" marR="76200" marT="76200" marB="76200"/>
                </a:tc>
              </a:tr>
              <a:tr h="370840">
                <a:tc>
                  <a:txBody>
                    <a:bodyPr/>
                    <a:lstStyle/>
                    <a:p>
                      <a:endParaRPr lang="en-US"/>
                    </a:p>
                  </a:txBody>
                  <a:tcPr/>
                </a:tc>
                <a:tc>
                  <a:txBody>
                    <a:bodyPr/>
                    <a:lstStyle/>
                    <a:p>
                      <a:endParaRPr lang="en-US"/>
                    </a:p>
                  </a:txBody>
                  <a:tcPr/>
                </a:tc>
                <a:tc>
                  <a:txBody>
                    <a:bodyPr/>
                    <a:lstStyle/>
                    <a:p>
                      <a:endParaRPr lang="en-US"/>
                    </a:p>
                  </a:txBody>
                  <a:tcPr/>
                </a:tc>
              </a:tr>
            </a:tbl>
          </a:graphicData>
        </a:graphic>
      </p:graphicFrame>
      <p:sp>
        <p:nvSpPr>
          <p:cNvPr id="5" name="Rectangle 4"/>
          <p:cNvSpPr/>
          <p:nvPr/>
        </p:nvSpPr>
        <p:spPr>
          <a:xfrm>
            <a:off x="1590446" y="1181358"/>
            <a:ext cx="6560770" cy="369332"/>
          </a:xfrm>
          <a:prstGeom prst="rect">
            <a:avLst/>
          </a:prstGeom>
        </p:spPr>
        <p:txBody>
          <a:bodyPr wrap="none">
            <a:spAutoFit/>
          </a:bodyPr>
          <a:lstStyle/>
          <a:p>
            <a:r>
              <a:rPr lang="en-US" dirty="0" smtClean="0"/>
              <a:t>The following are the details about the access mode to open the file</a:t>
            </a:r>
            <a:endParaRPr lang="en-US" dirty="0"/>
          </a:p>
        </p:txBody>
      </p:sp>
      <p:pic>
        <p:nvPicPr>
          <p:cNvPr id="6" name="Picture 5"/>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51877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969050182"/>
              </p:ext>
            </p:extLst>
          </p:nvPr>
        </p:nvGraphicFramePr>
        <p:xfrm>
          <a:off x="537118" y="543234"/>
          <a:ext cx="10515600" cy="6045200"/>
        </p:xfrm>
        <a:graphic>
          <a:graphicData uri="http://schemas.openxmlformats.org/drawingml/2006/table">
            <a:tbl>
              <a:tblPr firstRow="1" bandRow="1">
                <a:tableStyleId>{5C22544A-7EE6-4342-B048-85BDC9FD1C3A}</a:tableStyleId>
              </a:tblPr>
              <a:tblGrid>
                <a:gridCol w="3505200"/>
                <a:gridCol w="3505200"/>
                <a:gridCol w="3505200"/>
              </a:tblGrid>
              <a:tr h="370840">
                <a:tc>
                  <a:txBody>
                    <a:bodyPr/>
                    <a:lstStyle/>
                    <a:p>
                      <a:pPr algn="l" fontAlgn="t"/>
                      <a:r>
                        <a:rPr lang="en-US" sz="1400" dirty="0">
                          <a:solidFill>
                            <a:srgbClr val="000000"/>
                          </a:solidFill>
                          <a:effectLst/>
                          <a:latin typeface="verdana" panose="020B0604030504040204" pitchFamily="34" charset="0"/>
                        </a:rPr>
                        <a:t>4</a:t>
                      </a:r>
                    </a:p>
                  </a:txBody>
                  <a:tcPr marL="76200" marR="76200" marT="76200" marB="76200"/>
                </a:tc>
                <a:tc>
                  <a:txBody>
                    <a:bodyPr/>
                    <a:lstStyle/>
                    <a:p>
                      <a:pPr algn="l" fontAlgn="t"/>
                      <a:r>
                        <a:rPr lang="en-US" sz="1400">
                          <a:solidFill>
                            <a:srgbClr val="000000"/>
                          </a:solidFill>
                          <a:effectLst/>
                          <a:latin typeface="verdana" panose="020B0604030504040204" pitchFamily="34" charset="0"/>
                        </a:rPr>
                        <a:t>rb+</a:t>
                      </a:r>
                    </a:p>
                  </a:txBody>
                  <a:tcPr marL="76200" marR="76200" marT="76200" marB="76200"/>
                </a:tc>
                <a:tc>
                  <a:txBody>
                    <a:bodyPr/>
                    <a:lstStyle/>
                    <a:p>
                      <a:pPr algn="l" fontAlgn="t"/>
                      <a:r>
                        <a:rPr lang="en-US" sz="1400">
                          <a:solidFill>
                            <a:srgbClr val="000000"/>
                          </a:solidFill>
                          <a:effectLst/>
                          <a:latin typeface="verdana" panose="020B0604030504040204" pitchFamily="34" charset="0"/>
                        </a:rPr>
                        <a:t>It opens the file to read and write both in binary format. The file pointer exists at the beginning of the file.</a:t>
                      </a:r>
                    </a:p>
                  </a:txBody>
                  <a:tcPr marL="76200" marR="76200" marT="76200" marB="76200"/>
                </a:tc>
              </a:tr>
              <a:tr h="370840">
                <a:tc>
                  <a:txBody>
                    <a:bodyPr/>
                    <a:lstStyle/>
                    <a:p>
                      <a:pPr algn="l" fontAlgn="t"/>
                      <a:r>
                        <a:rPr lang="en-US" sz="1400" dirty="0">
                          <a:solidFill>
                            <a:srgbClr val="000000"/>
                          </a:solidFill>
                          <a:effectLst/>
                          <a:latin typeface="verdana" panose="020B0604030504040204" pitchFamily="34" charset="0"/>
                        </a:rPr>
                        <a:t>5</a:t>
                      </a:r>
                    </a:p>
                  </a:txBody>
                  <a:tcPr marL="76200" marR="76200" marT="76200" marB="76200"/>
                </a:tc>
                <a:tc>
                  <a:txBody>
                    <a:bodyPr/>
                    <a:lstStyle/>
                    <a:p>
                      <a:pPr algn="l" fontAlgn="t"/>
                      <a:r>
                        <a:rPr lang="en-US" sz="1400" dirty="0">
                          <a:solidFill>
                            <a:srgbClr val="000000"/>
                          </a:solidFill>
                          <a:effectLst/>
                          <a:latin typeface="verdana" panose="020B0604030504040204" pitchFamily="34" charset="0"/>
                        </a:rPr>
                        <a:t>w</a:t>
                      </a:r>
                    </a:p>
                  </a:txBody>
                  <a:tcPr marL="76200" marR="76200" marT="76200" marB="76200"/>
                </a:tc>
                <a:tc>
                  <a:txBody>
                    <a:bodyPr/>
                    <a:lstStyle/>
                    <a:p>
                      <a:pPr algn="l" fontAlgn="t"/>
                      <a:r>
                        <a:rPr lang="en-US" sz="1400">
                          <a:solidFill>
                            <a:srgbClr val="000000"/>
                          </a:solidFill>
                          <a:effectLst/>
                          <a:latin typeface="verdana" panose="020B0604030504040204" pitchFamily="34" charset="0"/>
                        </a:rPr>
                        <a:t>It opens the file to write only. It overwrites the file if previously exists or creates a new one if no file exists with the same name. The file pointer exists at the beginning of the file.</a:t>
                      </a:r>
                    </a:p>
                  </a:txBody>
                  <a:tcPr marL="76200" marR="76200" marT="76200" marB="76200"/>
                </a:tc>
              </a:tr>
              <a:tr h="370840">
                <a:tc>
                  <a:txBody>
                    <a:bodyPr/>
                    <a:lstStyle/>
                    <a:p>
                      <a:pPr algn="l" fontAlgn="t"/>
                      <a:r>
                        <a:rPr lang="en-US" sz="1400">
                          <a:solidFill>
                            <a:srgbClr val="000000"/>
                          </a:solidFill>
                          <a:effectLst/>
                          <a:latin typeface="verdana" panose="020B0604030504040204" pitchFamily="34" charset="0"/>
                        </a:rPr>
                        <a:t>6</a:t>
                      </a:r>
                    </a:p>
                  </a:txBody>
                  <a:tcPr marL="76200" marR="76200" marT="76200" marB="76200"/>
                </a:tc>
                <a:tc>
                  <a:txBody>
                    <a:bodyPr/>
                    <a:lstStyle/>
                    <a:p>
                      <a:pPr algn="l" fontAlgn="t"/>
                      <a:r>
                        <a:rPr lang="en-US" sz="1400" dirty="0" err="1">
                          <a:solidFill>
                            <a:srgbClr val="000000"/>
                          </a:solidFill>
                          <a:effectLst/>
                          <a:latin typeface="verdana" panose="020B0604030504040204" pitchFamily="34" charset="0"/>
                        </a:rPr>
                        <a:t>wb</a:t>
                      </a:r>
                      <a:endParaRPr lang="en-US" sz="1400" dirty="0">
                        <a:solidFill>
                          <a:srgbClr val="000000"/>
                        </a:solidFill>
                        <a:effectLst/>
                        <a:latin typeface="verdana" panose="020B0604030504040204" pitchFamily="34" charset="0"/>
                      </a:endParaRPr>
                    </a:p>
                  </a:txBody>
                  <a:tcPr marL="76200" marR="76200" marT="76200" marB="76200"/>
                </a:tc>
                <a:tc>
                  <a:txBody>
                    <a:bodyPr/>
                    <a:lstStyle/>
                    <a:p>
                      <a:pPr algn="l" fontAlgn="t"/>
                      <a:r>
                        <a:rPr lang="en-US" sz="1400" dirty="0">
                          <a:solidFill>
                            <a:srgbClr val="000000"/>
                          </a:solidFill>
                          <a:effectLst/>
                          <a:latin typeface="verdana" panose="020B0604030504040204" pitchFamily="34" charset="0"/>
                        </a:rPr>
                        <a:t>It opens the file to write only in binary format. It overwrites the file if it exists previously or creates a new one if no file exists. The file pointer exists at the beginning of the file.</a:t>
                      </a:r>
                    </a:p>
                  </a:txBody>
                  <a:tcPr marL="76200" marR="76200" marT="76200" marB="76200"/>
                </a:tc>
              </a:tr>
              <a:tr h="370840">
                <a:tc>
                  <a:txBody>
                    <a:bodyPr/>
                    <a:lstStyle/>
                    <a:p>
                      <a:pPr algn="l" fontAlgn="t"/>
                      <a:r>
                        <a:rPr lang="en-US" sz="1400">
                          <a:solidFill>
                            <a:srgbClr val="000000"/>
                          </a:solidFill>
                          <a:effectLst/>
                          <a:latin typeface="verdana" panose="020B0604030504040204" pitchFamily="34" charset="0"/>
                        </a:rPr>
                        <a:t>7</a:t>
                      </a:r>
                    </a:p>
                  </a:txBody>
                  <a:tcPr marL="76200" marR="76200" marT="76200" marB="76200"/>
                </a:tc>
                <a:tc>
                  <a:txBody>
                    <a:bodyPr/>
                    <a:lstStyle/>
                    <a:p>
                      <a:pPr algn="l" fontAlgn="t"/>
                      <a:r>
                        <a:rPr lang="en-US" sz="1400">
                          <a:solidFill>
                            <a:srgbClr val="000000"/>
                          </a:solidFill>
                          <a:effectLst/>
                          <a:latin typeface="verdana" panose="020B0604030504040204" pitchFamily="34" charset="0"/>
                        </a:rPr>
                        <a:t>w+</a:t>
                      </a:r>
                    </a:p>
                  </a:txBody>
                  <a:tcPr marL="76200" marR="76200" marT="76200" marB="76200"/>
                </a:tc>
                <a:tc>
                  <a:txBody>
                    <a:bodyPr/>
                    <a:lstStyle/>
                    <a:p>
                      <a:pPr algn="l" fontAlgn="t"/>
                      <a:r>
                        <a:rPr lang="en-US" sz="1400" dirty="0">
                          <a:solidFill>
                            <a:srgbClr val="000000"/>
                          </a:solidFill>
                          <a:effectLst/>
                          <a:latin typeface="verdana" panose="020B0604030504040204" pitchFamily="34" charset="0"/>
                        </a:rPr>
                        <a:t>It opens the file to write and read both. It is different from r+ in the sense that it overwrites the previous file if one exists whereas r+ doesn't overwrite the previously written file. It creates a new file if no file exists. The file pointer exists at the beginning of the file.</a:t>
                      </a:r>
                    </a:p>
                  </a:txBody>
                  <a:tcPr marL="76200" marR="76200" marT="76200" marB="76200"/>
                </a:tc>
              </a:tr>
              <a:tr h="370840">
                <a:tc>
                  <a:txBody>
                    <a:bodyPr/>
                    <a:lstStyle/>
                    <a:p>
                      <a:endParaRPr lang="en-US" sz="1400"/>
                    </a:p>
                  </a:txBody>
                  <a:tcPr/>
                </a:tc>
                <a:tc>
                  <a:txBody>
                    <a:bodyPr/>
                    <a:lstStyle/>
                    <a:p>
                      <a:endParaRPr lang="en-US" sz="1400"/>
                    </a:p>
                  </a:txBody>
                  <a:tcPr/>
                </a:tc>
                <a:tc>
                  <a:txBody>
                    <a:bodyPr/>
                    <a:lstStyle/>
                    <a:p>
                      <a:endParaRPr lang="en-US" sz="1400" dirty="0"/>
                    </a:p>
                  </a:txBody>
                  <a:tcPr/>
                </a:tc>
              </a:tr>
              <a:tr h="370840">
                <a:tc>
                  <a:txBody>
                    <a:bodyPr/>
                    <a:lstStyle/>
                    <a:p>
                      <a:endParaRPr lang="en-US"/>
                    </a:p>
                  </a:txBody>
                  <a:tcPr/>
                </a:tc>
                <a:tc>
                  <a:txBody>
                    <a:bodyPr/>
                    <a:lstStyle/>
                    <a:p>
                      <a:endParaRPr lang="en-US"/>
                    </a:p>
                  </a:txBody>
                  <a:tcPr/>
                </a:tc>
                <a:tc>
                  <a:txBody>
                    <a:bodyPr/>
                    <a:lstStyle/>
                    <a:p>
                      <a:endParaRPr lang="en-US" dirty="0"/>
                    </a:p>
                  </a:txBody>
                  <a:tcPr/>
                </a:tc>
              </a:tr>
            </a:tbl>
          </a:graphicData>
        </a:graphic>
      </p:graphicFrame>
      <p:pic>
        <p:nvPicPr>
          <p:cNvPr id="3" name="Picture 2"/>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295576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866379136"/>
              </p:ext>
            </p:extLst>
          </p:nvPr>
        </p:nvGraphicFramePr>
        <p:xfrm>
          <a:off x="1257299" y="401638"/>
          <a:ext cx="10096500" cy="4942277"/>
        </p:xfrm>
        <a:graphic>
          <a:graphicData uri="http://schemas.openxmlformats.org/drawingml/2006/table">
            <a:tbl>
              <a:tblPr firstRow="1" bandRow="1">
                <a:tableStyleId>{5C22544A-7EE6-4342-B048-85BDC9FD1C3A}</a:tableStyleId>
              </a:tblPr>
              <a:tblGrid>
                <a:gridCol w="3365500"/>
                <a:gridCol w="3365500"/>
                <a:gridCol w="3365500"/>
              </a:tblGrid>
              <a:tr h="642357">
                <a:tc>
                  <a:txBody>
                    <a:bodyPr/>
                    <a:lstStyle/>
                    <a:p>
                      <a:pPr algn="l" fontAlgn="t"/>
                      <a:r>
                        <a:rPr lang="en-US" sz="1200" dirty="0">
                          <a:solidFill>
                            <a:srgbClr val="000000"/>
                          </a:solidFill>
                          <a:effectLst/>
                          <a:latin typeface="verdana" panose="020B0604030504040204" pitchFamily="34" charset="0"/>
                        </a:rPr>
                        <a:t>8</a:t>
                      </a:r>
                    </a:p>
                  </a:txBody>
                  <a:tcPr marL="76200" marR="76200" marT="76200" marB="76200"/>
                </a:tc>
                <a:tc>
                  <a:txBody>
                    <a:bodyPr/>
                    <a:lstStyle/>
                    <a:p>
                      <a:pPr algn="l" fontAlgn="t"/>
                      <a:r>
                        <a:rPr lang="en-US" sz="1200">
                          <a:solidFill>
                            <a:srgbClr val="000000"/>
                          </a:solidFill>
                          <a:effectLst/>
                          <a:latin typeface="verdana" panose="020B0604030504040204" pitchFamily="34" charset="0"/>
                        </a:rPr>
                        <a:t>wb+</a:t>
                      </a:r>
                    </a:p>
                  </a:txBody>
                  <a:tcPr marL="76200" marR="76200" marT="76200" marB="76200"/>
                </a:tc>
                <a:tc>
                  <a:txBody>
                    <a:bodyPr/>
                    <a:lstStyle/>
                    <a:p>
                      <a:pPr algn="l" fontAlgn="t"/>
                      <a:r>
                        <a:rPr lang="en-US" sz="1200">
                          <a:solidFill>
                            <a:srgbClr val="000000"/>
                          </a:solidFill>
                          <a:effectLst/>
                          <a:latin typeface="verdana" panose="020B0604030504040204" pitchFamily="34" charset="0"/>
                        </a:rPr>
                        <a:t>It opens the file to write and read both in binary format. The file pointer exists at the beginning of the file.</a:t>
                      </a:r>
                    </a:p>
                  </a:txBody>
                  <a:tcPr marL="76200" marR="76200" marT="76200" marB="76200"/>
                </a:tc>
              </a:tr>
              <a:tr h="977499">
                <a:tc>
                  <a:txBody>
                    <a:bodyPr/>
                    <a:lstStyle/>
                    <a:p>
                      <a:pPr algn="l" fontAlgn="t"/>
                      <a:r>
                        <a:rPr lang="en-US" sz="1200" dirty="0">
                          <a:solidFill>
                            <a:srgbClr val="000000"/>
                          </a:solidFill>
                          <a:effectLst/>
                          <a:latin typeface="verdana" panose="020B0604030504040204" pitchFamily="34" charset="0"/>
                        </a:rPr>
                        <a:t>9</a:t>
                      </a:r>
                    </a:p>
                  </a:txBody>
                  <a:tcPr marL="76200" marR="76200" marT="76200" marB="76200"/>
                </a:tc>
                <a:tc>
                  <a:txBody>
                    <a:bodyPr/>
                    <a:lstStyle/>
                    <a:p>
                      <a:pPr algn="l" fontAlgn="t"/>
                      <a:r>
                        <a:rPr lang="en-US" sz="1200" dirty="0">
                          <a:solidFill>
                            <a:srgbClr val="000000"/>
                          </a:solidFill>
                          <a:effectLst/>
                          <a:latin typeface="verdana" panose="020B0604030504040204" pitchFamily="34" charset="0"/>
                        </a:rPr>
                        <a:t>a</a:t>
                      </a:r>
                    </a:p>
                  </a:txBody>
                  <a:tcPr marL="76200" marR="76200" marT="76200" marB="76200"/>
                </a:tc>
                <a:tc>
                  <a:txBody>
                    <a:bodyPr/>
                    <a:lstStyle/>
                    <a:p>
                      <a:pPr algn="l" fontAlgn="t"/>
                      <a:r>
                        <a:rPr lang="en-US" sz="1200">
                          <a:solidFill>
                            <a:srgbClr val="000000"/>
                          </a:solidFill>
                          <a:effectLst/>
                          <a:latin typeface="verdana" panose="020B0604030504040204" pitchFamily="34" charset="0"/>
                        </a:rPr>
                        <a:t>It opens the file in the append mode. The file pointer exists at the end of the previously written file if exists any. It creates a new file if no file exists with the same name.</a:t>
                      </a:r>
                    </a:p>
                  </a:txBody>
                  <a:tcPr marL="76200" marR="76200" marT="76200" marB="76200"/>
                </a:tc>
              </a:tr>
              <a:tr h="977499">
                <a:tc>
                  <a:txBody>
                    <a:bodyPr/>
                    <a:lstStyle/>
                    <a:p>
                      <a:pPr algn="l" fontAlgn="t"/>
                      <a:r>
                        <a:rPr lang="en-US" sz="1200" dirty="0">
                          <a:solidFill>
                            <a:srgbClr val="000000"/>
                          </a:solidFill>
                          <a:effectLst/>
                          <a:latin typeface="verdana" panose="020B0604030504040204" pitchFamily="34" charset="0"/>
                        </a:rPr>
                        <a:t>10</a:t>
                      </a:r>
                    </a:p>
                  </a:txBody>
                  <a:tcPr marL="76200" marR="76200" marT="76200" marB="76200"/>
                </a:tc>
                <a:tc>
                  <a:txBody>
                    <a:bodyPr/>
                    <a:lstStyle/>
                    <a:p>
                      <a:pPr algn="l" fontAlgn="t"/>
                      <a:r>
                        <a:rPr lang="en-US" sz="1200" dirty="0" err="1">
                          <a:solidFill>
                            <a:srgbClr val="000000"/>
                          </a:solidFill>
                          <a:effectLst/>
                          <a:latin typeface="verdana" panose="020B0604030504040204" pitchFamily="34" charset="0"/>
                        </a:rPr>
                        <a:t>ab</a:t>
                      </a:r>
                      <a:endParaRPr lang="en-US" sz="1200" dirty="0">
                        <a:solidFill>
                          <a:srgbClr val="000000"/>
                        </a:solidFill>
                        <a:effectLst/>
                        <a:latin typeface="verdana" panose="020B0604030504040204" pitchFamily="34" charset="0"/>
                      </a:endParaRPr>
                    </a:p>
                  </a:txBody>
                  <a:tcPr marL="76200" marR="76200" marT="76200" marB="76200"/>
                </a:tc>
                <a:tc>
                  <a:txBody>
                    <a:bodyPr/>
                    <a:lstStyle/>
                    <a:p>
                      <a:pPr algn="l" fontAlgn="t"/>
                      <a:r>
                        <a:rPr lang="en-US" sz="1200" dirty="0">
                          <a:solidFill>
                            <a:srgbClr val="000000"/>
                          </a:solidFill>
                          <a:effectLst/>
                          <a:latin typeface="verdana" panose="020B0604030504040204" pitchFamily="34" charset="0"/>
                        </a:rPr>
                        <a:t>It opens the file in the append mode in binary format. The pointer exists at the end of the previously written file. It creates a new file in binary format if no file exists with the same name.</a:t>
                      </a:r>
                    </a:p>
                  </a:txBody>
                  <a:tcPr marL="76200" marR="76200" marT="76200" marB="76200"/>
                </a:tc>
              </a:tr>
              <a:tr h="809928">
                <a:tc>
                  <a:txBody>
                    <a:bodyPr/>
                    <a:lstStyle/>
                    <a:p>
                      <a:pPr algn="l" fontAlgn="t"/>
                      <a:r>
                        <a:rPr lang="en-US" sz="1200">
                          <a:solidFill>
                            <a:srgbClr val="000000"/>
                          </a:solidFill>
                          <a:effectLst/>
                          <a:latin typeface="verdana" panose="020B0604030504040204" pitchFamily="34" charset="0"/>
                        </a:rPr>
                        <a:t>11</a:t>
                      </a:r>
                    </a:p>
                  </a:txBody>
                  <a:tcPr marL="76200" marR="76200" marT="76200" marB="76200"/>
                </a:tc>
                <a:tc>
                  <a:txBody>
                    <a:bodyPr/>
                    <a:lstStyle/>
                    <a:p>
                      <a:pPr algn="l" fontAlgn="t"/>
                      <a:r>
                        <a:rPr lang="en-US" sz="1200" dirty="0">
                          <a:solidFill>
                            <a:srgbClr val="000000"/>
                          </a:solidFill>
                          <a:effectLst/>
                          <a:latin typeface="verdana" panose="020B0604030504040204" pitchFamily="34" charset="0"/>
                        </a:rPr>
                        <a:t>a+</a:t>
                      </a:r>
                    </a:p>
                  </a:txBody>
                  <a:tcPr marL="76200" marR="76200" marT="76200" marB="76200"/>
                </a:tc>
                <a:tc>
                  <a:txBody>
                    <a:bodyPr/>
                    <a:lstStyle/>
                    <a:p>
                      <a:pPr algn="l" fontAlgn="t"/>
                      <a:r>
                        <a:rPr lang="en-US" sz="1200" dirty="0">
                          <a:solidFill>
                            <a:srgbClr val="000000"/>
                          </a:solidFill>
                          <a:effectLst/>
                          <a:latin typeface="verdana" panose="020B0604030504040204" pitchFamily="34" charset="0"/>
                        </a:rPr>
                        <a:t>It opens a file to append and read both. The file pointer remains at the end of the file if a file exists. It creates a new file if no file exists with the same name.</a:t>
                      </a:r>
                    </a:p>
                  </a:txBody>
                  <a:tcPr marL="76200" marR="76200" marT="76200" marB="76200"/>
                </a:tc>
              </a:tr>
              <a:tr h="642357">
                <a:tc>
                  <a:txBody>
                    <a:bodyPr/>
                    <a:lstStyle/>
                    <a:p>
                      <a:pPr algn="l" fontAlgn="t"/>
                      <a:r>
                        <a:rPr lang="en-US" sz="1200">
                          <a:solidFill>
                            <a:srgbClr val="000000"/>
                          </a:solidFill>
                          <a:effectLst/>
                          <a:latin typeface="verdana" panose="020B0604030504040204" pitchFamily="34" charset="0"/>
                        </a:rPr>
                        <a:t>12</a:t>
                      </a:r>
                    </a:p>
                  </a:txBody>
                  <a:tcPr marL="76200" marR="76200" marT="76200" marB="76200"/>
                </a:tc>
                <a:tc>
                  <a:txBody>
                    <a:bodyPr/>
                    <a:lstStyle/>
                    <a:p>
                      <a:pPr algn="l" fontAlgn="t"/>
                      <a:r>
                        <a:rPr lang="en-US" sz="1200">
                          <a:solidFill>
                            <a:srgbClr val="000000"/>
                          </a:solidFill>
                          <a:effectLst/>
                          <a:latin typeface="verdana" panose="020B0604030504040204" pitchFamily="34" charset="0"/>
                        </a:rPr>
                        <a:t>ab+</a:t>
                      </a:r>
                    </a:p>
                  </a:txBody>
                  <a:tcPr marL="76200" marR="76200" marT="76200" marB="76200"/>
                </a:tc>
                <a:tc>
                  <a:txBody>
                    <a:bodyPr/>
                    <a:lstStyle/>
                    <a:p>
                      <a:pPr algn="l" fontAlgn="t"/>
                      <a:r>
                        <a:rPr lang="en-US" sz="1200" dirty="0">
                          <a:solidFill>
                            <a:srgbClr val="000000"/>
                          </a:solidFill>
                          <a:effectLst/>
                          <a:latin typeface="verdana" panose="020B0604030504040204" pitchFamily="34" charset="0"/>
                        </a:rPr>
                        <a:t>It opens a file to append and read both in binary format. The file pointer remains at the end of the file.</a:t>
                      </a:r>
                    </a:p>
                  </a:txBody>
                  <a:tcPr marL="76200" marR="76200" marT="76200" marB="76200"/>
                </a:tc>
              </a:tr>
              <a:tr h="339797">
                <a:tc>
                  <a:txBody>
                    <a:bodyPr/>
                    <a:lstStyle/>
                    <a:p>
                      <a:endParaRPr lang="en-US" sz="1200" dirty="0"/>
                    </a:p>
                  </a:txBody>
                  <a:tcPr/>
                </a:tc>
                <a:tc>
                  <a:txBody>
                    <a:bodyPr/>
                    <a:lstStyle/>
                    <a:p>
                      <a:endParaRPr lang="en-US" sz="1200"/>
                    </a:p>
                  </a:txBody>
                  <a:tcPr/>
                </a:tc>
                <a:tc>
                  <a:txBody>
                    <a:bodyPr/>
                    <a:lstStyle/>
                    <a:p>
                      <a:endParaRPr lang="en-US" sz="1200" dirty="0"/>
                    </a:p>
                  </a:txBody>
                  <a:tcPr/>
                </a:tc>
              </a:tr>
            </a:tbl>
          </a:graphicData>
        </a:graphic>
      </p:graphicFrame>
      <p:pic>
        <p:nvPicPr>
          <p:cNvPr id="3" name="Picture 2"/>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733476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Let's look at the simple example to open a file named "file.txt" (stored in the same directory) in read mode and printing its content on the console.</a:t>
            </a:r>
          </a:p>
          <a:p>
            <a:r>
              <a:rPr lang="en-US" dirty="0" smtClean="0"/>
              <a:t>Example</a:t>
            </a:r>
          </a:p>
          <a:p>
            <a:r>
              <a:rPr lang="en-US" dirty="0" smtClean="0"/>
              <a:t>#opens the file file.txt in read mode    </a:t>
            </a:r>
          </a:p>
          <a:p>
            <a:r>
              <a:rPr lang="en-US" dirty="0" smtClean="0"/>
              <a:t>fileptr = open("</a:t>
            </a:r>
            <a:r>
              <a:rPr lang="en-US" dirty="0" err="1" smtClean="0"/>
              <a:t>file.txt","r</a:t>
            </a:r>
            <a:r>
              <a:rPr lang="en-US" dirty="0" smtClean="0"/>
              <a:t>")    </a:t>
            </a:r>
          </a:p>
          <a:p>
            <a:r>
              <a:rPr lang="en-US" dirty="0" smtClean="0"/>
              <a:t>    </a:t>
            </a:r>
          </a:p>
          <a:p>
            <a:r>
              <a:rPr lang="en-US" dirty="0" smtClean="0"/>
              <a:t>if fileptr:    </a:t>
            </a:r>
          </a:p>
          <a:p>
            <a:r>
              <a:rPr lang="en-US" dirty="0" smtClean="0"/>
              <a:t>    print("file is opened successfully")    </a:t>
            </a:r>
          </a:p>
          <a:p>
            <a:r>
              <a:rPr lang="en-US" dirty="0" smtClean="0"/>
              <a:t>Output:</a:t>
            </a:r>
          </a:p>
          <a:p>
            <a:endParaRPr lang="en-US" dirty="0" smtClean="0"/>
          </a:p>
          <a:p>
            <a:r>
              <a:rPr lang="en-US" dirty="0" smtClean="0"/>
              <a:t>&lt;class '_</a:t>
            </a:r>
            <a:r>
              <a:rPr lang="en-US" dirty="0" err="1" smtClean="0"/>
              <a:t>io.TextIOWrapper</a:t>
            </a:r>
            <a:r>
              <a:rPr lang="en-US" dirty="0" smtClean="0"/>
              <a:t>'&gt;</a:t>
            </a:r>
          </a:p>
          <a:p>
            <a:r>
              <a:rPr lang="en-US" dirty="0" smtClean="0"/>
              <a:t>file is opened successfully</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40153968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In the above code, we have passed filename as a first argument and opened file in read mode as we mentioned r as the second argument. The fileptr holds the file object and if the file is opened successfully, it will execute the print statement</a:t>
            </a:r>
          </a:p>
          <a:p>
            <a:r>
              <a:rPr lang="en-US" dirty="0"/>
              <a:t>The close() method</a:t>
            </a:r>
          </a:p>
          <a:p>
            <a:r>
              <a:rPr lang="en-US" dirty="0"/>
              <a:t>Once all the operations are done on the file, we must close it through our Python script using the </a:t>
            </a:r>
            <a:r>
              <a:rPr lang="en-US" b="1" dirty="0"/>
              <a:t>close()</a:t>
            </a:r>
            <a:r>
              <a:rPr lang="en-US" dirty="0"/>
              <a:t> method. Any unwritten information gets destroyed once the </a:t>
            </a:r>
            <a:r>
              <a:rPr lang="en-US" b="1" dirty="0"/>
              <a:t>close()</a:t>
            </a:r>
            <a:r>
              <a:rPr lang="en-US" dirty="0"/>
              <a:t> method is called on a file object.</a:t>
            </a:r>
          </a:p>
          <a:p>
            <a:r>
              <a:rPr lang="en-US" dirty="0"/>
              <a:t>We can perform any operation on the file externally using the file system which is the currently opened in Python; hence it is good practice to close the file once all the operations are done.</a:t>
            </a:r>
          </a:p>
          <a:p>
            <a:r>
              <a:rPr lang="en-US" dirty="0"/>
              <a:t>The syntax to use the </a:t>
            </a:r>
            <a:r>
              <a:rPr lang="en-US" b="1" dirty="0"/>
              <a:t>close()</a:t>
            </a:r>
            <a:r>
              <a:rPr lang="en-US" dirty="0"/>
              <a:t> method is given below</a:t>
            </a:r>
          </a:p>
          <a:p>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655605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smtClean="0"/>
              <a:t>Syntax</a:t>
            </a:r>
          </a:p>
          <a:p>
            <a:endParaRPr lang="en-US" dirty="0" smtClean="0"/>
          </a:p>
          <a:p>
            <a:r>
              <a:rPr lang="en-US" dirty="0" err="1" smtClean="0"/>
              <a:t>fileobject.close</a:t>
            </a:r>
            <a:r>
              <a:rPr lang="en-US" dirty="0" smtClean="0"/>
              <a:t>()   </a:t>
            </a:r>
          </a:p>
          <a:p>
            <a:r>
              <a:rPr lang="en-US" dirty="0" smtClean="0"/>
              <a:t>Consider the following example.</a:t>
            </a:r>
          </a:p>
          <a:p>
            <a:endParaRPr lang="en-US" dirty="0" smtClean="0"/>
          </a:p>
          <a:p>
            <a:r>
              <a:rPr lang="en-US" dirty="0" smtClean="0"/>
              <a:t># opens the file file.txt in read mode    </a:t>
            </a:r>
          </a:p>
          <a:p>
            <a:r>
              <a:rPr lang="en-US" dirty="0" smtClean="0"/>
              <a:t>fileptr = open("</a:t>
            </a:r>
            <a:r>
              <a:rPr lang="en-US" dirty="0" err="1" smtClean="0"/>
              <a:t>file.txt","r</a:t>
            </a:r>
            <a:r>
              <a:rPr lang="en-US" dirty="0" smtClean="0"/>
              <a:t>")    </a:t>
            </a:r>
          </a:p>
          <a:p>
            <a:r>
              <a:rPr lang="en-US" dirty="0" smtClean="0"/>
              <a:t>    </a:t>
            </a:r>
          </a:p>
          <a:p>
            <a:r>
              <a:rPr lang="en-US" dirty="0" smtClean="0"/>
              <a:t>if fileptr:    </a:t>
            </a:r>
          </a:p>
          <a:p>
            <a:r>
              <a:rPr lang="en-US" dirty="0" smtClean="0"/>
              <a:t>    print("file is opened successfully")    </a:t>
            </a:r>
          </a:p>
          <a:p>
            <a:r>
              <a:rPr lang="en-US" dirty="0" smtClean="0"/>
              <a:t>    </a:t>
            </a:r>
          </a:p>
          <a:p>
            <a:r>
              <a:rPr lang="en-US" dirty="0" smtClean="0"/>
              <a:t>#closes the opened file    </a:t>
            </a:r>
          </a:p>
          <a:p>
            <a:r>
              <a:rPr lang="en-US" dirty="0" err="1" smtClean="0"/>
              <a:t>fileptr.close</a:t>
            </a:r>
            <a:r>
              <a:rPr lang="en-US" dirty="0" smtClean="0"/>
              <a:t>()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551155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After closing the file, we cannot perform any operation in the file. The file needs to be properly closed. If any exception occurs while performing some operations in the file then the program terminates without closing the file.</a:t>
            </a:r>
          </a:p>
          <a:p>
            <a:endParaRPr lang="en-US" dirty="0" smtClean="0"/>
          </a:p>
          <a:p>
            <a:r>
              <a:rPr lang="en-US" dirty="0" smtClean="0"/>
              <a:t>We should use the following method to overcome such type of problem.</a:t>
            </a:r>
          </a:p>
          <a:p>
            <a:endParaRPr lang="en-US" dirty="0" smtClean="0"/>
          </a:p>
          <a:p>
            <a:r>
              <a:rPr lang="en-US" dirty="0" smtClean="0"/>
              <a:t>try:  </a:t>
            </a:r>
          </a:p>
          <a:p>
            <a:r>
              <a:rPr lang="en-US" dirty="0" smtClean="0"/>
              <a:t>   fileptr = open("file.txt")  </a:t>
            </a:r>
          </a:p>
          <a:p>
            <a:r>
              <a:rPr lang="en-US" dirty="0" smtClean="0"/>
              <a:t>   # perform file operations  </a:t>
            </a:r>
          </a:p>
          <a:p>
            <a:r>
              <a:rPr lang="en-US" dirty="0" smtClean="0"/>
              <a:t>finally:  </a:t>
            </a:r>
          </a:p>
          <a:p>
            <a:r>
              <a:rPr lang="en-US" dirty="0" smtClean="0"/>
              <a:t>   </a:t>
            </a:r>
            <a:r>
              <a:rPr lang="en-US" dirty="0" err="1" smtClean="0"/>
              <a:t>fileptr.close</a:t>
            </a:r>
            <a:r>
              <a:rPr lang="en-US" dirty="0" smtClean="0"/>
              <a:t>()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54825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with statement</a:t>
            </a:r>
            <a:br>
              <a:rPr lang="en-US" dirty="0" smtClean="0"/>
            </a:b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The with statement was introduced in python 2.5. The with statement is useful in the case of manipulating the files. It is used in the scenario where a pair of statements is to be executed with a block of code in between.</a:t>
            </a:r>
          </a:p>
          <a:p>
            <a:endParaRPr lang="en-US" dirty="0" smtClean="0"/>
          </a:p>
          <a:p>
            <a:r>
              <a:rPr lang="en-US" dirty="0" smtClean="0"/>
              <a:t>The syntax to open a file using with the statement is given below.</a:t>
            </a:r>
          </a:p>
          <a:p>
            <a:endParaRPr lang="en-US" dirty="0" smtClean="0"/>
          </a:p>
          <a:p>
            <a:r>
              <a:rPr lang="en-US" dirty="0" smtClean="0"/>
              <a:t>with open(&lt;file name&gt;, &lt;access mode&gt;) as &lt;file-pointer&gt;:    </a:t>
            </a:r>
          </a:p>
          <a:p>
            <a:r>
              <a:rPr lang="en-US" dirty="0" smtClean="0"/>
              <a:t>    #statement suite     </a:t>
            </a:r>
          </a:p>
          <a:p>
            <a:r>
              <a:rPr lang="en-US" dirty="0" smtClean="0"/>
              <a:t>The advantage of using with statement is that it provides the guarantee to close the file regardless of how the nested block exits.</a:t>
            </a:r>
          </a:p>
          <a:p>
            <a:endParaRPr lang="en-US" dirty="0" smtClean="0"/>
          </a:p>
          <a:p>
            <a:r>
              <a:rPr lang="en-US" dirty="0" smtClean="0"/>
              <a:t>It is always suggestible to use the with statement in the case of files because, if the break, return, or exception occurs in the nested block of code then it automatically closes the file, we don't need to write the close() function. It doesn't let the file to corrupt.</a:t>
            </a:r>
          </a:p>
          <a:p>
            <a:endParaRPr lang="en-US" dirty="0" smtClean="0"/>
          </a:p>
          <a:p>
            <a:r>
              <a:rPr lang="en-US" dirty="0" smtClean="0"/>
              <a:t>Consider the following example.</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605320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Example</a:t>
            </a:r>
          </a:p>
          <a:p>
            <a:r>
              <a:rPr lang="en-US" dirty="0" smtClean="0"/>
              <a:t>with open("</a:t>
            </a:r>
            <a:r>
              <a:rPr lang="en-US" dirty="0" err="1" smtClean="0"/>
              <a:t>file.txt",'r</a:t>
            </a:r>
            <a:r>
              <a:rPr lang="en-US" dirty="0" smtClean="0"/>
              <a:t>') as f:    </a:t>
            </a:r>
          </a:p>
          <a:p>
            <a:r>
              <a:rPr lang="en-US" dirty="0" smtClean="0"/>
              <a:t>    content = </a:t>
            </a:r>
            <a:r>
              <a:rPr lang="en-US" dirty="0" err="1" smtClean="0"/>
              <a:t>f.read</a:t>
            </a:r>
            <a:r>
              <a:rPr lang="en-US" dirty="0" smtClean="0"/>
              <a:t>();    </a:t>
            </a:r>
          </a:p>
          <a:p>
            <a:r>
              <a:rPr lang="en-US" dirty="0" smtClean="0"/>
              <a:t>    print(content)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402288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the file</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To write some text to a file, we need to open the file using the open method with one of the following access modes.</a:t>
            </a:r>
          </a:p>
          <a:p>
            <a:endParaRPr lang="en-US" dirty="0" smtClean="0"/>
          </a:p>
          <a:p>
            <a:r>
              <a:rPr lang="en-US" dirty="0" smtClean="0"/>
              <a:t>w: It will overwrite the file if any file exists. The file pointer is at the beginning of the file.</a:t>
            </a:r>
          </a:p>
          <a:p>
            <a:endParaRPr lang="en-US" dirty="0" smtClean="0"/>
          </a:p>
          <a:p>
            <a:r>
              <a:rPr lang="en-US" dirty="0" smtClean="0"/>
              <a:t>a: It will append the existing file. The file pointer is at the end of the file. It creates a new file if no file exists.</a:t>
            </a:r>
          </a:p>
          <a:p>
            <a:endParaRPr lang="en-US" dirty="0" smtClean="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535361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Consider the following example.</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Example</a:t>
            </a:r>
          </a:p>
          <a:p>
            <a:r>
              <a:rPr lang="en-US" dirty="0" smtClean="0"/>
              <a:t># open the file.txt in append mode. Create a new file if no such file exists.  </a:t>
            </a:r>
          </a:p>
          <a:p>
            <a:r>
              <a:rPr lang="en-US" dirty="0" smtClean="0"/>
              <a:t>fileptr = open("file2.txt", "w")  </a:t>
            </a:r>
          </a:p>
          <a:p>
            <a:r>
              <a:rPr lang="en-US" dirty="0" smtClean="0"/>
              <a:t>  </a:t>
            </a:r>
          </a:p>
          <a:p>
            <a:r>
              <a:rPr lang="en-US" dirty="0" smtClean="0"/>
              <a:t># appending the content to the file  </a:t>
            </a:r>
          </a:p>
          <a:p>
            <a:r>
              <a:rPr lang="en-US" dirty="0" err="1" smtClean="0"/>
              <a:t>fileptr.write</a:t>
            </a:r>
            <a:r>
              <a:rPr lang="en-US" dirty="0" smtClean="0"/>
              <a:t>('''''Python is the modern day language. It makes things so simple. </a:t>
            </a:r>
          </a:p>
          <a:p>
            <a:r>
              <a:rPr lang="en-US" dirty="0" smtClean="0"/>
              <a:t>It is the fastest-growing programing language''')  </a:t>
            </a:r>
          </a:p>
          <a:p>
            <a:r>
              <a:rPr lang="en-US" dirty="0" smtClean="0"/>
              <a:t>  </a:t>
            </a:r>
          </a:p>
          <a:p>
            <a:r>
              <a:rPr lang="en-US" dirty="0" smtClean="0"/>
              <a:t># closing the opened the file  </a:t>
            </a:r>
          </a:p>
          <a:p>
            <a:r>
              <a:rPr lang="en-US" dirty="0" err="1" smtClean="0"/>
              <a:t>fileptr.close</a:t>
            </a:r>
            <a:r>
              <a:rPr lang="en-US" dirty="0" smtClean="0"/>
              <a:t>()  </a:t>
            </a:r>
          </a:p>
          <a:p>
            <a:r>
              <a:rPr lang="en-US" dirty="0" smtClean="0"/>
              <a:t>Output:</a:t>
            </a:r>
          </a:p>
          <a:p>
            <a:endParaRPr lang="en-US" dirty="0" smtClean="0"/>
          </a:p>
          <a:p>
            <a:r>
              <a:rPr lang="en-US" dirty="0" smtClean="0"/>
              <a:t>File2.txt</a:t>
            </a:r>
          </a:p>
          <a:p>
            <a:endParaRPr lang="en-US" dirty="0" smtClean="0"/>
          </a:p>
          <a:p>
            <a:r>
              <a:rPr lang="en-US" dirty="0" smtClean="0"/>
              <a:t>Python is the modern-day language. It makes things so simple. It is the fastest growing programming language.</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709103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Snapshot of the file2.txt</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1971675" y="2524125"/>
            <a:ext cx="8248650" cy="1809750"/>
          </a:xfrm>
          <a:prstGeom prst="rect">
            <a:avLst/>
          </a:prstGeom>
        </p:spPr>
      </p:pic>
      <p:pic>
        <p:nvPicPr>
          <p:cNvPr id="5" name="Picture 4"/>
          <p:cNvPicPr>
            <a:picLocks noChangeAspect="1"/>
          </p:cNvPicPr>
          <p:nvPr/>
        </p:nvPicPr>
        <p:blipFill>
          <a:blip r:embed="rId3"/>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352085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6686" y="762000"/>
            <a:ext cx="10657114" cy="5414963"/>
          </a:xfrm>
        </p:spPr>
        <p:txBody>
          <a:bodyPr>
            <a:normAutofit fontScale="55000" lnSpcReduction="20000"/>
          </a:bodyPr>
          <a:lstStyle/>
          <a:p>
            <a:r>
              <a:rPr lang="en-US" dirty="0" smtClean="0"/>
              <a:t>We have opened the file in w mode. The file1.txt file doesn't exist, it created a new file and we have written the content in the file using the write() function.</a:t>
            </a:r>
          </a:p>
          <a:p>
            <a:r>
              <a:rPr lang="en-US" dirty="0" smtClean="0"/>
              <a:t>Example 2</a:t>
            </a:r>
          </a:p>
          <a:p>
            <a:r>
              <a:rPr lang="en-US" dirty="0" smtClean="0"/>
              <a:t>#open the file.txt in write mode.    </a:t>
            </a:r>
          </a:p>
          <a:p>
            <a:r>
              <a:rPr lang="en-US" dirty="0" smtClean="0"/>
              <a:t>fileptr = open("file2.txt","a")  </a:t>
            </a:r>
          </a:p>
          <a:p>
            <a:r>
              <a:rPr lang="en-US" dirty="0" smtClean="0"/>
              <a:t>    </a:t>
            </a:r>
          </a:p>
          <a:p>
            <a:r>
              <a:rPr lang="en-US" dirty="0" smtClean="0"/>
              <a:t>#overwriting the content of the file    </a:t>
            </a:r>
          </a:p>
          <a:p>
            <a:r>
              <a:rPr lang="en-US" dirty="0" err="1" smtClean="0"/>
              <a:t>fileptr.write</a:t>
            </a:r>
            <a:r>
              <a:rPr lang="en-US" dirty="0" smtClean="0"/>
              <a:t>(" Python has an easy syntax and user-friendly interaction.")    </a:t>
            </a:r>
          </a:p>
          <a:p>
            <a:r>
              <a:rPr lang="en-US" dirty="0" smtClean="0"/>
              <a:t>      </a:t>
            </a:r>
          </a:p>
          <a:p>
            <a:r>
              <a:rPr lang="en-US" dirty="0" smtClean="0"/>
              <a:t>#closing the opened file     </a:t>
            </a:r>
          </a:p>
          <a:p>
            <a:r>
              <a:rPr lang="en-US" dirty="0" err="1" smtClean="0"/>
              <a:t>fileptr.close</a:t>
            </a:r>
            <a:r>
              <a:rPr lang="en-US" dirty="0" smtClean="0"/>
              <a:t>()  </a:t>
            </a:r>
          </a:p>
          <a:p>
            <a:r>
              <a:rPr lang="en-US" dirty="0" smtClean="0"/>
              <a:t>Output:</a:t>
            </a:r>
          </a:p>
          <a:p>
            <a:endParaRPr lang="en-US" dirty="0" smtClean="0"/>
          </a:p>
          <a:p>
            <a:r>
              <a:rPr lang="en-US" dirty="0" smtClean="0"/>
              <a:t>Python is the modern day language. It makes things so simple.</a:t>
            </a:r>
          </a:p>
          <a:p>
            <a:r>
              <a:rPr lang="en-US" dirty="0" smtClean="0"/>
              <a:t>It is the fastest growing programing language Python has an easy syntax and user-friendly interaction.</a:t>
            </a:r>
          </a:p>
          <a:p>
            <a:r>
              <a:rPr lang="en-US" dirty="0" smtClean="0"/>
              <a:t>Output:</a:t>
            </a:r>
          </a:p>
          <a:p>
            <a:endParaRPr lang="en-US" dirty="0" smtClean="0"/>
          </a:p>
          <a:p>
            <a:r>
              <a:rPr lang="en-US" dirty="0" smtClean="0"/>
              <a:t>Python is the modern day language. It makes things so simple.</a:t>
            </a:r>
          </a:p>
          <a:p>
            <a:r>
              <a:rPr lang="en-US" dirty="0" smtClean="0"/>
              <a:t>It is the fastest growing programing language Python has an easy syntax and user-friendly interaction.</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56402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408339" y="2265022"/>
            <a:ext cx="8286750" cy="1905000"/>
          </a:xfrm>
          <a:prstGeom prst="rect">
            <a:avLst/>
          </a:prstGeom>
        </p:spPr>
      </p:pic>
      <p:pic>
        <p:nvPicPr>
          <p:cNvPr id="5" name="Picture 4"/>
          <p:cNvPicPr>
            <a:picLocks noChangeAspect="1"/>
          </p:cNvPicPr>
          <p:nvPr/>
        </p:nvPicPr>
        <p:blipFill>
          <a:blip r:embed="rId3"/>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735615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We can see that the content of the file is modified. We have opened the file in a mode and it appended the content in the existing file2.txt.</a:t>
            </a:r>
          </a:p>
          <a:p>
            <a:endParaRPr lang="en-US" dirty="0" smtClean="0"/>
          </a:p>
          <a:p>
            <a:r>
              <a:rPr lang="en-US" dirty="0" smtClean="0"/>
              <a:t>To read a file using the Python script, the Python provides the read() method. The read() method reads a string from the file. It can read the data in the text as well as a binary format.</a:t>
            </a:r>
          </a:p>
          <a:p>
            <a:endParaRPr lang="en-US" dirty="0" smtClean="0"/>
          </a:p>
          <a:p>
            <a:r>
              <a:rPr lang="en-US" dirty="0" smtClean="0"/>
              <a:t>The syntax of the read() method is given below.</a:t>
            </a:r>
          </a:p>
          <a:p>
            <a:endParaRPr lang="en-US" dirty="0" smtClean="0"/>
          </a:p>
          <a:p>
            <a:r>
              <a:rPr lang="en-US" dirty="0" smtClean="0"/>
              <a:t>Syntax:</a:t>
            </a:r>
          </a:p>
          <a:p>
            <a:endParaRPr lang="en-US" dirty="0" smtClean="0"/>
          </a:p>
          <a:p>
            <a:r>
              <a:rPr lang="en-US" dirty="0" err="1" smtClean="0"/>
              <a:t>fileobj.read</a:t>
            </a:r>
            <a:r>
              <a:rPr lang="en-US" dirty="0" smtClean="0"/>
              <a:t>(&lt;count&gt;)    </a:t>
            </a:r>
          </a:p>
          <a:p>
            <a:r>
              <a:rPr lang="en-US" dirty="0" smtClean="0"/>
              <a:t>Here, the count is the number of bytes to be read from the file starting from the beginning of the file. If the count is not specified, then it may read the content of the file until the end.</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470112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Consider the following example.</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endParaRPr lang="en-US" dirty="0" smtClean="0"/>
          </a:p>
          <a:p>
            <a:r>
              <a:rPr lang="en-US" dirty="0" smtClean="0"/>
              <a:t>Example</a:t>
            </a:r>
          </a:p>
          <a:p>
            <a:r>
              <a:rPr lang="en-US" dirty="0" smtClean="0"/>
              <a:t>#open the file.txt in read mode. causes error if no such file exists.    </a:t>
            </a:r>
          </a:p>
          <a:p>
            <a:r>
              <a:rPr lang="en-US" dirty="0" smtClean="0"/>
              <a:t>fileptr = open("file2.txt","r")  </a:t>
            </a:r>
          </a:p>
          <a:p>
            <a:r>
              <a:rPr lang="en-US" dirty="0" smtClean="0"/>
              <a:t>#stores all the data of the file into the variable content    </a:t>
            </a:r>
          </a:p>
          <a:p>
            <a:r>
              <a:rPr lang="en-US" dirty="0" smtClean="0"/>
              <a:t>content = </a:t>
            </a:r>
            <a:r>
              <a:rPr lang="en-US" dirty="0" err="1" smtClean="0"/>
              <a:t>fileptr.read</a:t>
            </a:r>
            <a:r>
              <a:rPr lang="en-US" dirty="0" smtClean="0"/>
              <a:t>(10)   </a:t>
            </a:r>
          </a:p>
          <a:p>
            <a:r>
              <a:rPr lang="en-US" dirty="0" smtClean="0"/>
              <a:t># prints the type of the data stored in the file    </a:t>
            </a:r>
          </a:p>
          <a:p>
            <a:r>
              <a:rPr lang="en-US" dirty="0" smtClean="0"/>
              <a:t>print(type(content))      </a:t>
            </a:r>
          </a:p>
          <a:p>
            <a:r>
              <a:rPr lang="en-US" dirty="0" smtClean="0"/>
              <a:t>#prints the content of the file    </a:t>
            </a:r>
          </a:p>
          <a:p>
            <a:r>
              <a:rPr lang="en-US" dirty="0" smtClean="0"/>
              <a:t>print(content)       </a:t>
            </a:r>
          </a:p>
          <a:p>
            <a:r>
              <a:rPr lang="en-US" dirty="0" smtClean="0"/>
              <a:t>#closes the opened file    </a:t>
            </a:r>
          </a:p>
          <a:p>
            <a:r>
              <a:rPr lang="en-US" dirty="0" err="1" smtClean="0"/>
              <a:t>fileptr.close</a:t>
            </a:r>
            <a:r>
              <a:rPr lang="en-US" dirty="0" smtClean="0"/>
              <a:t>()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502774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Output:</a:t>
            </a:r>
          </a:p>
          <a:p>
            <a:endParaRPr lang="en-US" dirty="0" smtClean="0"/>
          </a:p>
          <a:p>
            <a:r>
              <a:rPr lang="en-US" dirty="0" smtClean="0"/>
              <a:t>&lt;class '</a:t>
            </a:r>
            <a:r>
              <a:rPr lang="en-US" dirty="0" err="1" smtClean="0"/>
              <a:t>str</a:t>
            </a:r>
            <a:r>
              <a:rPr lang="en-US" dirty="0" smtClean="0"/>
              <a:t>'&gt;</a:t>
            </a:r>
          </a:p>
          <a:p>
            <a:r>
              <a:rPr lang="en-US" dirty="0" smtClean="0"/>
              <a:t>Python is </a:t>
            </a:r>
          </a:p>
          <a:p>
            <a:r>
              <a:rPr lang="en-US" dirty="0" smtClean="0"/>
              <a:t>In the above code, we have read the content of file2.txt by using the read() function. We have passed count value as ten which means it will read the first ten characters from the file.</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885519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If we use the following line, then it will print all content of the file.</a:t>
            </a:r>
            <a:br>
              <a:rPr lang="en-US" dirty="0"/>
            </a:b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content = </a:t>
            </a:r>
            <a:r>
              <a:rPr lang="en-US" dirty="0" err="1" smtClean="0"/>
              <a:t>fileptr.read</a:t>
            </a:r>
            <a:r>
              <a:rPr lang="en-US" dirty="0" smtClean="0"/>
              <a:t>()  </a:t>
            </a:r>
          </a:p>
          <a:p>
            <a:r>
              <a:rPr lang="en-US" dirty="0" smtClean="0"/>
              <a:t>print(content)   </a:t>
            </a:r>
          </a:p>
          <a:p>
            <a:r>
              <a:rPr lang="en-US" dirty="0" smtClean="0"/>
              <a:t>Output:</a:t>
            </a:r>
          </a:p>
          <a:p>
            <a:endParaRPr lang="en-US" dirty="0" smtClean="0"/>
          </a:p>
          <a:p>
            <a:r>
              <a:rPr lang="en-US" dirty="0" smtClean="0"/>
              <a:t>Python is the modern-day language. It makes things so simple.</a:t>
            </a:r>
          </a:p>
          <a:p>
            <a:r>
              <a:rPr lang="en-US" dirty="0" smtClean="0"/>
              <a:t>It is the fastest-growing programing language Python has easy an syntax and user-friendly interaction.</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658906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file through for loop</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We can read the file using for loop. Consider the following example.</a:t>
            </a:r>
          </a:p>
          <a:p>
            <a:endParaRPr lang="en-US" dirty="0" smtClean="0"/>
          </a:p>
          <a:p>
            <a:r>
              <a:rPr lang="en-US" dirty="0" smtClean="0"/>
              <a:t>#open the file.txt in read mode. causes an error if no such file exists.    </a:t>
            </a:r>
          </a:p>
          <a:p>
            <a:r>
              <a:rPr lang="en-US" dirty="0" smtClean="0"/>
              <a:t>fileptr = open("file2.txt","r");     </a:t>
            </a:r>
          </a:p>
          <a:p>
            <a:r>
              <a:rPr lang="en-US" dirty="0" smtClean="0"/>
              <a:t>#running a for loop     </a:t>
            </a:r>
          </a:p>
          <a:p>
            <a:r>
              <a:rPr lang="en-US" dirty="0" smtClean="0"/>
              <a:t>for </a:t>
            </a:r>
            <a:r>
              <a:rPr lang="en-US" dirty="0" err="1" smtClean="0"/>
              <a:t>i</a:t>
            </a:r>
            <a:r>
              <a:rPr lang="en-US" dirty="0" smtClean="0"/>
              <a:t> in fileptr:    </a:t>
            </a:r>
          </a:p>
          <a:p>
            <a:r>
              <a:rPr lang="en-US" dirty="0" smtClean="0"/>
              <a:t>    print(</a:t>
            </a:r>
            <a:r>
              <a:rPr lang="en-US" dirty="0" err="1" smtClean="0"/>
              <a:t>i</a:t>
            </a:r>
            <a:r>
              <a:rPr lang="en-US" dirty="0" smtClean="0"/>
              <a:t>) # </a:t>
            </a:r>
            <a:r>
              <a:rPr lang="en-US" dirty="0" err="1" smtClean="0"/>
              <a:t>i</a:t>
            </a:r>
            <a:r>
              <a:rPr lang="en-US" dirty="0" smtClean="0"/>
              <a:t> contains each line of the file     </a:t>
            </a:r>
          </a:p>
          <a:p>
            <a:r>
              <a:rPr lang="en-US" dirty="0" smtClean="0"/>
              <a:t>Output:</a:t>
            </a:r>
          </a:p>
          <a:p>
            <a:endParaRPr lang="en-US" dirty="0" smtClean="0"/>
          </a:p>
          <a:p>
            <a:r>
              <a:rPr lang="en-US" dirty="0" smtClean="0"/>
              <a:t>Python is the modern day language.</a:t>
            </a:r>
          </a:p>
          <a:p>
            <a:endParaRPr lang="en-US" dirty="0" smtClean="0"/>
          </a:p>
          <a:p>
            <a:r>
              <a:rPr lang="en-US" dirty="0" smtClean="0"/>
              <a:t>It makes things so simple.</a:t>
            </a:r>
          </a:p>
          <a:p>
            <a:endParaRPr lang="en-US" dirty="0" smtClean="0"/>
          </a:p>
          <a:p>
            <a:r>
              <a:rPr lang="en-US" dirty="0" smtClean="0"/>
              <a:t>Python has easy syntax and user-friendly interaction.</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992669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 Lines of the file</a:t>
            </a:r>
            <a:br>
              <a:rPr lang="en-US" dirty="0" smtClean="0"/>
            </a:br>
            <a:endParaRPr lang="en-US" dirty="0"/>
          </a:p>
        </p:txBody>
      </p:sp>
      <p:sp>
        <p:nvSpPr>
          <p:cNvPr id="3" name="Content Placeholder 2"/>
          <p:cNvSpPr>
            <a:spLocks noGrp="1"/>
          </p:cNvSpPr>
          <p:nvPr>
            <p:ph idx="1"/>
          </p:nvPr>
        </p:nvSpPr>
        <p:spPr/>
        <p:txBody>
          <a:bodyPr>
            <a:normAutofit fontScale="47500" lnSpcReduction="20000"/>
          </a:bodyPr>
          <a:lstStyle/>
          <a:p>
            <a:r>
              <a:rPr lang="en-US" dirty="0" smtClean="0"/>
              <a:t>Python facilitates to read the file line by line by using a function </a:t>
            </a:r>
            <a:r>
              <a:rPr lang="en-US" dirty="0" err="1" smtClean="0"/>
              <a:t>readline</a:t>
            </a:r>
            <a:r>
              <a:rPr lang="en-US" dirty="0" smtClean="0"/>
              <a:t>() method. The </a:t>
            </a:r>
            <a:r>
              <a:rPr lang="en-US" dirty="0" err="1" smtClean="0"/>
              <a:t>readline</a:t>
            </a:r>
            <a:r>
              <a:rPr lang="en-US" dirty="0" smtClean="0"/>
              <a:t>() method reads the lines of the file from the beginning, i.e., if we use the </a:t>
            </a:r>
            <a:r>
              <a:rPr lang="en-US" dirty="0" err="1" smtClean="0"/>
              <a:t>readline</a:t>
            </a:r>
            <a:r>
              <a:rPr lang="en-US" dirty="0" smtClean="0"/>
              <a:t>() method two times, then we can get the first two lines of the file.</a:t>
            </a:r>
          </a:p>
          <a:p>
            <a:endParaRPr lang="en-US" dirty="0" smtClean="0"/>
          </a:p>
          <a:p>
            <a:r>
              <a:rPr lang="en-US" dirty="0" smtClean="0"/>
              <a:t>Consider the following example which contains a function </a:t>
            </a:r>
            <a:r>
              <a:rPr lang="en-US" dirty="0" err="1" smtClean="0"/>
              <a:t>readline</a:t>
            </a:r>
            <a:r>
              <a:rPr lang="en-US" dirty="0" smtClean="0"/>
              <a:t>() that reads the first line of our file "file2.txt" containing three lines. Consider the following example.</a:t>
            </a:r>
          </a:p>
          <a:p>
            <a:endParaRPr lang="en-US" dirty="0" smtClean="0"/>
          </a:p>
          <a:p>
            <a:r>
              <a:rPr lang="en-US" dirty="0" smtClean="0"/>
              <a:t>Example 1: Reading lines using </a:t>
            </a:r>
            <a:r>
              <a:rPr lang="en-US" dirty="0" err="1" smtClean="0"/>
              <a:t>readline</a:t>
            </a:r>
            <a:r>
              <a:rPr lang="en-US" dirty="0" smtClean="0"/>
              <a:t>() function</a:t>
            </a:r>
          </a:p>
          <a:p>
            <a:r>
              <a:rPr lang="en-US" dirty="0" smtClean="0"/>
              <a:t>#open the file.txt in read mode. causes error if no such file exists.    </a:t>
            </a:r>
          </a:p>
          <a:p>
            <a:r>
              <a:rPr lang="en-US" dirty="0" smtClean="0"/>
              <a:t>fileptr = open("file2.txt","r");     </a:t>
            </a:r>
          </a:p>
          <a:p>
            <a:r>
              <a:rPr lang="en-US" dirty="0" smtClean="0"/>
              <a:t>#stores all the data of the file into the variable content    </a:t>
            </a:r>
          </a:p>
          <a:p>
            <a:r>
              <a:rPr lang="en-US" dirty="0" smtClean="0"/>
              <a:t>content = </a:t>
            </a:r>
            <a:r>
              <a:rPr lang="en-US" dirty="0" err="1" smtClean="0"/>
              <a:t>fileptr.readline</a:t>
            </a:r>
            <a:r>
              <a:rPr lang="en-US" dirty="0" smtClean="0"/>
              <a:t>()     </a:t>
            </a:r>
          </a:p>
          <a:p>
            <a:r>
              <a:rPr lang="en-US" dirty="0" smtClean="0"/>
              <a:t>content1 = </a:t>
            </a:r>
            <a:r>
              <a:rPr lang="en-US" dirty="0" err="1" smtClean="0"/>
              <a:t>fileptr.readline</a:t>
            </a:r>
            <a:r>
              <a:rPr lang="en-US" dirty="0" smtClean="0"/>
              <a:t>()  </a:t>
            </a:r>
          </a:p>
          <a:p>
            <a:r>
              <a:rPr lang="en-US" dirty="0" smtClean="0"/>
              <a:t>#prints the content of the file    </a:t>
            </a:r>
          </a:p>
          <a:p>
            <a:r>
              <a:rPr lang="en-US" dirty="0" smtClean="0"/>
              <a:t>print(content)     </a:t>
            </a:r>
          </a:p>
          <a:p>
            <a:r>
              <a:rPr lang="en-US" dirty="0" smtClean="0"/>
              <a:t>print(content1)  </a:t>
            </a:r>
          </a:p>
          <a:p>
            <a:r>
              <a:rPr lang="en-US" dirty="0" smtClean="0"/>
              <a:t>#closes the opened file    </a:t>
            </a:r>
          </a:p>
          <a:p>
            <a:r>
              <a:rPr lang="en-US" dirty="0" err="1" smtClean="0"/>
              <a:t>fileptr.close</a:t>
            </a:r>
            <a:r>
              <a:rPr lang="en-US" dirty="0" smtClean="0"/>
              <a:t>()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678356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Output:</a:t>
            </a:r>
          </a:p>
          <a:p>
            <a:endParaRPr lang="en-US" dirty="0" smtClean="0"/>
          </a:p>
          <a:p>
            <a:r>
              <a:rPr lang="en-US" dirty="0" smtClean="0"/>
              <a:t>Python is the modern day language.</a:t>
            </a:r>
          </a:p>
          <a:p>
            <a:endParaRPr lang="en-US" dirty="0" smtClean="0"/>
          </a:p>
          <a:p>
            <a:r>
              <a:rPr lang="en-US" dirty="0" smtClean="0"/>
              <a:t>It makes things so simple.</a:t>
            </a:r>
          </a:p>
          <a:p>
            <a:r>
              <a:rPr lang="en-US" dirty="0" smtClean="0"/>
              <a:t>We called the </a:t>
            </a:r>
            <a:r>
              <a:rPr lang="en-US" dirty="0" err="1" smtClean="0"/>
              <a:t>readline</a:t>
            </a:r>
            <a:r>
              <a:rPr lang="en-US" dirty="0" smtClean="0"/>
              <a:t>() function two times that's why it read two lines from the file.</a:t>
            </a:r>
          </a:p>
          <a:p>
            <a:endParaRPr lang="en-US" dirty="0" smtClean="0"/>
          </a:p>
          <a:p>
            <a:r>
              <a:rPr lang="en-US" dirty="0" smtClean="0"/>
              <a:t>Python provides also the </a:t>
            </a:r>
            <a:r>
              <a:rPr lang="en-US" dirty="0" err="1" smtClean="0"/>
              <a:t>readlines</a:t>
            </a:r>
            <a:r>
              <a:rPr lang="en-US" dirty="0" smtClean="0"/>
              <a:t>() method which is used for the reading lines. It returns the list of the lines till the end of file(EOF) is reached.</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134253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2: Reading Lines Using </a:t>
            </a:r>
            <a:r>
              <a:rPr lang="en-US" dirty="0" err="1"/>
              <a:t>readlines</a:t>
            </a:r>
            <a:r>
              <a:rPr lang="en-US" dirty="0"/>
              <a:t>() function</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#open the file.txt in read mode. causes error if no such file exists.    </a:t>
            </a:r>
          </a:p>
          <a:p>
            <a:r>
              <a:rPr lang="en-US" dirty="0" smtClean="0"/>
              <a:t>fileptr = open("file2.txt","r");     </a:t>
            </a:r>
          </a:p>
          <a:p>
            <a:r>
              <a:rPr lang="en-US" dirty="0" smtClean="0"/>
              <a:t>    </a:t>
            </a:r>
          </a:p>
          <a:p>
            <a:r>
              <a:rPr lang="en-US" dirty="0" smtClean="0"/>
              <a:t>#stores all the data of the file into the variable content    </a:t>
            </a:r>
          </a:p>
          <a:p>
            <a:r>
              <a:rPr lang="en-US" dirty="0" smtClean="0"/>
              <a:t>content = </a:t>
            </a:r>
            <a:r>
              <a:rPr lang="en-US" dirty="0" err="1" smtClean="0"/>
              <a:t>fileptr.readlines</a:t>
            </a:r>
            <a:r>
              <a:rPr lang="en-US" dirty="0" smtClean="0"/>
              <a:t>()     </a:t>
            </a:r>
          </a:p>
          <a:p>
            <a:r>
              <a:rPr lang="en-US" dirty="0" smtClean="0"/>
              <a:t>  </a:t>
            </a:r>
          </a:p>
          <a:p>
            <a:r>
              <a:rPr lang="en-US" dirty="0" smtClean="0"/>
              <a:t>#prints the content of the file    </a:t>
            </a:r>
          </a:p>
          <a:p>
            <a:r>
              <a:rPr lang="en-US" dirty="0" smtClean="0"/>
              <a:t>print(content)     </a:t>
            </a:r>
          </a:p>
          <a:p>
            <a:r>
              <a:rPr lang="en-US" dirty="0" smtClean="0"/>
              <a:t>    </a:t>
            </a:r>
          </a:p>
          <a:p>
            <a:r>
              <a:rPr lang="en-US" dirty="0" smtClean="0"/>
              <a:t>#closes the opened file    </a:t>
            </a:r>
          </a:p>
          <a:p>
            <a:r>
              <a:rPr lang="en-US" dirty="0" err="1" smtClean="0"/>
              <a:t>fileptr.close</a:t>
            </a:r>
            <a:r>
              <a:rPr lang="en-US" dirty="0" smtClean="0"/>
              <a:t>()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972296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Output:</a:t>
            </a:r>
          </a:p>
          <a:p>
            <a:endParaRPr lang="en-US" dirty="0" smtClean="0"/>
          </a:p>
          <a:p>
            <a:r>
              <a:rPr lang="en-US" dirty="0" smtClean="0"/>
              <a:t>['Python is the modern day language.\n', 'It makes things so simple.\n', 'Python has easy syntax and user-friendly interaction’]</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4244251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 new file</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new file can be created by using one of the following access modes with the function open().</a:t>
            </a:r>
          </a:p>
          <a:p>
            <a:endParaRPr lang="en-US" dirty="0" smtClean="0"/>
          </a:p>
          <a:p>
            <a:r>
              <a:rPr lang="en-US" dirty="0" smtClean="0"/>
              <a:t>x: it creates a new file with the specified name. It causes an error a file exists with the same name.</a:t>
            </a:r>
          </a:p>
          <a:p>
            <a:endParaRPr lang="en-US" dirty="0" smtClean="0"/>
          </a:p>
          <a:p>
            <a:r>
              <a:rPr lang="en-US" dirty="0" smtClean="0"/>
              <a:t>a: It creates a new file with the specified name if no such file exists. It appends the content to the file if the file already exists with the specified name.</a:t>
            </a:r>
          </a:p>
          <a:p>
            <a:endParaRPr lang="en-US" dirty="0" smtClean="0"/>
          </a:p>
          <a:p>
            <a:r>
              <a:rPr lang="en-US" dirty="0" smtClean="0"/>
              <a:t>w: It creates a new file with the specified name if no such file exists. It overwrites the existing file.</a:t>
            </a:r>
          </a:p>
          <a:p>
            <a:endParaRPr lang="en-US" dirty="0" smtClean="0"/>
          </a:p>
          <a:p>
            <a:r>
              <a:rPr lang="en-US" dirty="0" smtClean="0"/>
              <a:t>Consider the following example.</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453281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Example 1</a:t>
            </a:r>
          </a:p>
          <a:p>
            <a:r>
              <a:rPr lang="en-US" dirty="0" smtClean="0"/>
              <a:t>#open the file.txt in read mode. causes error if no such file exists.    </a:t>
            </a:r>
          </a:p>
          <a:p>
            <a:r>
              <a:rPr lang="en-US" dirty="0" smtClean="0"/>
              <a:t>fileptr = open("file2.txt","x")   </a:t>
            </a:r>
          </a:p>
          <a:p>
            <a:r>
              <a:rPr lang="en-US" dirty="0" smtClean="0"/>
              <a:t>print(</a:t>
            </a:r>
            <a:r>
              <a:rPr lang="en-US" dirty="0" err="1" smtClean="0"/>
              <a:t>fileptr</a:t>
            </a:r>
            <a:r>
              <a:rPr lang="en-US" dirty="0" smtClean="0"/>
              <a:t>)    </a:t>
            </a:r>
          </a:p>
          <a:p>
            <a:r>
              <a:rPr lang="en-US" dirty="0" smtClean="0"/>
              <a:t>if fileptr:    </a:t>
            </a:r>
          </a:p>
          <a:p>
            <a:r>
              <a:rPr lang="en-US" dirty="0" smtClean="0"/>
              <a:t>    print("File created successfully")  </a:t>
            </a:r>
          </a:p>
          <a:p>
            <a:r>
              <a:rPr lang="en-US" dirty="0" smtClean="0"/>
              <a:t>Output:</a:t>
            </a:r>
          </a:p>
          <a:p>
            <a:endParaRPr lang="en-US" dirty="0" smtClean="0"/>
          </a:p>
          <a:p>
            <a:r>
              <a:rPr lang="en-US" dirty="0" smtClean="0"/>
              <a:t>&lt;_</a:t>
            </a:r>
            <a:r>
              <a:rPr lang="en-US" dirty="0" err="1" smtClean="0"/>
              <a:t>io.TextIOWrapper</a:t>
            </a:r>
            <a:r>
              <a:rPr lang="en-US" dirty="0" smtClean="0"/>
              <a:t> name='file2.txt' mode='x' encoding='cp1252'&gt;</a:t>
            </a:r>
          </a:p>
          <a:p>
            <a:r>
              <a:rPr lang="en-US" dirty="0" smtClean="0"/>
              <a:t>File created successfully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9254619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Pointer positions</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Python provides the tell() method which is used to print the byte number at which the file pointer currently exists. Consider the following example.</a:t>
            </a:r>
          </a:p>
          <a:p>
            <a:endParaRPr lang="en-US" dirty="0" smtClean="0"/>
          </a:p>
          <a:p>
            <a:r>
              <a:rPr lang="en-US" dirty="0" smtClean="0"/>
              <a:t># open the file file2.txt in read mode    </a:t>
            </a:r>
          </a:p>
          <a:p>
            <a:r>
              <a:rPr lang="en-US" dirty="0" smtClean="0"/>
              <a:t>fileptr = open("file2.txt","r")    </a:t>
            </a:r>
          </a:p>
          <a:p>
            <a:r>
              <a:rPr lang="en-US" dirty="0" smtClean="0"/>
              <a:t>  </a:t>
            </a:r>
          </a:p>
          <a:p>
            <a:r>
              <a:rPr lang="en-US" dirty="0" smtClean="0"/>
              <a:t>#initially the </a:t>
            </a:r>
            <a:r>
              <a:rPr lang="en-US" dirty="0" err="1" smtClean="0"/>
              <a:t>filepointer</a:t>
            </a:r>
            <a:r>
              <a:rPr lang="en-US" dirty="0" smtClean="0"/>
              <a:t> is at 0     </a:t>
            </a:r>
          </a:p>
          <a:p>
            <a:r>
              <a:rPr lang="en-US" dirty="0" smtClean="0"/>
              <a:t>print("The </a:t>
            </a:r>
            <a:r>
              <a:rPr lang="en-US" dirty="0" err="1" smtClean="0"/>
              <a:t>filepointer</a:t>
            </a:r>
            <a:r>
              <a:rPr lang="en-US" dirty="0" smtClean="0"/>
              <a:t> is at byte :",</a:t>
            </a:r>
            <a:r>
              <a:rPr lang="en-US" dirty="0" err="1" smtClean="0"/>
              <a:t>fileptr.tell</a:t>
            </a:r>
            <a:r>
              <a:rPr lang="en-US" dirty="0" smtClean="0"/>
              <a:t>())    </a:t>
            </a:r>
          </a:p>
          <a:p>
            <a:r>
              <a:rPr lang="en-US" dirty="0" smtClean="0"/>
              <a:t>    </a:t>
            </a:r>
          </a:p>
          <a:p>
            <a:r>
              <a:rPr lang="en-US" dirty="0" smtClean="0"/>
              <a:t>#reading the content of the file    </a:t>
            </a:r>
          </a:p>
          <a:p>
            <a:r>
              <a:rPr lang="en-US" dirty="0" smtClean="0"/>
              <a:t>content = </a:t>
            </a:r>
            <a:r>
              <a:rPr lang="en-US" dirty="0" err="1" smtClean="0"/>
              <a:t>fileptr.read</a:t>
            </a:r>
            <a:r>
              <a:rPr lang="en-US" dirty="0" smtClean="0"/>
              <a:t>();    </a:t>
            </a:r>
          </a:p>
          <a:p>
            <a:r>
              <a:rPr lang="en-US" dirty="0" smtClean="0"/>
              <a:t>    </a:t>
            </a:r>
          </a:p>
          <a:p>
            <a:r>
              <a:rPr lang="en-US" dirty="0" smtClean="0"/>
              <a:t>#after the read operation file pointer modifies. tell() returns the location of the fileptr.     </a:t>
            </a:r>
          </a:p>
          <a:p>
            <a:r>
              <a:rPr lang="en-US" dirty="0" smtClean="0"/>
              <a:t>    </a:t>
            </a:r>
          </a:p>
          <a:p>
            <a:r>
              <a:rPr lang="en-US" dirty="0" smtClean="0"/>
              <a:t>print("After reading, the </a:t>
            </a:r>
            <a:r>
              <a:rPr lang="en-US" dirty="0" err="1" smtClean="0"/>
              <a:t>filepointer</a:t>
            </a:r>
            <a:r>
              <a:rPr lang="en-US" dirty="0" smtClean="0"/>
              <a:t> is at:",</a:t>
            </a:r>
            <a:r>
              <a:rPr lang="en-US" dirty="0" err="1" smtClean="0"/>
              <a:t>fileptr.tell</a:t>
            </a:r>
            <a:r>
              <a:rPr lang="en-US" dirty="0" smtClean="0"/>
              <a:t>())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826742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Output:</a:t>
            </a:r>
          </a:p>
          <a:p>
            <a:endParaRPr lang="en-US" dirty="0" smtClean="0"/>
          </a:p>
          <a:p>
            <a:r>
              <a:rPr lang="en-US" dirty="0" smtClean="0"/>
              <a:t>The </a:t>
            </a:r>
            <a:r>
              <a:rPr lang="en-US" dirty="0" err="1" smtClean="0"/>
              <a:t>filepointer</a:t>
            </a:r>
            <a:r>
              <a:rPr lang="en-US" dirty="0" smtClean="0"/>
              <a:t> is at byte : 0</a:t>
            </a:r>
          </a:p>
          <a:p>
            <a:r>
              <a:rPr lang="en-US" dirty="0" smtClean="0"/>
              <a:t>After reading, the </a:t>
            </a:r>
            <a:r>
              <a:rPr lang="en-US" dirty="0" err="1" smtClean="0"/>
              <a:t>filepointer</a:t>
            </a:r>
            <a:r>
              <a:rPr lang="en-US" dirty="0" smtClean="0"/>
              <a:t> is at: 117</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768267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Modifying file pointer position</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In real-world applications, sometimes we need to change the file pointer location externally since we may need to read or write the content at various locations.</a:t>
            </a:r>
          </a:p>
          <a:p>
            <a:endParaRPr lang="en-US" dirty="0" smtClean="0"/>
          </a:p>
          <a:p>
            <a:r>
              <a:rPr lang="en-US" dirty="0" smtClean="0"/>
              <a:t>For this purpose, the Python provides us the seek() method which enables us to modify the file pointer position externally.</a:t>
            </a:r>
          </a:p>
          <a:p>
            <a:endParaRPr lang="en-US" dirty="0" smtClean="0"/>
          </a:p>
          <a:p>
            <a:r>
              <a:rPr lang="en-US" dirty="0" smtClean="0"/>
              <a:t>The syntax to use the seek() method is given below.</a:t>
            </a:r>
          </a:p>
          <a:p>
            <a:endParaRPr lang="en-US" dirty="0" smtClean="0"/>
          </a:p>
          <a:p>
            <a:r>
              <a:rPr lang="en-US" dirty="0" smtClean="0"/>
              <a:t>Syntax:</a:t>
            </a:r>
          </a:p>
          <a:p>
            <a:endParaRPr lang="en-US" dirty="0" smtClean="0"/>
          </a:p>
          <a:p>
            <a:r>
              <a:rPr lang="en-US" dirty="0" smtClean="0"/>
              <a:t>&lt;file-</a:t>
            </a:r>
            <a:r>
              <a:rPr lang="en-US" dirty="0" err="1" smtClean="0"/>
              <a:t>ptr</a:t>
            </a:r>
            <a:r>
              <a:rPr lang="en-US" dirty="0" smtClean="0"/>
              <a:t>&gt;.seek(offset[, from)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122690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seek() method accepts two parameters:</a:t>
            </a:r>
            <a:br>
              <a:rPr lang="en-US" dirty="0"/>
            </a:b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smtClean="0"/>
              <a:t>offset: It refers to the new position of the file pointer within the file.</a:t>
            </a:r>
          </a:p>
          <a:p>
            <a:endParaRPr lang="en-US" dirty="0" smtClean="0"/>
          </a:p>
          <a:p>
            <a:r>
              <a:rPr lang="en-US" dirty="0" smtClean="0"/>
              <a:t>from: It indicates the reference position from where the bytes are to be moved. If it is set to 0, the beginning of the file is used as the reference position. If it is set to 1, the current position of the file pointer is used as the reference position. If it is set to 2, the end of the file pointer is used as the reference position.</a:t>
            </a:r>
          </a:p>
          <a:p>
            <a:endParaRPr lang="en-US" dirty="0" smtClean="0"/>
          </a:p>
          <a:p>
            <a:r>
              <a:rPr lang="en-US" dirty="0" smtClean="0"/>
              <a:t>Consider the following example.</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698297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dirty="0" smtClean="0"/>
              <a:t>Example</a:t>
            </a:r>
          </a:p>
          <a:p>
            <a:r>
              <a:rPr lang="en-US" dirty="0" smtClean="0"/>
              <a:t># open the file file2.txt in read mode    </a:t>
            </a:r>
          </a:p>
          <a:p>
            <a:r>
              <a:rPr lang="en-US" dirty="0" smtClean="0"/>
              <a:t>fileptr = open("file2.txt","r")    </a:t>
            </a:r>
          </a:p>
          <a:p>
            <a:r>
              <a:rPr lang="en-US" dirty="0" smtClean="0"/>
              <a:t>    </a:t>
            </a:r>
          </a:p>
          <a:p>
            <a:r>
              <a:rPr lang="en-US" dirty="0" smtClean="0"/>
              <a:t>#initially the </a:t>
            </a:r>
            <a:r>
              <a:rPr lang="en-US" dirty="0" err="1" smtClean="0"/>
              <a:t>filepointer</a:t>
            </a:r>
            <a:r>
              <a:rPr lang="en-US" dirty="0" smtClean="0"/>
              <a:t> is at 0     </a:t>
            </a:r>
          </a:p>
          <a:p>
            <a:r>
              <a:rPr lang="en-US" dirty="0" smtClean="0"/>
              <a:t>print("The </a:t>
            </a:r>
            <a:r>
              <a:rPr lang="en-US" dirty="0" err="1" smtClean="0"/>
              <a:t>filepointer</a:t>
            </a:r>
            <a:r>
              <a:rPr lang="en-US" dirty="0" smtClean="0"/>
              <a:t> is at byte :",</a:t>
            </a:r>
            <a:r>
              <a:rPr lang="en-US" dirty="0" err="1" smtClean="0"/>
              <a:t>fileptr.tell</a:t>
            </a:r>
            <a:r>
              <a:rPr lang="en-US" dirty="0" smtClean="0"/>
              <a:t>())    </a:t>
            </a:r>
          </a:p>
          <a:p>
            <a:r>
              <a:rPr lang="en-US" dirty="0" smtClean="0"/>
              <a:t>    </a:t>
            </a:r>
          </a:p>
          <a:p>
            <a:r>
              <a:rPr lang="en-US" dirty="0" smtClean="0"/>
              <a:t>#changing the file pointer location to 10.    </a:t>
            </a:r>
          </a:p>
          <a:p>
            <a:r>
              <a:rPr lang="en-US" dirty="0" err="1" smtClean="0"/>
              <a:t>fileptr.seek</a:t>
            </a:r>
            <a:r>
              <a:rPr lang="en-US" dirty="0" smtClean="0"/>
              <a:t>(10);    </a:t>
            </a:r>
          </a:p>
          <a:p>
            <a:r>
              <a:rPr lang="en-US" dirty="0" smtClean="0"/>
              <a:t>    </a:t>
            </a:r>
          </a:p>
          <a:p>
            <a:r>
              <a:rPr lang="en-US" dirty="0" smtClean="0"/>
              <a:t>#tell() returns the location of the fileptr.     </a:t>
            </a:r>
          </a:p>
          <a:p>
            <a:r>
              <a:rPr lang="en-US" dirty="0" smtClean="0"/>
              <a:t>print("After reading, the </a:t>
            </a:r>
            <a:r>
              <a:rPr lang="en-US" dirty="0" err="1" smtClean="0"/>
              <a:t>filepointer</a:t>
            </a:r>
            <a:r>
              <a:rPr lang="en-US" dirty="0" smtClean="0"/>
              <a:t> is at:",</a:t>
            </a:r>
            <a:r>
              <a:rPr lang="en-US" dirty="0" err="1" smtClean="0"/>
              <a:t>fileptr.tell</a:t>
            </a:r>
            <a:r>
              <a:rPr lang="en-US" dirty="0" smtClean="0"/>
              <a:t>())    </a:t>
            </a:r>
          </a:p>
          <a:p>
            <a:r>
              <a:rPr lang="en-US" dirty="0" smtClean="0"/>
              <a:t>Output:</a:t>
            </a:r>
          </a:p>
          <a:p>
            <a:endParaRPr lang="en-US" dirty="0" smtClean="0"/>
          </a:p>
          <a:p>
            <a:r>
              <a:rPr lang="en-US" dirty="0" smtClean="0"/>
              <a:t>The </a:t>
            </a:r>
            <a:r>
              <a:rPr lang="en-US" dirty="0" err="1" smtClean="0"/>
              <a:t>filepointer</a:t>
            </a:r>
            <a:r>
              <a:rPr lang="en-US" dirty="0" smtClean="0"/>
              <a:t> is at byte : 0</a:t>
            </a:r>
          </a:p>
          <a:p>
            <a:r>
              <a:rPr lang="en-US" dirty="0" smtClean="0"/>
              <a:t>After reading, the </a:t>
            </a:r>
            <a:r>
              <a:rPr lang="en-US" dirty="0" err="1" smtClean="0"/>
              <a:t>filepointer</a:t>
            </a:r>
            <a:r>
              <a:rPr lang="en-US" dirty="0" smtClean="0"/>
              <a:t> is at: 10</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754265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OS module</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Renaming the file</a:t>
            </a:r>
          </a:p>
          <a:p>
            <a:r>
              <a:rPr lang="en-US" dirty="0" smtClean="0"/>
              <a:t>The Python </a:t>
            </a:r>
            <a:r>
              <a:rPr lang="en-US" dirty="0" err="1" smtClean="0"/>
              <a:t>os</a:t>
            </a:r>
            <a:r>
              <a:rPr lang="en-US" dirty="0" smtClean="0"/>
              <a:t> module enables interaction with the operating system. The </a:t>
            </a:r>
            <a:r>
              <a:rPr lang="en-US" dirty="0" err="1" smtClean="0"/>
              <a:t>os</a:t>
            </a:r>
            <a:r>
              <a:rPr lang="en-US" dirty="0" smtClean="0"/>
              <a:t> module provides the functions that are involved in file processing operations like renaming, deleting, etc. It provides us the rename() method to rename the specified file to a new name. The syntax to use the rename() method is given below.</a:t>
            </a:r>
          </a:p>
          <a:p>
            <a:endParaRPr lang="en-US" dirty="0" smtClean="0"/>
          </a:p>
          <a:p>
            <a:r>
              <a:rPr lang="en-US" dirty="0" smtClean="0"/>
              <a:t>Syntax:</a:t>
            </a:r>
          </a:p>
          <a:p>
            <a:endParaRPr lang="en-US" dirty="0" smtClean="0"/>
          </a:p>
          <a:p>
            <a:r>
              <a:rPr lang="en-US" dirty="0" smtClean="0"/>
              <a:t>rename(current-name, new-name)    </a:t>
            </a:r>
          </a:p>
          <a:p>
            <a:r>
              <a:rPr lang="en-US" dirty="0" smtClean="0"/>
              <a:t>The first argument is the current file name and the second argument is the modified name. We can change the file name bypassing these two arguments.</a:t>
            </a:r>
            <a:endParaRPr lang="en-US" dirty="0"/>
          </a:p>
        </p:txBody>
      </p:sp>
    </p:spTree>
    <p:extLst>
      <p:ext uri="{BB962C8B-B14F-4D97-AF65-F5344CB8AC3E}">
        <p14:creationId xmlns:p14="http://schemas.microsoft.com/office/powerpoint/2010/main" val="3119721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br>
              <a:rPr lang="en-US" dirty="0"/>
            </a:b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smtClean="0"/>
              <a:t>import </a:t>
            </a:r>
            <a:r>
              <a:rPr lang="en-US" dirty="0" err="1" smtClean="0"/>
              <a:t>os</a:t>
            </a:r>
            <a:r>
              <a:rPr lang="en-US" dirty="0" smtClean="0"/>
              <a:t>    </a:t>
            </a:r>
          </a:p>
          <a:p>
            <a:r>
              <a:rPr lang="en-US" dirty="0" smtClean="0"/>
              <a:t>    </a:t>
            </a:r>
          </a:p>
          <a:p>
            <a:r>
              <a:rPr lang="en-US" dirty="0" smtClean="0"/>
              <a:t>#rename file2.txt to file3.txt    </a:t>
            </a:r>
          </a:p>
          <a:p>
            <a:r>
              <a:rPr lang="en-US" dirty="0" err="1" smtClean="0"/>
              <a:t>os.rename</a:t>
            </a:r>
            <a:r>
              <a:rPr lang="en-US" dirty="0" smtClean="0"/>
              <a:t>("file2.txt","file3.txt")  </a:t>
            </a:r>
          </a:p>
          <a:p>
            <a:r>
              <a:rPr lang="en-US" dirty="0" smtClean="0"/>
              <a:t>Output:</a:t>
            </a:r>
          </a:p>
          <a:p>
            <a:endParaRPr lang="en-US" dirty="0" smtClean="0"/>
          </a:p>
          <a:p>
            <a:endParaRPr lang="en-US" dirty="0" smtClean="0"/>
          </a:p>
          <a:p>
            <a:r>
              <a:rPr lang="en-US" dirty="0" smtClean="0"/>
              <a:t>The above code renamed current file2.txt to file3.txt</a:t>
            </a:r>
            <a:endParaRPr lang="en-US" dirty="0"/>
          </a:p>
        </p:txBody>
      </p:sp>
    </p:spTree>
    <p:extLst>
      <p:ext uri="{BB962C8B-B14F-4D97-AF65-F5344CB8AC3E}">
        <p14:creationId xmlns:p14="http://schemas.microsoft.com/office/powerpoint/2010/main" val="4096186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Removing the file</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smtClean="0"/>
              <a:t>The </a:t>
            </a:r>
            <a:r>
              <a:rPr lang="en-US" dirty="0" err="1" smtClean="0"/>
              <a:t>os</a:t>
            </a:r>
            <a:r>
              <a:rPr lang="en-US" dirty="0" smtClean="0"/>
              <a:t> module provides the remove() method which is used to remove the specified file. The syntax to use the remove() method is given below.</a:t>
            </a:r>
          </a:p>
          <a:p>
            <a:endParaRPr lang="en-US" dirty="0" smtClean="0"/>
          </a:p>
          <a:p>
            <a:r>
              <a:rPr lang="en-US" dirty="0" smtClean="0"/>
              <a:t>remove(file-name)   </a:t>
            </a:r>
          </a:p>
          <a:p>
            <a:r>
              <a:rPr lang="en-US" dirty="0" smtClean="0"/>
              <a:t>Example 1</a:t>
            </a:r>
          </a:p>
          <a:p>
            <a:endParaRPr lang="en-US" dirty="0" smtClean="0"/>
          </a:p>
          <a:p>
            <a:r>
              <a:rPr lang="en-US" dirty="0" smtClean="0"/>
              <a:t>import </a:t>
            </a:r>
            <a:r>
              <a:rPr lang="en-US" dirty="0" err="1" smtClean="0"/>
              <a:t>os</a:t>
            </a:r>
            <a:r>
              <a:rPr lang="en-US" dirty="0" smtClean="0"/>
              <a:t>;    </a:t>
            </a:r>
          </a:p>
          <a:p>
            <a:r>
              <a:rPr lang="en-US" dirty="0" smtClean="0"/>
              <a:t>#deleting the file named file3.txt     </a:t>
            </a:r>
          </a:p>
          <a:p>
            <a:r>
              <a:rPr lang="en-US" dirty="0" err="1" smtClean="0"/>
              <a:t>os.remove</a:t>
            </a:r>
            <a:r>
              <a:rPr lang="en-US" dirty="0" smtClean="0"/>
              <a:t>("file3.txt")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556896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the new directory</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a:t>
            </a:r>
            <a:r>
              <a:rPr lang="en-US" dirty="0" err="1" smtClean="0"/>
              <a:t>mkdir</a:t>
            </a:r>
            <a:r>
              <a:rPr lang="en-US" dirty="0" smtClean="0"/>
              <a:t>() method is used to create the directories in the current working directory. The syntax to create the new directory is given below.</a:t>
            </a:r>
          </a:p>
          <a:p>
            <a:endParaRPr lang="en-US" dirty="0" smtClean="0"/>
          </a:p>
          <a:p>
            <a:r>
              <a:rPr lang="en-US" dirty="0" smtClean="0"/>
              <a:t>Syntax:</a:t>
            </a:r>
          </a:p>
          <a:p>
            <a:endParaRPr lang="en-US" dirty="0" smtClean="0"/>
          </a:p>
          <a:p>
            <a:r>
              <a:rPr lang="en-US" dirty="0" err="1" smtClean="0"/>
              <a:t>mkdir</a:t>
            </a:r>
            <a:r>
              <a:rPr lang="en-US" dirty="0" smtClean="0"/>
              <a:t>(directory name)  </a:t>
            </a:r>
          </a:p>
          <a:p>
            <a:r>
              <a:rPr lang="en-US" dirty="0" smtClean="0"/>
              <a:t>Example 1</a:t>
            </a:r>
          </a:p>
          <a:p>
            <a:endParaRPr lang="en-US" dirty="0" smtClean="0"/>
          </a:p>
          <a:p>
            <a:r>
              <a:rPr lang="en-US" dirty="0" smtClean="0"/>
              <a:t>import </a:t>
            </a:r>
            <a:r>
              <a:rPr lang="en-US" dirty="0" err="1" smtClean="0"/>
              <a:t>os</a:t>
            </a:r>
            <a:r>
              <a:rPr lang="en-US" dirty="0" smtClean="0"/>
              <a:t>    </a:t>
            </a:r>
          </a:p>
          <a:p>
            <a:r>
              <a:rPr lang="en-US" dirty="0" smtClean="0"/>
              <a:t>    </a:t>
            </a:r>
          </a:p>
          <a:p>
            <a:r>
              <a:rPr lang="en-US" dirty="0" smtClean="0"/>
              <a:t>#creating a new directory with the name new    </a:t>
            </a:r>
          </a:p>
          <a:p>
            <a:r>
              <a:rPr lang="en-US" dirty="0" err="1" smtClean="0"/>
              <a:t>os.mkdir</a:t>
            </a:r>
            <a:r>
              <a:rPr lang="en-US" dirty="0" smtClean="0"/>
              <a:t>("new")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0431982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t>getcwd</a:t>
            </a:r>
            <a:r>
              <a:rPr lang="en-US" dirty="0"/>
              <a:t>() method</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This method returns the current working directory.</a:t>
            </a:r>
          </a:p>
          <a:p>
            <a:endParaRPr lang="en-US" dirty="0" smtClean="0"/>
          </a:p>
          <a:p>
            <a:r>
              <a:rPr lang="en-US" dirty="0" smtClean="0"/>
              <a:t>The syntax to use the </a:t>
            </a:r>
            <a:r>
              <a:rPr lang="en-US" dirty="0" err="1" smtClean="0"/>
              <a:t>getcwd</a:t>
            </a:r>
            <a:r>
              <a:rPr lang="en-US" dirty="0" smtClean="0"/>
              <a:t>() method is given below.</a:t>
            </a:r>
          </a:p>
          <a:p>
            <a:endParaRPr lang="en-US" dirty="0" smtClean="0"/>
          </a:p>
          <a:p>
            <a:r>
              <a:rPr lang="en-US" dirty="0" smtClean="0"/>
              <a:t>Syntax</a:t>
            </a:r>
          </a:p>
          <a:p>
            <a:endParaRPr lang="en-US" dirty="0" smtClean="0"/>
          </a:p>
          <a:p>
            <a:r>
              <a:rPr lang="en-US" dirty="0" err="1" smtClean="0"/>
              <a:t>os.getcwd</a:t>
            </a:r>
            <a:r>
              <a:rPr lang="en-US" dirty="0" smtClean="0"/>
              <a:t>()  </a:t>
            </a:r>
          </a:p>
          <a:p>
            <a:r>
              <a:rPr lang="en-US" dirty="0" smtClean="0"/>
              <a:t>Example</a:t>
            </a:r>
          </a:p>
          <a:p>
            <a:endParaRPr lang="en-US" dirty="0" smtClean="0"/>
          </a:p>
          <a:p>
            <a:r>
              <a:rPr lang="en-US" dirty="0" smtClean="0"/>
              <a:t>import </a:t>
            </a:r>
            <a:r>
              <a:rPr lang="en-US" dirty="0" err="1" smtClean="0"/>
              <a:t>os</a:t>
            </a:r>
            <a:r>
              <a:rPr lang="en-US" dirty="0" smtClean="0"/>
              <a:t>  </a:t>
            </a:r>
          </a:p>
          <a:p>
            <a:r>
              <a:rPr lang="en-US" dirty="0" err="1" smtClean="0"/>
              <a:t>os.getcwd</a:t>
            </a:r>
            <a:r>
              <a:rPr lang="en-US" dirty="0" smtClean="0"/>
              <a:t>()  </a:t>
            </a:r>
          </a:p>
          <a:p>
            <a:r>
              <a:rPr lang="en-US" dirty="0" smtClean="0"/>
              <a:t>Output:</a:t>
            </a:r>
          </a:p>
          <a:p>
            <a:endParaRPr lang="en-US" dirty="0" smtClean="0"/>
          </a:p>
          <a:p>
            <a:r>
              <a:rPr lang="en-US" dirty="0" smtClean="0"/>
              <a:t>'C:\\Users\\DEVANSH SHARMA'</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981147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the current working directory</a:t>
            </a:r>
            <a:br>
              <a:rPr lang="en-US" dirty="0"/>
            </a:br>
            <a:endParaRPr lang="en-US" dirty="0"/>
          </a:p>
        </p:txBody>
      </p:sp>
      <p:sp>
        <p:nvSpPr>
          <p:cNvPr id="3" name="Content Placeholder 2"/>
          <p:cNvSpPr>
            <a:spLocks noGrp="1"/>
          </p:cNvSpPr>
          <p:nvPr>
            <p:ph idx="1"/>
          </p:nvPr>
        </p:nvSpPr>
        <p:spPr/>
        <p:txBody>
          <a:bodyPr>
            <a:normAutofit fontScale="47500" lnSpcReduction="20000"/>
          </a:bodyPr>
          <a:lstStyle/>
          <a:p>
            <a:r>
              <a:rPr lang="en-US" dirty="0" smtClean="0"/>
              <a:t>The </a:t>
            </a:r>
            <a:r>
              <a:rPr lang="en-US" dirty="0" err="1" smtClean="0"/>
              <a:t>chdir</a:t>
            </a:r>
            <a:r>
              <a:rPr lang="en-US" dirty="0" smtClean="0"/>
              <a:t>() method is used to change the current working directory to a specified directory.</a:t>
            </a:r>
          </a:p>
          <a:p>
            <a:endParaRPr lang="en-US" dirty="0" smtClean="0"/>
          </a:p>
          <a:p>
            <a:r>
              <a:rPr lang="en-US" dirty="0" smtClean="0"/>
              <a:t>The syntax to use the </a:t>
            </a:r>
            <a:r>
              <a:rPr lang="en-US" dirty="0" err="1" smtClean="0"/>
              <a:t>chdir</a:t>
            </a:r>
            <a:r>
              <a:rPr lang="en-US" dirty="0" smtClean="0"/>
              <a:t>() method is given below.</a:t>
            </a:r>
          </a:p>
          <a:p>
            <a:endParaRPr lang="en-US" dirty="0" smtClean="0"/>
          </a:p>
          <a:p>
            <a:r>
              <a:rPr lang="en-US" dirty="0" smtClean="0"/>
              <a:t>Syntax</a:t>
            </a:r>
          </a:p>
          <a:p>
            <a:endParaRPr lang="en-US" dirty="0" smtClean="0"/>
          </a:p>
          <a:p>
            <a:r>
              <a:rPr lang="en-US" dirty="0" err="1" smtClean="0"/>
              <a:t>chdir</a:t>
            </a:r>
            <a:r>
              <a:rPr lang="en-US" dirty="0" smtClean="0"/>
              <a:t>("new-directory")    </a:t>
            </a:r>
          </a:p>
          <a:p>
            <a:r>
              <a:rPr lang="en-US" dirty="0" smtClean="0"/>
              <a:t>Example</a:t>
            </a:r>
          </a:p>
          <a:p>
            <a:r>
              <a:rPr lang="en-US" dirty="0" smtClean="0"/>
              <a:t>import </a:t>
            </a:r>
            <a:r>
              <a:rPr lang="en-US" dirty="0" err="1" smtClean="0"/>
              <a:t>os</a:t>
            </a:r>
            <a:r>
              <a:rPr lang="en-US" dirty="0" smtClean="0"/>
              <a:t>   </a:t>
            </a:r>
          </a:p>
          <a:p>
            <a:r>
              <a:rPr lang="en-US" dirty="0" smtClean="0"/>
              <a:t># Changing current directory with the new </a:t>
            </a:r>
            <a:r>
              <a:rPr lang="en-US" dirty="0" err="1" smtClean="0"/>
              <a:t>directiory</a:t>
            </a:r>
            <a:r>
              <a:rPr lang="en-US" dirty="0" smtClean="0"/>
              <a:t>  </a:t>
            </a:r>
          </a:p>
          <a:p>
            <a:r>
              <a:rPr lang="en-US" dirty="0" err="1" smtClean="0"/>
              <a:t>os.chdir</a:t>
            </a:r>
            <a:r>
              <a:rPr lang="en-US" dirty="0" smtClean="0"/>
              <a:t>("C:\\Users\\DEVANSH SHARMA\\Documents")  </a:t>
            </a:r>
          </a:p>
          <a:p>
            <a:r>
              <a:rPr lang="en-US" dirty="0" smtClean="0"/>
              <a:t>#It will display the current working directory  </a:t>
            </a:r>
          </a:p>
          <a:p>
            <a:r>
              <a:rPr lang="en-US" dirty="0" err="1" smtClean="0"/>
              <a:t>os.getcwd</a:t>
            </a:r>
            <a:r>
              <a:rPr lang="en-US" dirty="0" smtClean="0"/>
              <a:t>()  </a:t>
            </a:r>
          </a:p>
          <a:p>
            <a:r>
              <a:rPr lang="en-US" dirty="0" smtClean="0"/>
              <a:t>Output:</a:t>
            </a:r>
          </a:p>
          <a:p>
            <a:endParaRPr lang="en-US" dirty="0" smtClean="0"/>
          </a:p>
          <a:p>
            <a:r>
              <a:rPr lang="en-US" dirty="0" smtClean="0"/>
              <a:t>'C:\\Users\\DEVANSH SHARMA\\Documents'</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9574646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Deleting directory</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a:t>
            </a:r>
            <a:r>
              <a:rPr lang="en-US" dirty="0" err="1" smtClean="0"/>
              <a:t>rmdir</a:t>
            </a:r>
            <a:r>
              <a:rPr lang="en-US" dirty="0" smtClean="0"/>
              <a:t>() method is used to delete the specified directory.</a:t>
            </a:r>
          </a:p>
          <a:p>
            <a:endParaRPr lang="en-US" dirty="0" smtClean="0"/>
          </a:p>
          <a:p>
            <a:r>
              <a:rPr lang="en-US" dirty="0" smtClean="0"/>
              <a:t>The syntax to use the </a:t>
            </a:r>
            <a:r>
              <a:rPr lang="en-US" dirty="0" err="1" smtClean="0"/>
              <a:t>rmdir</a:t>
            </a:r>
            <a:r>
              <a:rPr lang="en-US" dirty="0" smtClean="0"/>
              <a:t>() method is given below.</a:t>
            </a:r>
          </a:p>
          <a:p>
            <a:endParaRPr lang="en-US" dirty="0" smtClean="0"/>
          </a:p>
          <a:p>
            <a:r>
              <a:rPr lang="en-US" dirty="0" smtClean="0"/>
              <a:t>Syntax</a:t>
            </a:r>
          </a:p>
          <a:p>
            <a:endParaRPr lang="en-US" dirty="0" smtClean="0"/>
          </a:p>
          <a:p>
            <a:r>
              <a:rPr lang="en-US" dirty="0" err="1" smtClean="0"/>
              <a:t>os.rmdir</a:t>
            </a:r>
            <a:r>
              <a:rPr lang="en-US" dirty="0" smtClean="0"/>
              <a:t>(directory name)    </a:t>
            </a:r>
          </a:p>
          <a:p>
            <a:r>
              <a:rPr lang="en-US" dirty="0" smtClean="0"/>
              <a:t>Example 1</a:t>
            </a:r>
          </a:p>
          <a:p>
            <a:endParaRPr lang="en-US" dirty="0" smtClean="0"/>
          </a:p>
          <a:p>
            <a:r>
              <a:rPr lang="en-US" dirty="0" smtClean="0"/>
              <a:t>import </a:t>
            </a:r>
            <a:r>
              <a:rPr lang="en-US" dirty="0" err="1" smtClean="0"/>
              <a:t>os</a:t>
            </a:r>
            <a:r>
              <a:rPr lang="en-US" dirty="0" smtClean="0"/>
              <a:t>  </a:t>
            </a:r>
          </a:p>
          <a:p>
            <a:r>
              <a:rPr lang="en-US" dirty="0" smtClean="0"/>
              <a:t>#removing the new directory     </a:t>
            </a:r>
          </a:p>
          <a:p>
            <a:r>
              <a:rPr lang="en-US" dirty="0" err="1" smtClean="0"/>
              <a:t>os.rmdir</a:t>
            </a:r>
            <a:r>
              <a:rPr lang="en-US" dirty="0" smtClean="0"/>
              <a:t>("</a:t>
            </a:r>
            <a:r>
              <a:rPr lang="en-US" dirty="0" err="1" smtClean="0"/>
              <a:t>directory_name</a:t>
            </a:r>
            <a:r>
              <a:rPr lang="en-US" dirty="0" smtClean="0"/>
              <a:t>")    </a:t>
            </a:r>
          </a:p>
          <a:p>
            <a:r>
              <a:rPr lang="en-US" dirty="0" smtClean="0"/>
              <a:t>It will remove the specified directory.</a:t>
            </a:r>
            <a:endParaRPr lang="en-US" dirty="0"/>
          </a:p>
        </p:txBody>
      </p:sp>
    </p:spTree>
    <p:extLst>
      <p:ext uri="{BB962C8B-B14F-4D97-AF65-F5344CB8AC3E}">
        <p14:creationId xmlns:p14="http://schemas.microsoft.com/office/powerpoint/2010/main" val="35310506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Python output to the files</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 Python, there are the requirements to write the output of a Python script to a file.</a:t>
            </a:r>
          </a:p>
          <a:p>
            <a:endParaRPr lang="en-US" dirty="0" smtClean="0"/>
          </a:p>
          <a:p>
            <a:r>
              <a:rPr lang="en-US" dirty="0" smtClean="0"/>
              <a:t>The </a:t>
            </a:r>
            <a:r>
              <a:rPr lang="en-US" dirty="0" err="1" smtClean="0"/>
              <a:t>check_call</a:t>
            </a:r>
            <a:r>
              <a:rPr lang="en-US" dirty="0" smtClean="0"/>
              <a:t>() method of module </a:t>
            </a:r>
            <a:r>
              <a:rPr lang="en-US" dirty="0" err="1" smtClean="0"/>
              <a:t>subprocess</a:t>
            </a:r>
            <a:r>
              <a:rPr lang="en-US" dirty="0" smtClean="0"/>
              <a:t> is used to execute a Python script and write the output of that script to a file.</a:t>
            </a:r>
          </a:p>
          <a:p>
            <a:endParaRPr lang="en-US" dirty="0" smtClean="0"/>
          </a:p>
          <a:p>
            <a:r>
              <a:rPr lang="en-US" dirty="0" smtClean="0"/>
              <a:t>The following example contains two python scripts. The script file1.py executes the script file.py and writes its output to the text file output.txt.</a:t>
            </a:r>
          </a:p>
          <a:p>
            <a:endParaRPr lang="en-US" dirty="0" smtClean="0"/>
          </a:p>
          <a:p>
            <a:r>
              <a:rPr lang="en-US" dirty="0" smtClean="0"/>
              <a:t>Example</a:t>
            </a:r>
          </a:p>
          <a:p>
            <a:endParaRPr lang="en-US" dirty="0" smtClean="0"/>
          </a:p>
          <a:p>
            <a:r>
              <a:rPr lang="en-US" dirty="0" smtClean="0"/>
              <a:t>file.py</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829344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dirty="0" smtClean="0"/>
              <a:t>temperatures=[10,-20,-289,100]    </a:t>
            </a:r>
          </a:p>
          <a:p>
            <a:r>
              <a:rPr lang="en-US" dirty="0" err="1" smtClean="0"/>
              <a:t>def</a:t>
            </a:r>
            <a:r>
              <a:rPr lang="en-US" dirty="0" smtClean="0"/>
              <a:t> </a:t>
            </a:r>
            <a:r>
              <a:rPr lang="en-US" dirty="0" err="1" smtClean="0"/>
              <a:t>c_to_f</a:t>
            </a:r>
            <a:r>
              <a:rPr lang="en-US" dirty="0" smtClean="0"/>
              <a:t>(c):    </a:t>
            </a:r>
          </a:p>
          <a:p>
            <a:r>
              <a:rPr lang="en-US" dirty="0" smtClean="0"/>
              <a:t>    if c&lt; -273.15:    </a:t>
            </a:r>
          </a:p>
          <a:p>
            <a:r>
              <a:rPr lang="en-US" dirty="0" smtClean="0"/>
              <a:t>        return "That temperature doesn't make sense!"    </a:t>
            </a:r>
          </a:p>
          <a:p>
            <a:r>
              <a:rPr lang="en-US" dirty="0" smtClean="0"/>
              <a:t>    else:    </a:t>
            </a:r>
          </a:p>
          <a:p>
            <a:r>
              <a:rPr lang="en-US" dirty="0" smtClean="0"/>
              <a:t>        f=c*9/5+32    </a:t>
            </a:r>
          </a:p>
          <a:p>
            <a:r>
              <a:rPr lang="en-US" dirty="0" smtClean="0"/>
              <a:t>        return f    </a:t>
            </a:r>
          </a:p>
          <a:p>
            <a:r>
              <a:rPr lang="en-US" dirty="0" smtClean="0"/>
              <a:t>for t in temperatures:    </a:t>
            </a:r>
          </a:p>
          <a:p>
            <a:r>
              <a:rPr lang="en-US" dirty="0" smtClean="0"/>
              <a:t>    print(</a:t>
            </a:r>
            <a:r>
              <a:rPr lang="en-US" dirty="0" err="1" smtClean="0"/>
              <a:t>c_to_f</a:t>
            </a:r>
            <a:r>
              <a:rPr lang="en-US" dirty="0" smtClean="0"/>
              <a:t>(t))    </a:t>
            </a:r>
          </a:p>
          <a:p>
            <a:r>
              <a:rPr lang="en-US" dirty="0" smtClean="0"/>
              <a:t>file.py</a:t>
            </a:r>
          </a:p>
          <a:p>
            <a:endParaRPr lang="en-US" dirty="0" smtClean="0"/>
          </a:p>
          <a:p>
            <a:r>
              <a:rPr lang="en-US" dirty="0" smtClean="0"/>
              <a:t>import </a:t>
            </a:r>
            <a:r>
              <a:rPr lang="en-US" dirty="0" err="1" smtClean="0"/>
              <a:t>subprocess</a:t>
            </a:r>
            <a:r>
              <a:rPr lang="en-US" dirty="0" smtClean="0"/>
              <a:t>    </a:t>
            </a:r>
          </a:p>
          <a:p>
            <a:r>
              <a:rPr lang="en-US" dirty="0" smtClean="0"/>
              <a:t>    </a:t>
            </a:r>
          </a:p>
          <a:p>
            <a:r>
              <a:rPr lang="en-US" dirty="0" smtClean="0"/>
              <a:t>with open("output.txt", "</a:t>
            </a:r>
            <a:r>
              <a:rPr lang="en-US" dirty="0" err="1" smtClean="0"/>
              <a:t>wb</a:t>
            </a:r>
            <a:r>
              <a:rPr lang="en-US" dirty="0" smtClean="0"/>
              <a:t>") as f:    </a:t>
            </a:r>
          </a:p>
          <a:p>
            <a:r>
              <a:rPr lang="en-US" dirty="0" smtClean="0"/>
              <a:t>    </a:t>
            </a:r>
            <a:r>
              <a:rPr lang="en-US" dirty="0" err="1" smtClean="0"/>
              <a:t>subprocess.check_call</a:t>
            </a:r>
            <a:r>
              <a:rPr lang="en-US" dirty="0" smtClean="0"/>
              <a:t>(["python", "file.py"], </a:t>
            </a:r>
            <a:r>
              <a:rPr lang="en-US" dirty="0" err="1" smtClean="0"/>
              <a:t>stdout</a:t>
            </a:r>
            <a:r>
              <a:rPr lang="en-US" dirty="0" smtClean="0"/>
              <a:t>=f) </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36014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Day Tasks</a:t>
            </a:r>
            <a:endParaRPr lang="en-US" dirty="0"/>
          </a:p>
        </p:txBody>
      </p:sp>
      <p:sp>
        <p:nvSpPr>
          <p:cNvPr id="3" name="Content Placeholder 2"/>
          <p:cNvSpPr>
            <a:spLocks noGrp="1"/>
          </p:cNvSpPr>
          <p:nvPr>
            <p:ph idx="1"/>
          </p:nvPr>
        </p:nvSpPr>
        <p:spPr>
          <a:xfrm>
            <a:off x="598311" y="1825625"/>
            <a:ext cx="10755489" cy="4744508"/>
          </a:xfrm>
        </p:spPr>
        <p:txBody>
          <a:bodyPr>
            <a:normAutofit fontScale="92500" lnSpcReduction="10000"/>
          </a:bodyPr>
          <a:lstStyle/>
          <a:p>
            <a:r>
              <a:rPr lang="en-US" b="1" dirty="0" smtClean="0"/>
              <a:t>Exercise 1: </a:t>
            </a:r>
            <a:r>
              <a:rPr lang="en-US" b="1" dirty="0"/>
              <a:t>Read text file into a variable and replace all newlines with space</a:t>
            </a:r>
          </a:p>
          <a:p>
            <a:r>
              <a:rPr lang="en-US" b="1" dirty="0"/>
              <a:t>Given</a:t>
            </a:r>
            <a:r>
              <a:rPr lang="en-US" dirty="0"/>
              <a:t>: Assume you have a following text file (sample.txt).</a:t>
            </a:r>
          </a:p>
          <a:p>
            <a:r>
              <a:rPr lang="en-US" dirty="0" smtClean="0"/>
              <a:t>Contents in file</a:t>
            </a:r>
          </a:p>
          <a:p>
            <a:r>
              <a:rPr lang="en-US" dirty="0" smtClean="0"/>
              <a:t>Line1</a:t>
            </a:r>
            <a:endParaRPr lang="en-US" dirty="0"/>
          </a:p>
          <a:p>
            <a:r>
              <a:rPr lang="en-US" dirty="0"/>
              <a:t>line2</a:t>
            </a:r>
          </a:p>
          <a:p>
            <a:r>
              <a:rPr lang="en-US" dirty="0"/>
              <a:t>line3</a:t>
            </a:r>
          </a:p>
          <a:p>
            <a:r>
              <a:rPr lang="en-US" dirty="0"/>
              <a:t>line4</a:t>
            </a:r>
          </a:p>
          <a:p>
            <a:r>
              <a:rPr lang="en-US" dirty="0" smtClean="0"/>
              <a:t>Line5</a:t>
            </a:r>
          </a:p>
          <a:p>
            <a:r>
              <a:rPr lang="en-US" dirty="0"/>
              <a:t>Expected </a:t>
            </a:r>
            <a:r>
              <a:rPr lang="en-US" dirty="0" smtClean="0"/>
              <a:t>Output</a:t>
            </a:r>
          </a:p>
          <a:p>
            <a:r>
              <a:rPr lang="en-US" dirty="0" smtClean="0"/>
              <a:t>Line1 </a:t>
            </a:r>
            <a:r>
              <a:rPr lang="en-US" dirty="0"/>
              <a:t>line2 line3 line4 line5</a:t>
            </a:r>
            <a:endParaRPr lang="en-US" dirty="0" smtClean="0"/>
          </a:p>
          <a:p>
            <a:endParaRPr lang="en-US" dirty="0" smtClean="0"/>
          </a:p>
          <a:p>
            <a:endParaRPr lang="en-US" dirty="0" smtClean="0"/>
          </a:p>
          <a:p>
            <a:endParaRPr lang="en-US" dirty="0"/>
          </a:p>
        </p:txBody>
      </p:sp>
      <p:pic>
        <p:nvPicPr>
          <p:cNvPr id="6" name="Picture 5"/>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28282031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Exercise 2</a:t>
            </a:r>
            <a:endParaRPr lang="en-US" dirty="0"/>
          </a:p>
        </p:txBody>
      </p:sp>
      <p:sp>
        <p:nvSpPr>
          <p:cNvPr id="3" name="Content Placeholder 2"/>
          <p:cNvSpPr>
            <a:spLocks noGrp="1"/>
          </p:cNvSpPr>
          <p:nvPr>
            <p:ph idx="1"/>
          </p:nvPr>
        </p:nvSpPr>
        <p:spPr/>
        <p:txBody>
          <a:bodyPr/>
          <a:lstStyle/>
          <a:p>
            <a:r>
              <a:rPr lang="en-US" dirty="0" smtClean="0"/>
              <a:t>Write a new file demo.txt &amp; write the given contents in the file using python code after reading file it should display the file contents as a output</a:t>
            </a:r>
          </a:p>
          <a:p>
            <a:r>
              <a:rPr lang="en-US" dirty="0" smtClean="0"/>
              <a:t>“Hello welcome to all in Domain Computer”</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3055512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Exercise </a:t>
            </a:r>
            <a:r>
              <a:rPr lang="en-US" b="1" dirty="0" smtClean="0"/>
              <a:t>3</a:t>
            </a:r>
            <a:endParaRPr lang="en-US" dirty="0"/>
          </a:p>
        </p:txBody>
      </p:sp>
      <p:sp>
        <p:nvSpPr>
          <p:cNvPr id="3" name="Content Placeholder 2"/>
          <p:cNvSpPr>
            <a:spLocks noGrp="1"/>
          </p:cNvSpPr>
          <p:nvPr>
            <p:ph idx="1"/>
          </p:nvPr>
        </p:nvSpPr>
        <p:spPr/>
        <p:txBody>
          <a:bodyPr>
            <a:normAutofit/>
          </a:bodyPr>
          <a:lstStyle/>
          <a:p>
            <a:r>
              <a:rPr lang="en-US" dirty="0" smtClean="0"/>
              <a:t>Open </a:t>
            </a:r>
            <a:r>
              <a:rPr lang="en-US" dirty="0"/>
              <a:t>the file "</a:t>
            </a:r>
            <a:r>
              <a:rPr lang="en-US" dirty="0" smtClean="0"/>
              <a:t>demo.txt</a:t>
            </a:r>
            <a:r>
              <a:rPr lang="en-US" dirty="0"/>
              <a:t>" and append content to the file:</a:t>
            </a:r>
          </a:p>
          <a:p>
            <a:endParaRPr lang="en-US" dirty="0"/>
          </a:p>
          <a:p>
            <a:r>
              <a:rPr lang="en-US" dirty="0" smtClean="0"/>
              <a:t>This is modified content of the file</a:t>
            </a:r>
          </a:p>
          <a:p>
            <a:endParaRPr lang="en-US" dirty="0"/>
          </a:p>
          <a:p>
            <a:r>
              <a:rPr lang="en-US" dirty="0" smtClean="0"/>
              <a:t>Exercise-4</a:t>
            </a:r>
          </a:p>
          <a:p>
            <a:r>
              <a:rPr lang="en-US" dirty="0" smtClean="0"/>
              <a:t>Delete the demo.txt file using python code</a:t>
            </a:r>
            <a:endParaRPr lang="en-US" dirty="0"/>
          </a:p>
        </p:txBody>
      </p:sp>
      <p:pic>
        <p:nvPicPr>
          <p:cNvPr id="4" name="Picture 3"/>
          <p:cNvPicPr>
            <a:picLocks noChangeAspect="1"/>
          </p:cNvPicPr>
          <p:nvPr/>
        </p:nvPicPr>
        <p:blipFill>
          <a:blip r:embed="rId2"/>
          <a:stretch>
            <a:fillRect/>
          </a:stretch>
        </p:blipFill>
        <p:spPr>
          <a:xfrm>
            <a:off x="10588978" y="6018654"/>
            <a:ext cx="1172434" cy="458612"/>
          </a:xfrm>
          <a:prstGeom prst="rect">
            <a:avLst/>
          </a:prstGeom>
        </p:spPr>
      </p:pic>
    </p:spTree>
    <p:extLst>
      <p:ext uri="{BB962C8B-B14F-4D97-AF65-F5344CB8AC3E}">
        <p14:creationId xmlns:p14="http://schemas.microsoft.com/office/powerpoint/2010/main" val="19515485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096004" y="2228850"/>
            <a:ext cx="2884363" cy="1622454"/>
          </a:xfrm>
          <a:prstGeom prst="rect">
            <a:avLst/>
          </a:prstGeom>
        </p:spPr>
      </p:pic>
      <p:pic>
        <p:nvPicPr>
          <p:cNvPr id="5" name="Picture 4"/>
          <p:cNvPicPr>
            <a:picLocks noChangeAspect="1"/>
          </p:cNvPicPr>
          <p:nvPr/>
        </p:nvPicPr>
        <p:blipFill>
          <a:blip r:embed="rId3"/>
          <a:stretch>
            <a:fillRect/>
          </a:stretch>
        </p:blipFill>
        <p:spPr>
          <a:xfrm>
            <a:off x="6363392" y="3920311"/>
            <a:ext cx="2349585" cy="1325567"/>
          </a:xfrm>
          <a:prstGeom prst="rect">
            <a:avLst/>
          </a:prstGeom>
        </p:spPr>
      </p:pic>
      <p:sp>
        <p:nvSpPr>
          <p:cNvPr id="2" name="Title 1"/>
          <p:cNvSpPr>
            <a:spLocks noGrp="1"/>
          </p:cNvSpPr>
          <p:nvPr>
            <p:ph type="title"/>
          </p:nvPr>
        </p:nvSpPr>
        <p:spPr/>
        <p:txBody>
          <a:bodyPr>
            <a:normAutofit/>
          </a:bodyPr>
          <a:lstStyle/>
          <a:p>
            <a:r>
              <a:rPr lang="en-US" dirty="0" smtClean="0"/>
              <a:t>This PPT contents are</a:t>
            </a:r>
            <a:endParaRPr lang="en-US" dirty="0"/>
          </a:p>
        </p:txBody>
      </p:sp>
      <p:sp>
        <p:nvSpPr>
          <p:cNvPr id="6" name="TextBox 5"/>
          <p:cNvSpPr txBox="1"/>
          <p:nvPr/>
        </p:nvSpPr>
        <p:spPr>
          <a:xfrm>
            <a:off x="5259835" y="3672102"/>
            <a:ext cx="593918" cy="248209"/>
          </a:xfrm>
          <a:prstGeom prst="rect">
            <a:avLst/>
          </a:prstGeom>
          <a:noFill/>
        </p:spPr>
        <p:txBody>
          <a:bodyPr wrap="square" rtlCol="0">
            <a:spAutoFit/>
          </a:bodyPr>
          <a:lstStyle/>
          <a:p>
            <a:r>
              <a:rPr lang="en-US" sz="1013" b="1" dirty="0">
                <a:solidFill>
                  <a:schemeClr val="bg1"/>
                </a:solidFill>
              </a:rPr>
              <a:t>TO</a:t>
            </a:r>
          </a:p>
        </p:txBody>
      </p:sp>
    </p:spTree>
    <p:extLst>
      <p:ext uri="{BB962C8B-B14F-4D97-AF65-F5344CB8AC3E}">
        <p14:creationId xmlns:p14="http://schemas.microsoft.com/office/powerpoint/2010/main" val="259113499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normAutofit fontScale="90000"/>
          </a:bodyPr>
          <a:lstStyle/>
          <a:p>
            <a:r>
              <a:rPr lang="en-US" smtClean="0"/>
              <a:t/>
            </a:r>
            <a:br>
              <a:rPr lang="en-US" smtClean="0"/>
            </a:br>
            <a:r>
              <a:rPr lang="en-US" smtClean="0"/>
              <a:t/>
            </a:r>
            <a:br>
              <a:rPr lang="en-US" smtClean="0"/>
            </a:br>
            <a:r>
              <a:rPr lang="en-US" smtClean="0"/>
              <a:t> </a:t>
            </a:r>
            <a:endParaRPr lang="en-US" dirty="0"/>
          </a:p>
        </p:txBody>
      </p:sp>
      <p:sp>
        <p:nvSpPr>
          <p:cNvPr id="25603" name="Rectangle 3"/>
          <p:cNvSpPr>
            <a:spLocks noChangeArrowheads="1"/>
          </p:cNvSpPr>
          <p:nvPr/>
        </p:nvSpPr>
        <p:spPr bwMode="auto">
          <a:xfrm>
            <a:off x="5943600" y="0"/>
            <a:ext cx="4495800" cy="685800"/>
          </a:xfrm>
          <a:prstGeom prst="rect">
            <a:avLst/>
          </a:prstGeom>
          <a:noFill/>
          <a:ln w="3175" cap="sq">
            <a:noFill/>
            <a:miter lim="800000"/>
            <a:headEnd type="none" w="sm" len="sm"/>
            <a:tailEnd type="none" w="sm" len="sm"/>
          </a:ln>
        </p:spPr>
        <p:txBody>
          <a:bodyPr wrap="none" anchor="ctr"/>
          <a:lstStyle/>
          <a:p>
            <a:endParaRPr lang="en-US" sz="2200" i="1" dirty="0">
              <a:solidFill>
                <a:prstClr val="black"/>
              </a:solidFill>
            </a:endParaRPr>
          </a:p>
        </p:txBody>
      </p:sp>
      <p:sp>
        <p:nvSpPr>
          <p:cNvPr id="25606" name="Text Box 6"/>
          <p:cNvSpPr txBox="1">
            <a:spLocks noChangeArrowheads="1"/>
          </p:cNvSpPr>
          <p:nvPr/>
        </p:nvSpPr>
        <p:spPr bwMode="auto">
          <a:xfrm>
            <a:off x="2193926" y="2727325"/>
            <a:ext cx="5578475" cy="369332"/>
          </a:xfrm>
          <a:prstGeom prst="rect">
            <a:avLst/>
          </a:prstGeom>
          <a:noFill/>
          <a:ln w="3175" cap="sq" algn="ctr">
            <a:noFill/>
            <a:miter lim="800000"/>
            <a:headEnd/>
            <a:tailEnd/>
          </a:ln>
        </p:spPr>
        <p:txBody>
          <a:bodyPr>
            <a:spAutoFit/>
          </a:bodyPr>
          <a:lstStyle/>
          <a:p>
            <a:endParaRPr lang="en-US">
              <a:solidFill>
                <a:prstClr val="black"/>
              </a:solidFill>
            </a:endParaRPr>
          </a:p>
        </p:txBody>
      </p:sp>
      <p:sp>
        <p:nvSpPr>
          <p:cNvPr id="25607" name="Text Box 7"/>
          <p:cNvSpPr txBox="1">
            <a:spLocks noChangeArrowheads="1"/>
          </p:cNvSpPr>
          <p:nvPr/>
        </p:nvSpPr>
        <p:spPr bwMode="auto">
          <a:xfrm>
            <a:off x="1524001" y="1981200"/>
            <a:ext cx="9143999" cy="1754326"/>
          </a:xfrm>
          <a:prstGeom prst="rect">
            <a:avLst/>
          </a:prstGeom>
          <a:noFill/>
          <a:ln w="3175" cap="sq" algn="ctr">
            <a:noFill/>
            <a:miter lim="800000"/>
            <a:headEnd/>
            <a:tailEnd/>
          </a:ln>
        </p:spPr>
        <p:txBody>
          <a:bodyPr wrap="square">
            <a:spAutoFit/>
          </a:bodyPr>
          <a:lstStyle/>
          <a:p>
            <a:endParaRPr lang="en-US" dirty="0">
              <a:solidFill>
                <a:prstClr val="black"/>
              </a:solidFill>
            </a:endParaRPr>
          </a:p>
          <a:p>
            <a:endParaRPr lang="en-US" dirty="0">
              <a:solidFill>
                <a:prstClr val="black"/>
              </a:solidFill>
            </a:endParaRPr>
          </a:p>
          <a:p>
            <a:endParaRPr lang="en-US" dirty="0">
              <a:solidFill>
                <a:prstClr val="black"/>
              </a:solidFill>
            </a:endParaRPr>
          </a:p>
          <a:p>
            <a:endParaRPr lang="en-US" dirty="0">
              <a:solidFill>
                <a:prstClr val="black"/>
              </a:solidFill>
            </a:endParaRPr>
          </a:p>
          <a:p>
            <a:endParaRPr lang="en-US" dirty="0">
              <a:solidFill>
                <a:prstClr val="black"/>
              </a:solidFill>
            </a:endParaRPr>
          </a:p>
          <a:p>
            <a:endParaRPr lang="en-US" dirty="0">
              <a:solidFill>
                <a:prstClr val="black"/>
              </a:solidFill>
            </a:endParaRPr>
          </a:p>
        </p:txBody>
      </p:sp>
      <p:sp>
        <p:nvSpPr>
          <p:cNvPr id="12" name="TextBox 11"/>
          <p:cNvSpPr txBox="1"/>
          <p:nvPr/>
        </p:nvSpPr>
        <p:spPr>
          <a:xfrm>
            <a:off x="687411" y="2921368"/>
            <a:ext cx="4274825" cy="3293209"/>
          </a:xfrm>
          <a:prstGeom prst="rect">
            <a:avLst/>
          </a:prstGeom>
          <a:noFill/>
        </p:spPr>
        <p:txBody>
          <a:bodyPr wrap="square" rtlCol="0">
            <a:spAutoFit/>
          </a:bodyPr>
          <a:lstStyle/>
          <a:p>
            <a:pPr algn="ctr"/>
            <a:endParaRPr lang="en-US" sz="1600" b="1" dirty="0" smtClean="0">
              <a:solidFill>
                <a:prstClr val="black"/>
              </a:solidFill>
            </a:endParaRPr>
          </a:p>
          <a:p>
            <a:r>
              <a:rPr lang="en-US" b="1" dirty="0" smtClean="0"/>
              <a:t>DOMAIN </a:t>
            </a:r>
            <a:r>
              <a:rPr lang="en-US" b="1" dirty="0"/>
              <a:t>COMPUTER EDUCATION</a:t>
            </a:r>
            <a:br>
              <a:rPr lang="en-US" b="1" dirty="0"/>
            </a:br>
            <a:endParaRPr lang="en-US" b="1" dirty="0" smtClean="0"/>
          </a:p>
          <a:p>
            <a:r>
              <a:rPr lang="en-US" b="1" dirty="0"/>
              <a:t>2</a:t>
            </a:r>
            <a:r>
              <a:rPr lang="en-US" b="1" dirty="0" smtClean="0"/>
              <a:t>nd </a:t>
            </a:r>
            <a:r>
              <a:rPr lang="en-US" b="1" dirty="0"/>
              <a:t>floor, </a:t>
            </a:r>
            <a:r>
              <a:rPr lang="en-US" b="1" dirty="0" err="1"/>
              <a:t>Balaji</a:t>
            </a:r>
            <a:r>
              <a:rPr lang="en-US" b="1" dirty="0"/>
              <a:t> Celebration, </a:t>
            </a:r>
            <a:r>
              <a:rPr lang="en-US" b="1" dirty="0" err="1"/>
              <a:t>Ganpati</a:t>
            </a:r>
            <a:r>
              <a:rPr lang="en-US" b="1" dirty="0"/>
              <a:t> </a:t>
            </a:r>
            <a:r>
              <a:rPr lang="en-US" b="1" dirty="0" err="1"/>
              <a:t>Mandir</a:t>
            </a:r>
            <a:r>
              <a:rPr lang="en-US" b="1" dirty="0"/>
              <a:t> Road, </a:t>
            </a:r>
            <a:r>
              <a:rPr lang="en-US" b="1" dirty="0" err="1"/>
              <a:t>Vishrambagh</a:t>
            </a:r>
            <a:r>
              <a:rPr lang="en-US" b="1" dirty="0"/>
              <a:t>, </a:t>
            </a:r>
            <a:r>
              <a:rPr lang="en-US" b="1" dirty="0" err="1"/>
              <a:t>Sangli</a:t>
            </a:r>
            <a:r>
              <a:rPr lang="en-US" b="1" dirty="0"/>
              <a:t/>
            </a:r>
            <a:br>
              <a:rPr lang="en-US" b="1" dirty="0"/>
            </a:br>
            <a:r>
              <a:rPr lang="en-US" b="1" dirty="0"/>
              <a:t>                 </a:t>
            </a:r>
          </a:p>
          <a:p>
            <a:r>
              <a:rPr lang="en-US" b="1" dirty="0"/>
              <a:t>                 7620575756</a:t>
            </a:r>
          </a:p>
          <a:p>
            <a:endParaRPr lang="en-US" b="1" dirty="0"/>
          </a:p>
          <a:p>
            <a:r>
              <a:rPr lang="en-US" sz="1600" b="1" dirty="0" smtClean="0"/>
              <a:t>         </a:t>
            </a:r>
            <a:endParaRPr lang="en-US" sz="2400" b="1" dirty="0"/>
          </a:p>
          <a:p>
            <a:endParaRPr lang="en-US" sz="3200" b="1" dirty="0">
              <a:solidFill>
                <a:prstClr val="black"/>
              </a:solidFill>
            </a:endParaRPr>
          </a:p>
          <a:p>
            <a:endParaRPr lang="en-US" dirty="0">
              <a:solidFill>
                <a:prstClr val="black"/>
              </a:solidFill>
            </a:endParaRPr>
          </a:p>
        </p:txBody>
      </p:sp>
      <p:pic>
        <p:nvPicPr>
          <p:cNvPr id="5121" name="Picture 1" descr="G:\logo\whatsapp.png"/>
          <p:cNvPicPr>
            <a:picLocks noChangeAspect="1" noChangeArrowheads="1"/>
          </p:cNvPicPr>
          <p:nvPr/>
        </p:nvPicPr>
        <p:blipFill>
          <a:blip r:embed="rId2"/>
          <a:srcRect/>
          <a:stretch>
            <a:fillRect/>
          </a:stretch>
        </p:blipFill>
        <p:spPr bwMode="auto">
          <a:xfrm>
            <a:off x="2895728" y="4579853"/>
            <a:ext cx="457200" cy="463351"/>
          </a:xfrm>
          <a:prstGeom prst="rect">
            <a:avLst/>
          </a:prstGeom>
          <a:noFill/>
        </p:spPr>
      </p:pic>
      <p:sp>
        <p:nvSpPr>
          <p:cNvPr id="13" name="Rectangle 12"/>
          <p:cNvSpPr/>
          <p:nvPr/>
        </p:nvSpPr>
        <p:spPr>
          <a:xfrm>
            <a:off x="4744256" y="3281322"/>
            <a:ext cx="5907109" cy="1200329"/>
          </a:xfrm>
          <a:prstGeom prst="rect">
            <a:avLst/>
          </a:prstGeom>
        </p:spPr>
        <p:txBody>
          <a:bodyPr wrap="square">
            <a:spAutoFit/>
          </a:bodyPr>
          <a:lstStyle/>
          <a:p>
            <a:r>
              <a:rPr lang="en-US" b="1" dirty="0"/>
              <a:t>DOMAIN COMPUTER EDUCATION</a:t>
            </a:r>
            <a:br>
              <a:rPr lang="en-US" b="1" dirty="0"/>
            </a:br>
            <a:r>
              <a:rPr lang="en-US" b="1" dirty="0"/>
              <a:t>3rd Floor </a:t>
            </a:r>
            <a:r>
              <a:rPr lang="en-US" b="1" dirty="0" err="1"/>
              <a:t>Prabhakar</a:t>
            </a:r>
            <a:r>
              <a:rPr lang="en-US" b="1" dirty="0"/>
              <a:t> Plaza, Station road </a:t>
            </a:r>
            <a:br>
              <a:rPr lang="en-US" b="1" dirty="0"/>
            </a:br>
            <a:r>
              <a:rPr lang="en-US" b="1" dirty="0"/>
              <a:t>Kolhapur.</a:t>
            </a:r>
            <a:br>
              <a:rPr lang="en-US" b="1" dirty="0"/>
            </a:br>
            <a:r>
              <a:rPr lang="en-US" b="1" dirty="0" err="1"/>
              <a:t>Ph.No</a:t>
            </a:r>
            <a:r>
              <a:rPr lang="en-US" b="1" dirty="0"/>
              <a:t>.- </a:t>
            </a:r>
            <a:r>
              <a:rPr lang="en-US" b="1" dirty="0" smtClean="0"/>
              <a:t>9225804090</a:t>
            </a:r>
            <a:endParaRPr lang="en-US" b="1" dirty="0"/>
          </a:p>
        </p:txBody>
      </p:sp>
      <p:pic>
        <p:nvPicPr>
          <p:cNvPr id="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1588" y="59922"/>
            <a:ext cx="7135224" cy="2790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 descr="G:\logo\whatsapp.png"/>
          <p:cNvPicPr>
            <a:picLocks noChangeAspect="1" noChangeArrowheads="1"/>
          </p:cNvPicPr>
          <p:nvPr/>
        </p:nvPicPr>
        <p:blipFill>
          <a:blip r:embed="rId2"/>
          <a:srcRect/>
          <a:stretch>
            <a:fillRect/>
          </a:stretch>
        </p:blipFill>
        <p:spPr bwMode="auto">
          <a:xfrm>
            <a:off x="6838145" y="4116502"/>
            <a:ext cx="457200" cy="463351"/>
          </a:xfrm>
          <a:prstGeom prst="rect">
            <a:avLst/>
          </a:prstGeom>
          <a:noFill/>
        </p:spPr>
      </p:pic>
      <p:sp>
        <p:nvSpPr>
          <p:cNvPr id="2" name="Rectangle 1"/>
          <p:cNvSpPr/>
          <p:nvPr/>
        </p:nvSpPr>
        <p:spPr>
          <a:xfrm>
            <a:off x="3352928" y="5597107"/>
            <a:ext cx="3600537" cy="369332"/>
          </a:xfrm>
          <a:prstGeom prst="rect">
            <a:avLst/>
          </a:prstGeom>
        </p:spPr>
        <p:txBody>
          <a:bodyPr wrap="none">
            <a:spAutoFit/>
          </a:bodyPr>
          <a:lstStyle/>
          <a:p>
            <a:r>
              <a:rPr lang="en-US" b="1" dirty="0" err="1"/>
              <a:t>Website:www.domaincomputer.org</a:t>
            </a:r>
            <a:endParaRPr lang="en-US" b="1" dirty="0"/>
          </a:p>
        </p:txBody>
      </p:sp>
    </p:spTree>
    <p:extLst>
      <p:ext uri="{BB962C8B-B14F-4D97-AF65-F5344CB8AC3E}">
        <p14:creationId xmlns:p14="http://schemas.microsoft.com/office/powerpoint/2010/main" val="1989961010"/>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3452</Words>
  <Application>Microsoft Office PowerPoint</Application>
  <PresentationFormat>Widescreen</PresentationFormat>
  <Paragraphs>468</Paragraphs>
  <Slides>48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Calibri Light</vt:lpstr>
      <vt:lpstr>Times New Roman</vt:lpstr>
      <vt:lpstr>Verdana</vt:lpstr>
      <vt:lpstr>Office Theme</vt:lpstr>
      <vt:lpstr>Day-13</vt:lpstr>
      <vt:lpstr>Python File Handling </vt:lpstr>
      <vt:lpstr>PowerPoint Presentation</vt:lpstr>
      <vt:lpstr>Opening a file </vt:lpstr>
      <vt:lpstr> The files can be accessed using various modes like read, write, or append</vt:lpstr>
      <vt:lpstr>PowerPoint Presentation</vt:lpstr>
      <vt:lpstr>PowerPoint Presentation</vt:lpstr>
      <vt:lpstr>PowerPoint Presentation</vt:lpstr>
      <vt:lpstr>PowerPoint Presentation</vt:lpstr>
      <vt:lpstr>PowerPoint Presentation</vt:lpstr>
      <vt:lpstr>PowerPoint Presentation</vt:lpstr>
      <vt:lpstr>The with statement </vt:lpstr>
      <vt:lpstr>PowerPoint Presentation</vt:lpstr>
      <vt:lpstr>Writing the file </vt:lpstr>
      <vt:lpstr>Consider the following example. </vt:lpstr>
      <vt:lpstr>PowerPoint Presentation</vt:lpstr>
      <vt:lpstr>PowerPoint Presentation</vt:lpstr>
      <vt:lpstr>PowerPoint Presentation</vt:lpstr>
      <vt:lpstr>PowerPoint Presentation</vt:lpstr>
      <vt:lpstr>Consider the following example. </vt:lpstr>
      <vt:lpstr>PowerPoint Presentation</vt:lpstr>
      <vt:lpstr>If we use the following line, then it will print all content of the file. </vt:lpstr>
      <vt:lpstr>Read file through for loop </vt:lpstr>
      <vt:lpstr>Read Lines of the file </vt:lpstr>
      <vt:lpstr>PowerPoint Presentation</vt:lpstr>
      <vt:lpstr>Example 2: Reading Lines Using readlines() function </vt:lpstr>
      <vt:lpstr>PowerPoint Presentation</vt:lpstr>
      <vt:lpstr>Creating a new file </vt:lpstr>
      <vt:lpstr>PowerPoint Presentation</vt:lpstr>
      <vt:lpstr>File Pointer positions </vt:lpstr>
      <vt:lpstr>PowerPoint Presentation</vt:lpstr>
      <vt:lpstr>Modifying file pointer position </vt:lpstr>
      <vt:lpstr>The seek() method accepts two parameters: </vt:lpstr>
      <vt:lpstr>PowerPoint Presentation</vt:lpstr>
      <vt:lpstr>Python OS module </vt:lpstr>
      <vt:lpstr>Example 1: </vt:lpstr>
      <vt:lpstr>Removing the file </vt:lpstr>
      <vt:lpstr>Creating the new directory </vt:lpstr>
      <vt:lpstr>The getcwd() method </vt:lpstr>
      <vt:lpstr>Changing the current working directory </vt:lpstr>
      <vt:lpstr>Deleting directory </vt:lpstr>
      <vt:lpstr>Writing Python output to the files </vt:lpstr>
      <vt:lpstr>PowerPoint Presentation</vt:lpstr>
      <vt:lpstr>Day Tasks</vt:lpstr>
      <vt:lpstr>Exercise 2</vt:lpstr>
      <vt:lpstr>Exercise 3</vt:lpstr>
      <vt:lpstr>This PPT contents are</vt:lpstr>
      <vt:lpstr>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File Handling</dc:title>
  <dc:creator>Microsoft account</dc:creator>
  <cp:lastModifiedBy>Microsoft account</cp:lastModifiedBy>
  <cp:revision>15</cp:revision>
  <dcterms:created xsi:type="dcterms:W3CDTF">2021-05-18T16:40:54Z</dcterms:created>
  <dcterms:modified xsi:type="dcterms:W3CDTF">2024-05-31T16:52:28Z</dcterms:modified>
</cp:coreProperties>
</file>