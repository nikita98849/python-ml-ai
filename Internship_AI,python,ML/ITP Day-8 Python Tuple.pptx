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9" r:id="rId23"/>
    <p:sldId id="280" r:id="rId24"/>
    <p:sldId id="281" r:id="rId25"/>
    <p:sldId id="277" r:id="rId26"/>
    <p:sldId id="27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660"/>
  </p:normalViewPr>
  <p:slideViewPr>
    <p:cSldViewPr snapToGrid="0">
      <p:cViewPr varScale="1">
        <p:scale>
          <a:sx n="85" d="100"/>
          <a:sy n="85" d="100"/>
        </p:scale>
        <p:origin x="5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3AE1514-7C51-4ACA-99A6-4BE744012A86}" type="datetimeFigureOut">
              <a:rPr lang="en-US" smtClean="0"/>
              <a:t>5/31/2024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9B156A-66F9-4D16-8E59-77C4208CE09E}" type="slidenum">
              <a:rPr lang="en-US" smtClean="0"/>
              <a:t>‹#›</a:t>
            </a:fld>
            <a:endParaRPr lang="en-US"/>
          </a:p>
        </p:txBody>
      </p:sp>
    </p:spTree>
    <p:extLst>
      <p:ext uri="{BB962C8B-B14F-4D97-AF65-F5344CB8AC3E}">
        <p14:creationId xmlns:p14="http://schemas.microsoft.com/office/powerpoint/2010/main" val="1894637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AE1514-7C51-4ACA-99A6-4BE744012A86}" type="datetimeFigureOut">
              <a:rPr lang="en-US" smtClean="0"/>
              <a:t>5/31/2024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9B156A-66F9-4D16-8E59-77C4208CE09E}" type="slidenum">
              <a:rPr lang="en-US" smtClean="0"/>
              <a:t>‹#›</a:t>
            </a:fld>
            <a:endParaRPr lang="en-US"/>
          </a:p>
        </p:txBody>
      </p:sp>
    </p:spTree>
    <p:extLst>
      <p:ext uri="{BB962C8B-B14F-4D97-AF65-F5344CB8AC3E}">
        <p14:creationId xmlns:p14="http://schemas.microsoft.com/office/powerpoint/2010/main" val="3002923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AE1514-7C51-4ACA-99A6-4BE744012A86}" type="datetimeFigureOut">
              <a:rPr lang="en-US" smtClean="0"/>
              <a:t>5/31/2024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9B156A-66F9-4D16-8E59-77C4208CE09E}" type="slidenum">
              <a:rPr lang="en-US" smtClean="0"/>
              <a:t>‹#›</a:t>
            </a:fld>
            <a:endParaRPr lang="en-US"/>
          </a:p>
        </p:txBody>
      </p:sp>
    </p:spTree>
    <p:extLst>
      <p:ext uri="{BB962C8B-B14F-4D97-AF65-F5344CB8AC3E}">
        <p14:creationId xmlns:p14="http://schemas.microsoft.com/office/powerpoint/2010/main" val="3093266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3AE1514-7C51-4ACA-99A6-4BE744012A86}" type="datetimeFigureOut">
              <a:rPr lang="en-US" smtClean="0"/>
              <a:t>5/31/2024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9B156A-66F9-4D16-8E59-77C4208CE09E}" type="slidenum">
              <a:rPr lang="en-US" smtClean="0"/>
              <a:t>‹#›</a:t>
            </a:fld>
            <a:endParaRPr lang="en-US"/>
          </a:p>
        </p:txBody>
      </p:sp>
    </p:spTree>
    <p:extLst>
      <p:ext uri="{BB962C8B-B14F-4D97-AF65-F5344CB8AC3E}">
        <p14:creationId xmlns:p14="http://schemas.microsoft.com/office/powerpoint/2010/main" val="3234925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3AE1514-7C51-4ACA-99A6-4BE744012A86}" type="datetimeFigureOut">
              <a:rPr lang="en-US" smtClean="0"/>
              <a:t>5/31/2024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9B156A-66F9-4D16-8E59-77C4208CE09E}" type="slidenum">
              <a:rPr lang="en-US" smtClean="0"/>
              <a:t>‹#›</a:t>
            </a:fld>
            <a:endParaRPr lang="en-US"/>
          </a:p>
        </p:txBody>
      </p:sp>
    </p:spTree>
    <p:extLst>
      <p:ext uri="{BB962C8B-B14F-4D97-AF65-F5344CB8AC3E}">
        <p14:creationId xmlns:p14="http://schemas.microsoft.com/office/powerpoint/2010/main" val="136539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3AE1514-7C51-4ACA-99A6-4BE744012A86}" type="datetimeFigureOut">
              <a:rPr lang="en-US" smtClean="0"/>
              <a:t>5/31/2024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F9B156A-66F9-4D16-8E59-77C4208CE09E}" type="slidenum">
              <a:rPr lang="en-US" smtClean="0"/>
              <a:t>‹#›</a:t>
            </a:fld>
            <a:endParaRPr lang="en-US"/>
          </a:p>
        </p:txBody>
      </p:sp>
    </p:spTree>
    <p:extLst>
      <p:ext uri="{BB962C8B-B14F-4D97-AF65-F5344CB8AC3E}">
        <p14:creationId xmlns:p14="http://schemas.microsoft.com/office/powerpoint/2010/main" val="1960884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AE1514-7C51-4ACA-99A6-4BE744012A86}" type="datetimeFigureOut">
              <a:rPr lang="en-US" smtClean="0"/>
              <a:t>5/31/2024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F9B156A-66F9-4D16-8E59-77C4208CE09E}" type="slidenum">
              <a:rPr lang="en-US" smtClean="0"/>
              <a:t>‹#›</a:t>
            </a:fld>
            <a:endParaRPr lang="en-US"/>
          </a:p>
        </p:txBody>
      </p:sp>
    </p:spTree>
    <p:extLst>
      <p:ext uri="{BB962C8B-B14F-4D97-AF65-F5344CB8AC3E}">
        <p14:creationId xmlns:p14="http://schemas.microsoft.com/office/powerpoint/2010/main" val="611168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AE1514-7C51-4ACA-99A6-4BE744012A86}" type="datetimeFigureOut">
              <a:rPr lang="en-US" smtClean="0"/>
              <a:t>5/31/2024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9B156A-66F9-4D16-8E59-77C4208CE09E}" type="slidenum">
              <a:rPr lang="en-US" smtClean="0"/>
              <a:t>‹#›</a:t>
            </a:fld>
            <a:endParaRPr lang="en-US"/>
          </a:p>
        </p:txBody>
      </p:sp>
    </p:spTree>
    <p:extLst>
      <p:ext uri="{BB962C8B-B14F-4D97-AF65-F5344CB8AC3E}">
        <p14:creationId xmlns:p14="http://schemas.microsoft.com/office/powerpoint/2010/main" val="111703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AE1514-7C51-4ACA-99A6-4BE744012A86}" type="datetimeFigureOut">
              <a:rPr lang="en-US" smtClean="0"/>
              <a:t>5/31/2024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9B156A-66F9-4D16-8E59-77C4208CE09E}" type="slidenum">
              <a:rPr lang="en-US" smtClean="0"/>
              <a:t>‹#›</a:t>
            </a:fld>
            <a:endParaRPr lang="en-US"/>
          </a:p>
        </p:txBody>
      </p:sp>
    </p:spTree>
    <p:extLst>
      <p:ext uri="{BB962C8B-B14F-4D97-AF65-F5344CB8AC3E}">
        <p14:creationId xmlns:p14="http://schemas.microsoft.com/office/powerpoint/2010/main" val="2943086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AE1514-7C51-4ACA-99A6-4BE744012A86}" type="datetimeFigureOut">
              <a:rPr lang="en-US" smtClean="0"/>
              <a:t>5/31/2024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9B156A-66F9-4D16-8E59-77C4208CE09E}" type="slidenum">
              <a:rPr lang="en-US" smtClean="0"/>
              <a:t>‹#›</a:t>
            </a:fld>
            <a:endParaRPr lang="en-US"/>
          </a:p>
        </p:txBody>
      </p:sp>
    </p:spTree>
    <p:extLst>
      <p:ext uri="{BB962C8B-B14F-4D97-AF65-F5344CB8AC3E}">
        <p14:creationId xmlns:p14="http://schemas.microsoft.com/office/powerpoint/2010/main" val="2000970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AE1514-7C51-4ACA-99A6-4BE744012A86}" type="datetimeFigureOut">
              <a:rPr lang="en-US" smtClean="0"/>
              <a:t>5/31/2024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9B156A-66F9-4D16-8E59-77C4208CE09E}" type="slidenum">
              <a:rPr lang="en-US" smtClean="0"/>
              <a:t>‹#›</a:t>
            </a:fld>
            <a:endParaRPr lang="en-US"/>
          </a:p>
        </p:txBody>
      </p:sp>
    </p:spTree>
    <p:extLst>
      <p:ext uri="{BB962C8B-B14F-4D97-AF65-F5344CB8AC3E}">
        <p14:creationId xmlns:p14="http://schemas.microsoft.com/office/powerpoint/2010/main" val="505570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AE1514-7C51-4ACA-99A6-4BE744012A86}" type="datetimeFigureOut">
              <a:rPr lang="en-US" smtClean="0"/>
              <a:t>5/31/2024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9B156A-66F9-4D16-8E59-77C4208CE09E}" type="slidenum">
              <a:rPr lang="en-US" smtClean="0"/>
              <a:t>‹#›</a:t>
            </a:fld>
            <a:endParaRPr lang="en-US"/>
          </a:p>
        </p:txBody>
      </p:sp>
    </p:spTree>
    <p:extLst>
      <p:ext uri="{BB962C8B-B14F-4D97-AF65-F5344CB8AC3E}">
        <p14:creationId xmlns:p14="http://schemas.microsoft.com/office/powerpoint/2010/main" val="3883652945"/>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8749" y="3033558"/>
            <a:ext cx="8594501" cy="775762"/>
          </a:xfrm>
        </p:spPr>
        <p:txBody>
          <a:bodyPr>
            <a:normAutofit fontScale="90000"/>
          </a:bodyPr>
          <a:lstStyle/>
          <a:p>
            <a:r>
              <a:rPr lang="en-US" dirty="0" smtClean="0"/>
              <a:t>Day-8</a:t>
            </a:r>
            <a:endParaRPr lang="en-US" dirty="0"/>
          </a:p>
        </p:txBody>
      </p:sp>
      <p:sp>
        <p:nvSpPr>
          <p:cNvPr id="3" name="Subtitle 2"/>
          <p:cNvSpPr>
            <a:spLocks noGrp="1"/>
          </p:cNvSpPr>
          <p:nvPr>
            <p:ph type="subTitle" idx="1"/>
          </p:nvPr>
        </p:nvSpPr>
        <p:spPr/>
        <p:txBody>
          <a:bodyPr>
            <a:normAutofit/>
          </a:bodyPr>
          <a:lstStyle/>
          <a:p>
            <a:endParaRPr lang="en-US" sz="4800" dirty="0" smtClean="0"/>
          </a:p>
          <a:p>
            <a:r>
              <a:rPr lang="en-US" sz="4800" dirty="0" smtClean="0"/>
              <a:t>Python </a:t>
            </a:r>
            <a:r>
              <a:rPr lang="en-US" sz="4800" dirty="0" smtClean="0"/>
              <a:t>Tuple</a:t>
            </a:r>
            <a:endParaRPr lang="en-US" sz="4800" dirty="0"/>
          </a:p>
        </p:txBody>
      </p:sp>
      <p:pic>
        <p:nvPicPr>
          <p:cNvPr id="4" name="Picture 3"/>
          <p:cNvPicPr>
            <a:picLocks noChangeAspect="1"/>
          </p:cNvPicPr>
          <p:nvPr/>
        </p:nvPicPr>
        <p:blipFill>
          <a:blip r:embed="rId2"/>
          <a:stretch>
            <a:fillRect/>
          </a:stretch>
        </p:blipFill>
        <p:spPr>
          <a:xfrm>
            <a:off x="3481414" y="669703"/>
            <a:ext cx="5475407" cy="2141772"/>
          </a:xfrm>
          <a:prstGeom prst="rect">
            <a:avLst/>
          </a:prstGeom>
        </p:spPr>
      </p:pic>
    </p:spTree>
    <p:extLst>
      <p:ext uri="{BB962C8B-B14F-4D97-AF65-F5344CB8AC3E}">
        <p14:creationId xmlns:p14="http://schemas.microsoft.com/office/powerpoint/2010/main" val="199730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Python Tuple</a:t>
            </a:r>
            <a:br>
              <a:rPr lang="en-US" dirty="0" smtClean="0"/>
            </a:br>
            <a:endParaRPr lang="en-US" dirty="0"/>
          </a:p>
        </p:txBody>
      </p:sp>
      <p:sp>
        <p:nvSpPr>
          <p:cNvPr id="3" name="Content Placeholder 2"/>
          <p:cNvSpPr>
            <a:spLocks noGrp="1"/>
          </p:cNvSpPr>
          <p:nvPr>
            <p:ph idx="1"/>
          </p:nvPr>
        </p:nvSpPr>
        <p:spPr>
          <a:xfrm>
            <a:off x="579549" y="991673"/>
            <a:ext cx="10774251" cy="5185290"/>
          </a:xfrm>
        </p:spPr>
        <p:txBody>
          <a:bodyPr/>
          <a:lstStyle/>
          <a:p>
            <a:r>
              <a:rPr lang="en-US" dirty="0" smtClean="0"/>
              <a:t>Python Tuple is used to store the sequence of immutable Python objects. The tuple is similar to lists since the value of the items stored in the list can be changed, whereas the tuple is immutable, and the value of the items stored in the tuple cannot be changed.</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599125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9073" y="479502"/>
            <a:ext cx="10684727" cy="5697461"/>
          </a:xfrm>
        </p:spPr>
        <p:txBody>
          <a:bodyPr>
            <a:normAutofit lnSpcReduction="10000"/>
          </a:bodyPr>
          <a:lstStyle/>
          <a:p>
            <a:r>
              <a:rPr lang="en-US" b="1" dirty="0" smtClean="0"/>
              <a:t>Creating a tuple</a:t>
            </a:r>
          </a:p>
          <a:p>
            <a:r>
              <a:rPr lang="en-US" b="1" dirty="0" smtClean="0"/>
              <a:t>A tuple can be written as the collection of comma-separated (,) values enclosed with the small () brackets. The parentheses are optional but it is good practice to use. A tuple can be defined as follows.</a:t>
            </a:r>
          </a:p>
          <a:p>
            <a:endParaRPr lang="en-US" b="1" dirty="0" smtClean="0"/>
          </a:p>
          <a:p>
            <a:r>
              <a:rPr lang="en-US" b="1" dirty="0" smtClean="0"/>
              <a:t>T1 = (101, "Peter", 22)    </a:t>
            </a:r>
          </a:p>
          <a:p>
            <a:r>
              <a:rPr lang="en-US" b="1" dirty="0" smtClean="0"/>
              <a:t>T2 = ("Apple", "Banana", "Orange")     </a:t>
            </a:r>
          </a:p>
          <a:p>
            <a:r>
              <a:rPr lang="en-US" b="1" dirty="0" smtClean="0"/>
              <a:t>T3 = 10,20,30,40,50  </a:t>
            </a:r>
          </a:p>
          <a:p>
            <a:r>
              <a:rPr lang="en-US" b="1" dirty="0" smtClean="0"/>
              <a:t>  </a:t>
            </a:r>
          </a:p>
          <a:p>
            <a:r>
              <a:rPr lang="en-US" b="1" dirty="0" smtClean="0"/>
              <a:t>print(type(T1))  </a:t>
            </a:r>
          </a:p>
          <a:p>
            <a:r>
              <a:rPr lang="en-US" b="1" dirty="0" smtClean="0"/>
              <a:t>print(type(T2))  </a:t>
            </a:r>
          </a:p>
          <a:p>
            <a:r>
              <a:rPr lang="en-US" b="1" dirty="0" smtClean="0"/>
              <a:t>print(type(T3)) </a:t>
            </a:r>
            <a:endParaRPr lang="en-US" b="1"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040158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&lt;class 'tuple'&gt;</a:t>
            </a:r>
          </a:p>
          <a:p>
            <a:r>
              <a:rPr lang="en-US" dirty="0" smtClean="0"/>
              <a:t>&lt;class 'tuple'&gt;</a:t>
            </a:r>
          </a:p>
          <a:p>
            <a:r>
              <a:rPr lang="en-US" dirty="0" smtClean="0"/>
              <a:t>&lt;class 'tuple'&gt;</a:t>
            </a:r>
          </a:p>
          <a:p>
            <a:r>
              <a:rPr lang="en-US" dirty="0" smtClean="0"/>
              <a:t>Note: The tuple which is created without using parentheses is also known as tuple packing.</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4823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 empty tuple can be created as follows.</a:t>
            </a:r>
            <a:br>
              <a:rPr lang="en-US" dirty="0" smtClean="0"/>
            </a:br>
            <a:endParaRPr lang="en-US" dirty="0"/>
          </a:p>
        </p:txBody>
      </p:sp>
      <p:sp>
        <p:nvSpPr>
          <p:cNvPr id="3" name="Content Placeholder 2"/>
          <p:cNvSpPr>
            <a:spLocks noGrp="1"/>
          </p:cNvSpPr>
          <p:nvPr>
            <p:ph idx="1"/>
          </p:nvPr>
        </p:nvSpPr>
        <p:spPr>
          <a:xfrm>
            <a:off x="680224" y="1115122"/>
            <a:ext cx="10673576" cy="5061841"/>
          </a:xfrm>
        </p:spPr>
        <p:txBody>
          <a:bodyPr>
            <a:normAutofit fontScale="62500" lnSpcReduction="20000"/>
          </a:bodyPr>
          <a:lstStyle/>
          <a:p>
            <a:endParaRPr lang="en-US" dirty="0" smtClean="0"/>
          </a:p>
          <a:p>
            <a:r>
              <a:rPr lang="en-US" b="1" dirty="0" smtClean="0"/>
              <a:t>T4 = ()</a:t>
            </a:r>
          </a:p>
          <a:p>
            <a:r>
              <a:rPr lang="en-US" b="1" dirty="0" smtClean="0"/>
              <a:t>Creating a tuple with single element is slightly different. We will need to put comma after the element to declare the tuple.</a:t>
            </a:r>
          </a:p>
          <a:p>
            <a:endParaRPr lang="en-US" b="1" dirty="0" smtClean="0"/>
          </a:p>
          <a:p>
            <a:r>
              <a:rPr lang="en-US" b="1" dirty="0" smtClean="0"/>
              <a:t>tup1 = (“Domain")  </a:t>
            </a:r>
          </a:p>
          <a:p>
            <a:r>
              <a:rPr lang="en-US" b="1" dirty="0" smtClean="0"/>
              <a:t>print(type(tup1))  </a:t>
            </a:r>
          </a:p>
          <a:p>
            <a:r>
              <a:rPr lang="en-US" b="1" dirty="0" smtClean="0"/>
              <a:t>#Creating a tuple with single element   </a:t>
            </a:r>
          </a:p>
          <a:p>
            <a:r>
              <a:rPr lang="en-US" b="1" dirty="0" smtClean="0"/>
              <a:t>tup2 = (“DOMAIN",)  </a:t>
            </a:r>
          </a:p>
          <a:p>
            <a:r>
              <a:rPr lang="en-US" b="1" dirty="0" smtClean="0"/>
              <a:t>print(type(tup2))  </a:t>
            </a:r>
          </a:p>
          <a:p>
            <a:r>
              <a:rPr lang="en-US" b="1" dirty="0" smtClean="0"/>
              <a:t>Output:</a:t>
            </a:r>
          </a:p>
          <a:p>
            <a:endParaRPr lang="en-US" b="1" dirty="0" smtClean="0"/>
          </a:p>
          <a:p>
            <a:r>
              <a:rPr lang="en-US" b="1" dirty="0" smtClean="0"/>
              <a:t>&lt;class '</a:t>
            </a:r>
            <a:r>
              <a:rPr lang="en-US" b="1" dirty="0" err="1" smtClean="0"/>
              <a:t>str</a:t>
            </a:r>
            <a:r>
              <a:rPr lang="en-US" b="1" dirty="0" smtClean="0"/>
              <a:t>'&gt;</a:t>
            </a:r>
          </a:p>
          <a:p>
            <a:r>
              <a:rPr lang="en-US" b="1" dirty="0" smtClean="0"/>
              <a:t>&lt;class 'tuple'&gt;</a:t>
            </a:r>
          </a:p>
          <a:p>
            <a:r>
              <a:rPr lang="en-US" dirty="0"/>
              <a:t>A tuple is indexed in the same way as the lists. The items in the tuple can be accessed by using their specific index value.</a:t>
            </a:r>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713630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Consider the following example of tuple:</a:t>
            </a:r>
            <a:br>
              <a:rPr lang="en-US" dirty="0" smtClean="0"/>
            </a:br>
            <a:endParaRPr lang="en-US" dirty="0"/>
          </a:p>
        </p:txBody>
      </p:sp>
      <p:sp>
        <p:nvSpPr>
          <p:cNvPr id="3" name="Content Placeholder 2"/>
          <p:cNvSpPr>
            <a:spLocks noGrp="1"/>
          </p:cNvSpPr>
          <p:nvPr>
            <p:ph sz="half" idx="1"/>
          </p:nvPr>
        </p:nvSpPr>
        <p:spPr>
          <a:xfrm>
            <a:off x="656823" y="1197735"/>
            <a:ext cx="5362977" cy="4979228"/>
          </a:xfrm>
        </p:spPr>
        <p:txBody>
          <a:bodyPr>
            <a:normAutofit lnSpcReduction="10000"/>
          </a:bodyPr>
          <a:lstStyle/>
          <a:p>
            <a:endParaRPr lang="en-US" dirty="0" smtClean="0"/>
          </a:p>
          <a:p>
            <a:r>
              <a:rPr lang="en-US" dirty="0" smtClean="0"/>
              <a:t>Example - 1</a:t>
            </a:r>
          </a:p>
          <a:p>
            <a:r>
              <a:rPr lang="en-US" dirty="0" smtClean="0"/>
              <a:t>tuple1 = (10, 20, 30, 40, 50, 60)    </a:t>
            </a:r>
          </a:p>
          <a:p>
            <a:r>
              <a:rPr lang="en-US" dirty="0" smtClean="0"/>
              <a:t>print(tuple1)    </a:t>
            </a:r>
          </a:p>
          <a:p>
            <a:r>
              <a:rPr lang="en-US" dirty="0" smtClean="0"/>
              <a:t>count = 0    </a:t>
            </a:r>
          </a:p>
          <a:p>
            <a:r>
              <a:rPr lang="en-US" dirty="0" smtClean="0"/>
              <a:t>for </a:t>
            </a:r>
            <a:r>
              <a:rPr lang="en-US" dirty="0" err="1" smtClean="0"/>
              <a:t>i</a:t>
            </a:r>
            <a:r>
              <a:rPr lang="en-US" dirty="0" smtClean="0"/>
              <a:t> in tuple1:    </a:t>
            </a:r>
          </a:p>
          <a:p>
            <a:r>
              <a:rPr lang="en-US" dirty="0" smtClean="0"/>
              <a:t>    print("tuple1[%d] = %d"%(count, </a:t>
            </a:r>
            <a:r>
              <a:rPr lang="en-US" dirty="0" err="1" smtClean="0"/>
              <a:t>i</a:t>
            </a:r>
            <a:r>
              <a:rPr lang="en-US" dirty="0" smtClean="0"/>
              <a:t>))   </a:t>
            </a:r>
          </a:p>
          <a:p>
            <a:r>
              <a:rPr lang="en-US" dirty="0" smtClean="0"/>
              <a:t>    count = count+1  </a:t>
            </a:r>
          </a:p>
        </p:txBody>
      </p:sp>
      <p:sp>
        <p:nvSpPr>
          <p:cNvPr id="4" name="Content Placeholder 3"/>
          <p:cNvSpPr>
            <a:spLocks noGrp="1"/>
          </p:cNvSpPr>
          <p:nvPr>
            <p:ph sz="half" idx="2"/>
          </p:nvPr>
        </p:nvSpPr>
        <p:spPr/>
        <p:txBody>
          <a:bodyPr>
            <a:normAutofit lnSpcReduction="10000"/>
          </a:bodyPr>
          <a:lstStyle/>
          <a:p>
            <a:r>
              <a:rPr lang="en-US" dirty="0" smtClean="0"/>
              <a:t>Output:</a:t>
            </a:r>
          </a:p>
          <a:p>
            <a:endParaRPr lang="en-US" dirty="0" smtClean="0"/>
          </a:p>
          <a:p>
            <a:r>
              <a:rPr lang="en-US" dirty="0" smtClean="0"/>
              <a:t>(10, 20, 30, 40, 50, 60)</a:t>
            </a:r>
          </a:p>
          <a:p>
            <a:r>
              <a:rPr lang="en-US" dirty="0" smtClean="0"/>
              <a:t>tuple1[0] = 10</a:t>
            </a:r>
          </a:p>
          <a:p>
            <a:r>
              <a:rPr lang="en-US" dirty="0" smtClean="0"/>
              <a:t>tuple1[1] = 20</a:t>
            </a:r>
          </a:p>
          <a:p>
            <a:r>
              <a:rPr lang="en-US" dirty="0" smtClean="0"/>
              <a:t>tuple1[2] = 30</a:t>
            </a:r>
          </a:p>
          <a:p>
            <a:r>
              <a:rPr lang="en-US" dirty="0" smtClean="0"/>
              <a:t>tuple1[3] = 40</a:t>
            </a:r>
          </a:p>
          <a:p>
            <a:r>
              <a:rPr lang="en-US" dirty="0" smtClean="0"/>
              <a:t>tuple1[4] = 50</a:t>
            </a:r>
          </a:p>
          <a:p>
            <a:r>
              <a:rPr lang="en-US" dirty="0" smtClean="0"/>
              <a:t>tuple1[5] = 60</a:t>
            </a:r>
          </a:p>
          <a:p>
            <a:endParaRPr lang="en-US" dirty="0"/>
          </a:p>
        </p:txBody>
      </p:sp>
      <p:pic>
        <p:nvPicPr>
          <p:cNvPr id="5" name="Picture 4"/>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4178432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Example - 2</a:t>
            </a:r>
            <a:br>
              <a:rPr lang="en-US" dirty="0" smtClean="0"/>
            </a:br>
            <a:endParaRPr lang="en-US" dirty="0"/>
          </a:p>
        </p:txBody>
      </p:sp>
      <p:sp>
        <p:nvSpPr>
          <p:cNvPr id="6" name="Content Placeholder 5"/>
          <p:cNvSpPr>
            <a:spLocks noGrp="1"/>
          </p:cNvSpPr>
          <p:nvPr>
            <p:ph sz="half" idx="1"/>
          </p:nvPr>
        </p:nvSpPr>
        <p:spPr>
          <a:xfrm>
            <a:off x="631065" y="1081825"/>
            <a:ext cx="5808372" cy="5095138"/>
          </a:xfrm>
        </p:spPr>
        <p:txBody>
          <a:bodyPr>
            <a:normAutofit fontScale="92500" lnSpcReduction="20000"/>
          </a:bodyPr>
          <a:lstStyle/>
          <a:p>
            <a:r>
              <a:rPr lang="en-US" dirty="0" smtClean="0"/>
              <a:t>tuple1 = tuple(input("Enter the tuple elements ..."))  </a:t>
            </a:r>
          </a:p>
          <a:p>
            <a:r>
              <a:rPr lang="en-US" dirty="0" smtClean="0"/>
              <a:t>print(tuple1)    </a:t>
            </a:r>
          </a:p>
          <a:p>
            <a:r>
              <a:rPr lang="en-US" dirty="0" smtClean="0"/>
              <a:t>count = 0    </a:t>
            </a:r>
          </a:p>
          <a:p>
            <a:r>
              <a:rPr lang="en-US" dirty="0" smtClean="0"/>
              <a:t>for </a:t>
            </a:r>
            <a:r>
              <a:rPr lang="en-US" dirty="0" err="1" smtClean="0"/>
              <a:t>i</a:t>
            </a:r>
            <a:r>
              <a:rPr lang="en-US" dirty="0" smtClean="0"/>
              <a:t> in tuple1:    </a:t>
            </a:r>
          </a:p>
          <a:p>
            <a:r>
              <a:rPr lang="en-US" dirty="0" smtClean="0"/>
              <a:t>    print("tuple1[%d] = %s"%(count, </a:t>
            </a:r>
            <a:r>
              <a:rPr lang="en-US" dirty="0" err="1" smtClean="0"/>
              <a:t>i</a:t>
            </a:r>
            <a:r>
              <a:rPr lang="en-US" dirty="0" smtClean="0"/>
              <a:t>))   </a:t>
            </a:r>
          </a:p>
          <a:p>
            <a:r>
              <a:rPr lang="en-US" dirty="0" smtClean="0"/>
              <a:t>    count = count+1  </a:t>
            </a:r>
          </a:p>
        </p:txBody>
      </p:sp>
      <p:sp>
        <p:nvSpPr>
          <p:cNvPr id="8" name="Content Placeholder 7"/>
          <p:cNvSpPr>
            <a:spLocks noGrp="1"/>
          </p:cNvSpPr>
          <p:nvPr>
            <p:ph sz="half" idx="2"/>
          </p:nvPr>
        </p:nvSpPr>
        <p:spPr/>
        <p:txBody>
          <a:bodyPr>
            <a:normAutofit fontScale="92500" lnSpcReduction="20000"/>
          </a:bodyPr>
          <a:lstStyle/>
          <a:p>
            <a:r>
              <a:rPr lang="en-US" dirty="0" smtClean="0"/>
              <a:t>Output:</a:t>
            </a:r>
          </a:p>
          <a:p>
            <a:endParaRPr lang="en-US" dirty="0" smtClean="0"/>
          </a:p>
          <a:p>
            <a:r>
              <a:rPr lang="en-US" dirty="0" smtClean="0"/>
              <a:t>Enter the tuple elements ...123456</a:t>
            </a:r>
          </a:p>
          <a:p>
            <a:r>
              <a:rPr lang="en-US" dirty="0" smtClean="0"/>
              <a:t>('1', '2', '3', '4', '5', '6')</a:t>
            </a:r>
          </a:p>
          <a:p>
            <a:r>
              <a:rPr lang="en-US" dirty="0" smtClean="0"/>
              <a:t>tuple1[0] = 1</a:t>
            </a:r>
          </a:p>
          <a:p>
            <a:r>
              <a:rPr lang="en-US" dirty="0" smtClean="0"/>
              <a:t>tuple1[1] = 2</a:t>
            </a:r>
          </a:p>
          <a:p>
            <a:r>
              <a:rPr lang="en-US" dirty="0" smtClean="0"/>
              <a:t>tuple1[2] = 3</a:t>
            </a:r>
          </a:p>
          <a:p>
            <a:r>
              <a:rPr lang="en-US" dirty="0" smtClean="0"/>
              <a:t>tuple1[3] = 4</a:t>
            </a:r>
          </a:p>
          <a:p>
            <a:r>
              <a:rPr lang="en-US" dirty="0" smtClean="0"/>
              <a:t>tuple1[4] = 5</a:t>
            </a:r>
          </a:p>
          <a:p>
            <a:r>
              <a:rPr lang="en-US" dirty="0" smtClean="0"/>
              <a:t>tuple1[5] = 6</a:t>
            </a:r>
          </a:p>
          <a:p>
            <a:endParaRPr lang="en-US" dirty="0"/>
          </a:p>
        </p:txBody>
      </p:sp>
      <p:sp>
        <p:nvSpPr>
          <p:cNvPr id="9" name="Rectangle 8"/>
          <p:cNvSpPr/>
          <p:nvPr/>
        </p:nvSpPr>
        <p:spPr>
          <a:xfrm>
            <a:off x="1174595" y="5882489"/>
            <a:ext cx="6096000" cy="646331"/>
          </a:xfrm>
          <a:prstGeom prst="rect">
            <a:avLst/>
          </a:prstGeom>
        </p:spPr>
        <p:txBody>
          <a:bodyPr>
            <a:spAutoFit/>
          </a:bodyPr>
          <a:lstStyle/>
          <a:p>
            <a:r>
              <a:rPr lang="en-US" dirty="0" smtClean="0"/>
              <a:t>A tuple is indexed in the same way as the lists. The items in the tuple can be accessed by using their specific index value.</a:t>
            </a:r>
            <a:endParaRPr lang="en-US" dirty="0"/>
          </a:p>
        </p:txBody>
      </p:sp>
      <p:pic>
        <p:nvPicPr>
          <p:cNvPr id="7" name="Picture 6"/>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920899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Tuple indexing and slicing</a:t>
            </a:r>
            <a:endParaRPr lang="en-US" dirty="0"/>
          </a:p>
        </p:txBody>
      </p:sp>
      <p:sp>
        <p:nvSpPr>
          <p:cNvPr id="6" name="Content Placeholder 5"/>
          <p:cNvSpPr>
            <a:spLocks noGrp="1"/>
          </p:cNvSpPr>
          <p:nvPr>
            <p:ph idx="1"/>
          </p:nvPr>
        </p:nvSpPr>
        <p:spPr/>
        <p:txBody>
          <a:bodyPr/>
          <a:lstStyle/>
          <a:p>
            <a:r>
              <a:rPr lang="en-US" dirty="0" smtClean="0"/>
              <a:t>The indexing and slicing in the tuple are similar to lists. The indexing in the tuple starts from 0 and goes to length(tuple) - 1.</a:t>
            </a:r>
          </a:p>
          <a:p>
            <a:endParaRPr lang="en-US" dirty="0" smtClean="0"/>
          </a:p>
          <a:p>
            <a:r>
              <a:rPr lang="en-US" dirty="0" smtClean="0"/>
              <a:t>The items in the tuple can be accessed by using the </a:t>
            </a:r>
            <a:r>
              <a:rPr lang="en-US" b="1" dirty="0" smtClean="0"/>
              <a:t>index [] operator. </a:t>
            </a:r>
            <a:r>
              <a:rPr lang="en-US" dirty="0" smtClean="0"/>
              <a:t>Python also allows us to use the colon operator to access multiple items in the tuple.</a:t>
            </a:r>
          </a:p>
          <a:p>
            <a:endParaRPr lang="en-US" dirty="0" smtClean="0"/>
          </a:p>
          <a:p>
            <a:r>
              <a:rPr lang="en-US" dirty="0" smtClean="0"/>
              <a:t>Consider the following image to understand the indexing and slicing in detail.</a:t>
            </a:r>
          </a:p>
          <a:p>
            <a:endParaRPr lang="en-US" dirty="0" smtClean="0"/>
          </a:p>
          <a:p>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3128506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319455" y="812714"/>
            <a:ext cx="6162558" cy="5203118"/>
          </a:xfrm>
          <a:prstGeom prst="rect">
            <a:avLst/>
          </a:prstGeom>
        </p:spPr>
      </p:pic>
      <p:pic>
        <p:nvPicPr>
          <p:cNvPr id="3" name="Picture 2"/>
          <p:cNvPicPr>
            <a:picLocks noChangeAspect="1"/>
          </p:cNvPicPr>
          <p:nvPr/>
        </p:nvPicPr>
        <p:blipFill>
          <a:blip r:embed="rId3"/>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89613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Consider the following example:</a:t>
            </a:r>
            <a:br>
              <a:rPr lang="en-US" dirty="0" smtClean="0"/>
            </a:br>
            <a:r>
              <a:rPr lang="en-US" dirty="0" smtClean="0"/>
              <a:t/>
            </a:r>
            <a:br>
              <a:rPr lang="en-US" dirty="0" smtClean="0"/>
            </a:br>
            <a:endParaRPr lang="en-US" dirty="0"/>
          </a:p>
        </p:txBody>
      </p:sp>
      <p:sp>
        <p:nvSpPr>
          <p:cNvPr id="3" name="Content Placeholder 2"/>
          <p:cNvSpPr>
            <a:spLocks noGrp="1"/>
          </p:cNvSpPr>
          <p:nvPr>
            <p:ph idx="1"/>
          </p:nvPr>
        </p:nvSpPr>
        <p:spPr>
          <a:xfrm>
            <a:off x="771293" y="989284"/>
            <a:ext cx="10515600" cy="4351338"/>
          </a:xfrm>
        </p:spPr>
        <p:txBody>
          <a:bodyPr>
            <a:normAutofit fontScale="77500" lnSpcReduction="20000"/>
          </a:bodyPr>
          <a:lstStyle/>
          <a:p>
            <a:r>
              <a:rPr lang="en-US" b="1" dirty="0" err="1" smtClean="0"/>
              <a:t>tup</a:t>
            </a:r>
            <a:r>
              <a:rPr lang="en-US" b="1" dirty="0" smtClean="0"/>
              <a:t> = (1,2,3,4,5,6,7)  </a:t>
            </a:r>
          </a:p>
          <a:p>
            <a:r>
              <a:rPr lang="en-US" b="1" dirty="0" smtClean="0"/>
              <a:t>print(</a:t>
            </a:r>
            <a:r>
              <a:rPr lang="en-US" b="1" dirty="0" err="1" smtClean="0"/>
              <a:t>tup</a:t>
            </a:r>
            <a:r>
              <a:rPr lang="en-US" b="1" dirty="0" smtClean="0"/>
              <a:t>[0])  </a:t>
            </a:r>
          </a:p>
          <a:p>
            <a:r>
              <a:rPr lang="en-US" b="1" dirty="0" smtClean="0"/>
              <a:t>print(</a:t>
            </a:r>
            <a:r>
              <a:rPr lang="en-US" b="1" dirty="0" err="1" smtClean="0"/>
              <a:t>tup</a:t>
            </a:r>
            <a:r>
              <a:rPr lang="en-US" b="1" dirty="0" smtClean="0"/>
              <a:t>[1])  </a:t>
            </a:r>
          </a:p>
          <a:p>
            <a:r>
              <a:rPr lang="en-US" b="1" dirty="0" smtClean="0"/>
              <a:t>print(</a:t>
            </a:r>
            <a:r>
              <a:rPr lang="en-US" b="1" dirty="0" err="1" smtClean="0"/>
              <a:t>tup</a:t>
            </a:r>
            <a:r>
              <a:rPr lang="en-US" b="1" dirty="0" smtClean="0"/>
              <a:t>[2])  </a:t>
            </a:r>
          </a:p>
          <a:p>
            <a:r>
              <a:rPr lang="en-US" b="1" dirty="0" smtClean="0"/>
              <a:t># It will give the </a:t>
            </a:r>
            <a:r>
              <a:rPr lang="en-US" b="1" dirty="0" err="1" smtClean="0"/>
              <a:t>IndexError</a:t>
            </a:r>
            <a:r>
              <a:rPr lang="en-US" b="1" dirty="0" smtClean="0"/>
              <a:t>  </a:t>
            </a:r>
          </a:p>
          <a:p>
            <a:r>
              <a:rPr lang="en-US" b="1" dirty="0" smtClean="0"/>
              <a:t>print(</a:t>
            </a:r>
            <a:r>
              <a:rPr lang="en-US" b="1" dirty="0" err="1" smtClean="0"/>
              <a:t>tup</a:t>
            </a:r>
            <a:r>
              <a:rPr lang="en-US" b="1" dirty="0" smtClean="0"/>
              <a:t>[8])  </a:t>
            </a:r>
          </a:p>
          <a:p>
            <a:r>
              <a:rPr lang="en-US" b="1" dirty="0" smtClean="0"/>
              <a:t>Output:</a:t>
            </a:r>
          </a:p>
          <a:p>
            <a:endParaRPr lang="en-US" b="1" dirty="0" smtClean="0"/>
          </a:p>
          <a:p>
            <a:r>
              <a:rPr lang="en-US" b="1" dirty="0" smtClean="0"/>
              <a:t>1</a:t>
            </a:r>
          </a:p>
          <a:p>
            <a:r>
              <a:rPr lang="en-US" b="1" dirty="0" smtClean="0"/>
              <a:t>2</a:t>
            </a:r>
          </a:p>
          <a:p>
            <a:r>
              <a:rPr lang="en-US" b="1" dirty="0" smtClean="0"/>
              <a:t>3</a:t>
            </a:r>
          </a:p>
          <a:p>
            <a:r>
              <a:rPr lang="en-US" b="1" dirty="0" smtClean="0"/>
              <a:t>tuple index out of range</a:t>
            </a:r>
            <a:endParaRPr lang="en-US" b="1" dirty="0"/>
          </a:p>
        </p:txBody>
      </p:sp>
      <p:sp>
        <p:nvSpPr>
          <p:cNvPr id="4" name="Rectangle 3"/>
          <p:cNvSpPr/>
          <p:nvPr/>
        </p:nvSpPr>
        <p:spPr>
          <a:xfrm>
            <a:off x="1018478" y="5375998"/>
            <a:ext cx="8526966" cy="646331"/>
          </a:xfrm>
          <a:prstGeom prst="rect">
            <a:avLst/>
          </a:prstGeom>
        </p:spPr>
        <p:txBody>
          <a:bodyPr wrap="square">
            <a:spAutoFit/>
          </a:bodyPr>
          <a:lstStyle/>
          <a:p>
            <a:r>
              <a:rPr lang="en-US" dirty="0" smtClean="0"/>
              <a:t>In the above code, the tuple has 7 elements which denote 0 to 6. We tried to access an element outside of tuple that raised an </a:t>
            </a:r>
            <a:r>
              <a:rPr lang="en-US" dirty="0" err="1" smtClean="0"/>
              <a:t>IndexError</a:t>
            </a:r>
            <a:r>
              <a:rPr lang="en-US" dirty="0" smtClean="0"/>
              <a:t>.</a:t>
            </a:r>
            <a:endParaRPr lang="en-US" dirty="0"/>
          </a:p>
        </p:txBody>
      </p:sp>
      <p:pic>
        <p:nvPicPr>
          <p:cNvPr id="5" name="Picture 4"/>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3195921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276" y="386366"/>
            <a:ext cx="10851524" cy="5790597"/>
          </a:xfrm>
        </p:spPr>
        <p:txBody>
          <a:bodyPr>
            <a:normAutofit/>
          </a:bodyPr>
          <a:lstStyle/>
          <a:p>
            <a:r>
              <a:rPr lang="en-US" dirty="0" smtClean="0"/>
              <a:t>tuple = (1,2,3,4,5,6,7)  </a:t>
            </a:r>
          </a:p>
          <a:p>
            <a:r>
              <a:rPr lang="en-US" dirty="0" smtClean="0"/>
              <a:t>#element 1 to end  </a:t>
            </a:r>
          </a:p>
          <a:p>
            <a:r>
              <a:rPr lang="en-US" dirty="0" smtClean="0"/>
              <a:t>print(tuple[1:])  </a:t>
            </a:r>
          </a:p>
          <a:p>
            <a:r>
              <a:rPr lang="en-US" dirty="0" smtClean="0"/>
              <a:t>#element 0 to 3 element   </a:t>
            </a:r>
          </a:p>
          <a:p>
            <a:r>
              <a:rPr lang="en-US" dirty="0" smtClean="0"/>
              <a:t>print(tuple[:4])  </a:t>
            </a:r>
          </a:p>
          <a:p>
            <a:r>
              <a:rPr lang="en-US" dirty="0" smtClean="0"/>
              <a:t>#element 1 to 4 element  </a:t>
            </a:r>
          </a:p>
          <a:p>
            <a:r>
              <a:rPr lang="en-US" dirty="0" smtClean="0"/>
              <a:t>print(tuple[1:5])   </a:t>
            </a:r>
          </a:p>
          <a:p>
            <a:r>
              <a:rPr lang="en-US" dirty="0" smtClean="0"/>
              <a:t># element 0 to 6 and take step of 2  </a:t>
            </a:r>
          </a:p>
          <a:p>
            <a:r>
              <a:rPr lang="en-US" dirty="0" smtClean="0"/>
              <a:t>print(tuple[0:6:2]) </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5135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Output:</a:t>
            </a:r>
          </a:p>
          <a:p>
            <a:endParaRPr lang="en-US" dirty="0" smtClean="0"/>
          </a:p>
          <a:p>
            <a:r>
              <a:rPr lang="en-US" dirty="0" smtClean="0"/>
              <a:t>(2, 3, 4, 5, 6, 7)</a:t>
            </a:r>
          </a:p>
          <a:p>
            <a:r>
              <a:rPr lang="en-US" dirty="0" smtClean="0"/>
              <a:t>(1, 2, 3, 4)</a:t>
            </a:r>
          </a:p>
          <a:p>
            <a:r>
              <a:rPr lang="en-US" dirty="0" smtClean="0"/>
              <a:t>(1, 2, 3, 4)</a:t>
            </a:r>
          </a:p>
          <a:p>
            <a:r>
              <a:rPr lang="en-US" dirty="0" smtClean="0"/>
              <a:t>(1, 3, 5)</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793029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Negative Indexing</a:t>
            </a:r>
            <a:br>
              <a:rPr lang="en-US" dirty="0" smtClean="0"/>
            </a:br>
            <a:endParaRPr lang="en-US" dirty="0"/>
          </a:p>
        </p:txBody>
      </p:sp>
      <p:sp>
        <p:nvSpPr>
          <p:cNvPr id="3" name="Content Placeholder 2"/>
          <p:cNvSpPr>
            <a:spLocks noGrp="1"/>
          </p:cNvSpPr>
          <p:nvPr>
            <p:ph idx="1"/>
          </p:nvPr>
        </p:nvSpPr>
        <p:spPr/>
        <p:txBody>
          <a:bodyPr/>
          <a:lstStyle/>
          <a:p>
            <a:r>
              <a:rPr lang="en-US" dirty="0" smtClean="0"/>
              <a:t>The tuple element can also access by using negative indexing. The index of -1 denotes the rightmost element and -2 to the second last item and so on.</a:t>
            </a:r>
          </a:p>
          <a:p>
            <a:endParaRPr lang="en-US" dirty="0" smtClean="0"/>
          </a:p>
          <a:p>
            <a:r>
              <a:rPr lang="en-US" dirty="0" smtClean="0"/>
              <a:t>The elements from left to right are traversed using the negative indexing. Consider the following example:</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968492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789" y="631065"/>
            <a:ext cx="11225011" cy="5545898"/>
          </a:xfrm>
        </p:spPr>
        <p:txBody>
          <a:bodyPr>
            <a:normAutofit fontScale="70000" lnSpcReduction="20000"/>
          </a:bodyPr>
          <a:lstStyle/>
          <a:p>
            <a:r>
              <a:rPr lang="en-US" sz="3800" dirty="0" smtClean="0"/>
              <a:t>tuple1 = (1, 2, 3, 4, 5)    </a:t>
            </a:r>
          </a:p>
          <a:p>
            <a:r>
              <a:rPr lang="en-US" sz="3800" dirty="0" smtClean="0"/>
              <a:t>print(tuple1[-1])    </a:t>
            </a:r>
          </a:p>
          <a:p>
            <a:r>
              <a:rPr lang="en-US" sz="3800" dirty="0" smtClean="0"/>
              <a:t>print(tuple1[-4])    </a:t>
            </a:r>
          </a:p>
          <a:p>
            <a:r>
              <a:rPr lang="en-US" sz="3800" dirty="0" smtClean="0"/>
              <a:t>print(tuple1[-3:-1])  </a:t>
            </a:r>
          </a:p>
          <a:p>
            <a:r>
              <a:rPr lang="en-US" sz="3800" dirty="0" smtClean="0"/>
              <a:t>print(tuple1[:-1])  </a:t>
            </a:r>
          </a:p>
          <a:p>
            <a:r>
              <a:rPr lang="en-US" sz="3800" dirty="0" smtClean="0"/>
              <a:t>print(tuple1[-2:])  </a:t>
            </a:r>
          </a:p>
          <a:p>
            <a:r>
              <a:rPr lang="en-US" sz="3800" dirty="0" smtClean="0"/>
              <a:t>Output:</a:t>
            </a:r>
          </a:p>
          <a:p>
            <a:endParaRPr lang="en-US" sz="3800" dirty="0" smtClean="0"/>
          </a:p>
          <a:p>
            <a:r>
              <a:rPr lang="en-US" sz="3800" dirty="0" smtClean="0"/>
              <a:t>5</a:t>
            </a:r>
          </a:p>
          <a:p>
            <a:r>
              <a:rPr lang="en-US" sz="3800" dirty="0" smtClean="0"/>
              <a:t>2</a:t>
            </a:r>
          </a:p>
          <a:p>
            <a:r>
              <a:rPr lang="en-US" sz="3800" dirty="0" smtClean="0"/>
              <a:t>(3, 4)</a:t>
            </a:r>
          </a:p>
          <a:p>
            <a:r>
              <a:rPr lang="en-US" sz="3800" dirty="0" smtClean="0"/>
              <a:t>(1, 2, 3, 4)</a:t>
            </a:r>
          </a:p>
          <a:p>
            <a:r>
              <a:rPr lang="en-US" sz="3800" dirty="0" smtClean="0"/>
              <a:t>(4, </a:t>
            </a:r>
            <a:r>
              <a:rPr lang="en-US" dirty="0" smtClean="0"/>
              <a:t>5)</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3061085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Deleting Tuple</a:t>
            </a:r>
            <a:br>
              <a:rPr lang="en-US" dirty="0" smtClean="0"/>
            </a:br>
            <a:endParaRPr lang="en-US" dirty="0"/>
          </a:p>
        </p:txBody>
      </p:sp>
      <p:sp>
        <p:nvSpPr>
          <p:cNvPr id="3" name="Content Placeholder 2"/>
          <p:cNvSpPr>
            <a:spLocks noGrp="1"/>
          </p:cNvSpPr>
          <p:nvPr>
            <p:ph idx="1"/>
          </p:nvPr>
        </p:nvSpPr>
        <p:spPr/>
        <p:txBody>
          <a:bodyPr/>
          <a:lstStyle/>
          <a:p>
            <a:r>
              <a:rPr lang="en-US" dirty="0" smtClean="0"/>
              <a:t>Unlike lists, the tuple items cannot be deleted by using the del keyword as tuples are immutable. To delete an entire tuple, we can use the del keyword with the tuple name.</a:t>
            </a:r>
          </a:p>
          <a:p>
            <a:endParaRPr lang="en-US" dirty="0" smtClean="0"/>
          </a:p>
          <a:p>
            <a:r>
              <a:rPr lang="en-US" dirty="0" smtClean="0"/>
              <a:t>Consider the following example.</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008002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78794"/>
            <a:ext cx="11353800" cy="5198169"/>
          </a:xfrm>
        </p:spPr>
        <p:txBody>
          <a:bodyPr>
            <a:normAutofit fontScale="85000" lnSpcReduction="20000"/>
          </a:bodyPr>
          <a:lstStyle/>
          <a:p>
            <a:r>
              <a:rPr lang="en-US" b="1" dirty="0" smtClean="0"/>
              <a:t>tuple1 = (1, 2, 3, 4, 5, 6)    </a:t>
            </a:r>
          </a:p>
          <a:p>
            <a:r>
              <a:rPr lang="en-US" b="1" dirty="0" smtClean="0"/>
              <a:t>print(tuple1)    </a:t>
            </a:r>
          </a:p>
          <a:p>
            <a:r>
              <a:rPr lang="en-US" b="1" dirty="0" smtClean="0"/>
              <a:t>del tuple1[0]    </a:t>
            </a:r>
          </a:p>
          <a:p>
            <a:r>
              <a:rPr lang="en-US" b="1" dirty="0" smtClean="0"/>
              <a:t>print(tuple1)    </a:t>
            </a:r>
          </a:p>
          <a:p>
            <a:r>
              <a:rPr lang="en-US" b="1" dirty="0" smtClean="0"/>
              <a:t>del tuple1    </a:t>
            </a:r>
          </a:p>
          <a:p>
            <a:r>
              <a:rPr lang="en-US" b="1" dirty="0" smtClean="0"/>
              <a:t>print(tuple1)   </a:t>
            </a:r>
            <a:r>
              <a:rPr lang="en-US" dirty="0" smtClean="0"/>
              <a:t> </a:t>
            </a:r>
          </a:p>
          <a:p>
            <a:r>
              <a:rPr lang="en-US" dirty="0" smtClean="0"/>
              <a:t>Output:</a:t>
            </a:r>
          </a:p>
          <a:p>
            <a:endParaRPr lang="en-US" dirty="0" smtClean="0"/>
          </a:p>
          <a:p>
            <a:r>
              <a:rPr lang="en-US" dirty="0" smtClean="0"/>
              <a:t>(1, 2, 3, 4, 5, 6)</a:t>
            </a:r>
          </a:p>
          <a:p>
            <a:r>
              <a:rPr lang="en-US" dirty="0" err="1" smtClean="0"/>
              <a:t>Traceback</a:t>
            </a:r>
            <a:r>
              <a:rPr lang="en-US" dirty="0" smtClean="0"/>
              <a:t> (most recent call last):</a:t>
            </a:r>
          </a:p>
          <a:p>
            <a:r>
              <a:rPr lang="en-US" dirty="0" smtClean="0"/>
              <a:t>  File "tuple.py", line 4, in &lt;module&gt;</a:t>
            </a:r>
          </a:p>
          <a:p>
            <a:r>
              <a:rPr lang="en-US" dirty="0" smtClean="0"/>
              <a:t>    print(tuple1)</a:t>
            </a:r>
          </a:p>
          <a:p>
            <a:r>
              <a:rPr lang="en-US" dirty="0" err="1" smtClean="0"/>
              <a:t>NameError</a:t>
            </a:r>
            <a:r>
              <a:rPr lang="en-US" dirty="0" smtClean="0"/>
              <a:t>: name 'tuple1' is not defined</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2024283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Tuple operations</a:t>
            </a:r>
            <a:br>
              <a:rPr lang="en-US" dirty="0" smtClean="0"/>
            </a:br>
            <a:endParaRPr lang="en-US" dirty="0"/>
          </a:p>
        </p:txBody>
      </p:sp>
      <p:sp>
        <p:nvSpPr>
          <p:cNvPr id="3" name="Content Placeholder 2"/>
          <p:cNvSpPr>
            <a:spLocks noGrp="1"/>
          </p:cNvSpPr>
          <p:nvPr>
            <p:ph idx="1"/>
          </p:nvPr>
        </p:nvSpPr>
        <p:spPr/>
        <p:txBody>
          <a:bodyPr/>
          <a:lstStyle/>
          <a:p>
            <a:r>
              <a:rPr lang="en-US" dirty="0" smtClean="0"/>
              <a:t>The operators like concatenation (+), repetition (*), Membership (in) works in the same way as they work with the list. Consider the following table for more detail.</a:t>
            </a:r>
          </a:p>
          <a:p>
            <a:endParaRPr lang="en-US" dirty="0" smtClean="0"/>
          </a:p>
          <a:p>
            <a:r>
              <a:rPr lang="en-US" dirty="0" smtClean="0"/>
              <a:t>Let's say Tuple t = (1, 2, 3, 4, 5) and Tuple t1 = (6, 7, 8, 9) are declared.</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3435740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917393828"/>
              </p:ext>
            </p:extLst>
          </p:nvPr>
        </p:nvGraphicFramePr>
        <p:xfrm>
          <a:off x="882805" y="364815"/>
          <a:ext cx="10515600" cy="5379720"/>
        </p:xfrm>
        <a:graphic>
          <a:graphicData uri="http://schemas.openxmlformats.org/drawingml/2006/table">
            <a:tbl>
              <a:tblPr firstRow="1" bandRow="1">
                <a:tableStyleId>{5C22544A-7EE6-4342-B048-85BDC9FD1C3A}</a:tableStyleId>
              </a:tblPr>
              <a:tblGrid>
                <a:gridCol w="3505200"/>
                <a:gridCol w="3505200"/>
                <a:gridCol w="3505200"/>
              </a:tblGrid>
              <a:tr h="370840">
                <a:tc>
                  <a:txBody>
                    <a:bodyPr/>
                    <a:lstStyle/>
                    <a:p>
                      <a:pPr algn="l" fontAlgn="t"/>
                      <a:r>
                        <a:rPr lang="en-US" dirty="0">
                          <a:solidFill>
                            <a:srgbClr val="000000"/>
                          </a:solidFill>
                          <a:effectLst/>
                          <a:latin typeface="times new roman" panose="02020603050405020304" pitchFamily="18" charset="0"/>
                        </a:rPr>
                        <a:t>Operator</a:t>
                      </a:r>
                    </a:p>
                  </a:txBody>
                  <a:tcPr marL="114300" marR="114300" marT="114300" marB="114300"/>
                </a:tc>
                <a:tc>
                  <a:txBody>
                    <a:bodyPr/>
                    <a:lstStyle/>
                    <a:p>
                      <a:pPr algn="l" fontAlgn="t"/>
                      <a:r>
                        <a:rPr lang="en-US">
                          <a:solidFill>
                            <a:srgbClr val="000000"/>
                          </a:solidFill>
                          <a:effectLst/>
                          <a:latin typeface="times new roman" panose="02020603050405020304" pitchFamily="18" charset="0"/>
                        </a:rPr>
                        <a:t>Description</a:t>
                      </a:r>
                    </a:p>
                  </a:txBody>
                  <a:tcPr marL="114300" marR="114300" marT="114300" marB="114300"/>
                </a:tc>
                <a:tc>
                  <a:txBody>
                    <a:bodyPr/>
                    <a:lstStyle/>
                    <a:p>
                      <a:pPr algn="l" fontAlgn="t"/>
                      <a:r>
                        <a:rPr lang="en-US">
                          <a:solidFill>
                            <a:srgbClr val="000000"/>
                          </a:solidFill>
                          <a:effectLst/>
                          <a:latin typeface="times new roman" panose="02020603050405020304" pitchFamily="18" charset="0"/>
                        </a:rPr>
                        <a:t>Example</a:t>
                      </a:r>
                    </a:p>
                  </a:txBody>
                  <a:tcPr marL="114300" marR="114300" marT="114300" marB="114300"/>
                </a:tc>
              </a:tr>
              <a:tr h="370840">
                <a:tc>
                  <a:txBody>
                    <a:bodyPr/>
                    <a:lstStyle/>
                    <a:p>
                      <a:pPr algn="l" fontAlgn="t"/>
                      <a:r>
                        <a:rPr lang="en-US" dirty="0">
                          <a:solidFill>
                            <a:srgbClr val="000000"/>
                          </a:solidFill>
                          <a:effectLst/>
                          <a:latin typeface="verdana" panose="020B0604030504040204" pitchFamily="34" charset="0"/>
                        </a:rPr>
                        <a:t>Repetition</a:t>
                      </a:r>
                    </a:p>
                  </a:txBody>
                  <a:tcPr marL="76200" marR="76200" marT="76200" marB="76200"/>
                </a:tc>
                <a:tc>
                  <a:txBody>
                    <a:bodyPr/>
                    <a:lstStyle/>
                    <a:p>
                      <a:pPr algn="l" fontAlgn="t"/>
                      <a:r>
                        <a:rPr lang="en-US">
                          <a:solidFill>
                            <a:srgbClr val="000000"/>
                          </a:solidFill>
                          <a:effectLst/>
                          <a:latin typeface="verdana" panose="020B0604030504040204" pitchFamily="34" charset="0"/>
                        </a:rPr>
                        <a:t>The repetition operator enables the tuple elements to be repeated multiple times.</a:t>
                      </a:r>
                    </a:p>
                  </a:txBody>
                  <a:tcPr marL="76200" marR="76200" marT="76200" marB="76200"/>
                </a:tc>
                <a:tc>
                  <a:txBody>
                    <a:bodyPr/>
                    <a:lstStyle/>
                    <a:p>
                      <a:pPr algn="l" fontAlgn="t"/>
                      <a:r>
                        <a:rPr lang="en-US" dirty="0">
                          <a:solidFill>
                            <a:srgbClr val="000000"/>
                          </a:solidFill>
                          <a:effectLst/>
                          <a:latin typeface="verdana" panose="020B0604030504040204" pitchFamily="34" charset="0"/>
                        </a:rPr>
                        <a:t>T1*2 = (1, 2, 3, 4, 5, 1, 2, 3, 4, 5)</a:t>
                      </a:r>
                    </a:p>
                  </a:txBody>
                  <a:tcPr marL="76200" marR="76200" marT="76200" marB="76200"/>
                </a:tc>
              </a:tr>
              <a:tr h="370840">
                <a:tc>
                  <a:txBody>
                    <a:bodyPr/>
                    <a:lstStyle/>
                    <a:p>
                      <a:pPr algn="l" fontAlgn="t"/>
                      <a:r>
                        <a:rPr lang="en-US" dirty="0">
                          <a:solidFill>
                            <a:srgbClr val="000000"/>
                          </a:solidFill>
                          <a:effectLst/>
                          <a:latin typeface="verdana" panose="020B0604030504040204" pitchFamily="34" charset="0"/>
                        </a:rPr>
                        <a:t>Concatenation</a:t>
                      </a:r>
                    </a:p>
                  </a:txBody>
                  <a:tcPr marL="76200" marR="76200" marT="76200" marB="76200"/>
                </a:tc>
                <a:tc>
                  <a:txBody>
                    <a:bodyPr/>
                    <a:lstStyle/>
                    <a:p>
                      <a:pPr algn="l" fontAlgn="t"/>
                      <a:r>
                        <a:rPr lang="en-US">
                          <a:solidFill>
                            <a:srgbClr val="000000"/>
                          </a:solidFill>
                          <a:effectLst/>
                          <a:latin typeface="verdana" panose="020B0604030504040204" pitchFamily="34" charset="0"/>
                        </a:rPr>
                        <a:t>It concatenates the tuple mentioned on either side of the operator.</a:t>
                      </a:r>
                    </a:p>
                  </a:txBody>
                  <a:tcPr marL="76200" marR="76200" marT="76200" marB="76200"/>
                </a:tc>
                <a:tc>
                  <a:txBody>
                    <a:bodyPr/>
                    <a:lstStyle/>
                    <a:p>
                      <a:pPr algn="l" fontAlgn="t"/>
                      <a:r>
                        <a:rPr lang="en-US" dirty="0">
                          <a:solidFill>
                            <a:srgbClr val="000000"/>
                          </a:solidFill>
                          <a:effectLst/>
                          <a:latin typeface="verdana" panose="020B0604030504040204" pitchFamily="34" charset="0"/>
                        </a:rPr>
                        <a:t>T1+T2 = (1, 2, 3, 4, 5, 6, 7, 8, 9)</a:t>
                      </a:r>
                    </a:p>
                  </a:txBody>
                  <a:tcPr marL="76200" marR="76200" marT="76200" marB="76200"/>
                </a:tc>
              </a:tr>
              <a:tr h="370840">
                <a:tc>
                  <a:txBody>
                    <a:bodyPr/>
                    <a:lstStyle/>
                    <a:p>
                      <a:pPr algn="l" fontAlgn="t"/>
                      <a:r>
                        <a:rPr lang="en-US">
                          <a:solidFill>
                            <a:srgbClr val="000000"/>
                          </a:solidFill>
                          <a:effectLst/>
                          <a:latin typeface="verdana" panose="020B0604030504040204" pitchFamily="34" charset="0"/>
                        </a:rPr>
                        <a:t>Membership</a:t>
                      </a:r>
                    </a:p>
                  </a:txBody>
                  <a:tcPr marL="76200" marR="76200" marT="76200" marB="76200"/>
                </a:tc>
                <a:tc>
                  <a:txBody>
                    <a:bodyPr/>
                    <a:lstStyle/>
                    <a:p>
                      <a:pPr algn="l" fontAlgn="t"/>
                      <a:r>
                        <a:rPr lang="en-US">
                          <a:solidFill>
                            <a:srgbClr val="000000"/>
                          </a:solidFill>
                          <a:effectLst/>
                          <a:latin typeface="verdana" panose="020B0604030504040204" pitchFamily="34" charset="0"/>
                        </a:rPr>
                        <a:t>It returns true if a particular item exists in the tuple otherwise false</a:t>
                      </a:r>
                    </a:p>
                  </a:txBody>
                  <a:tcPr marL="76200" marR="76200" marT="76200" marB="76200"/>
                </a:tc>
                <a:tc>
                  <a:txBody>
                    <a:bodyPr/>
                    <a:lstStyle/>
                    <a:p>
                      <a:pPr algn="l" fontAlgn="t"/>
                      <a:r>
                        <a:rPr lang="en-US" dirty="0">
                          <a:solidFill>
                            <a:srgbClr val="000000"/>
                          </a:solidFill>
                          <a:effectLst/>
                          <a:latin typeface="verdana" panose="020B0604030504040204" pitchFamily="34" charset="0"/>
                        </a:rPr>
                        <a:t>print (2 in T1) prints True.</a:t>
                      </a:r>
                    </a:p>
                  </a:txBody>
                  <a:tcPr marL="76200" marR="76200" marT="76200" marB="76200"/>
                </a:tc>
              </a:tr>
              <a:tr h="370840">
                <a:tc>
                  <a:txBody>
                    <a:bodyPr/>
                    <a:lstStyle/>
                    <a:p>
                      <a:pPr algn="l" fontAlgn="t"/>
                      <a:r>
                        <a:rPr lang="en-US">
                          <a:solidFill>
                            <a:srgbClr val="000000"/>
                          </a:solidFill>
                          <a:effectLst/>
                          <a:latin typeface="verdana" panose="020B0604030504040204" pitchFamily="34" charset="0"/>
                        </a:rPr>
                        <a:t>Iteration</a:t>
                      </a:r>
                    </a:p>
                  </a:txBody>
                  <a:tcPr marL="76200" marR="76200" marT="76200" marB="76200"/>
                </a:tc>
                <a:tc>
                  <a:txBody>
                    <a:bodyPr/>
                    <a:lstStyle/>
                    <a:p>
                      <a:pPr algn="l" fontAlgn="t"/>
                      <a:r>
                        <a:rPr lang="en-US" dirty="0">
                          <a:solidFill>
                            <a:srgbClr val="000000"/>
                          </a:solidFill>
                          <a:effectLst/>
                          <a:latin typeface="verdana" panose="020B0604030504040204" pitchFamily="34" charset="0"/>
                        </a:rPr>
                        <a:t>The for loop is used to iterate over the tuple elements.</a:t>
                      </a:r>
                    </a:p>
                  </a:txBody>
                  <a:tcPr marL="76200" marR="76200" marT="76200" marB="76200"/>
                </a:tc>
                <a:tc>
                  <a:txBody>
                    <a:bodyPr/>
                    <a:lstStyle/>
                    <a:p>
                      <a:pPr algn="l" fontAlgn="t"/>
                      <a:r>
                        <a:rPr lang="en-US" dirty="0">
                          <a:solidFill>
                            <a:srgbClr val="000000"/>
                          </a:solidFill>
                          <a:effectLst/>
                          <a:latin typeface="verdana" panose="020B0604030504040204" pitchFamily="34" charset="0"/>
                        </a:rPr>
                        <a:t>for </a:t>
                      </a:r>
                      <a:r>
                        <a:rPr lang="en-US" dirty="0" err="1">
                          <a:solidFill>
                            <a:srgbClr val="000000"/>
                          </a:solidFill>
                          <a:effectLst/>
                          <a:latin typeface="verdana" panose="020B0604030504040204" pitchFamily="34" charset="0"/>
                        </a:rPr>
                        <a:t>i</a:t>
                      </a:r>
                      <a:r>
                        <a:rPr lang="en-US" dirty="0">
                          <a:solidFill>
                            <a:srgbClr val="000000"/>
                          </a:solidFill>
                          <a:effectLst/>
                          <a:latin typeface="verdana" panose="020B0604030504040204" pitchFamily="34" charset="0"/>
                        </a:rPr>
                        <a:t> in T1: print(</a:t>
                      </a:r>
                      <a:r>
                        <a:rPr lang="en-US" dirty="0" err="1">
                          <a:solidFill>
                            <a:srgbClr val="000000"/>
                          </a:solidFill>
                          <a:effectLst/>
                          <a:latin typeface="verdana" panose="020B0604030504040204" pitchFamily="34" charset="0"/>
                        </a:rPr>
                        <a:t>i</a:t>
                      </a:r>
                      <a:r>
                        <a:rPr lang="en-US" dirty="0">
                          <a:solidFill>
                            <a:srgbClr val="000000"/>
                          </a:solidFill>
                          <a:effectLst/>
                          <a:latin typeface="verdana" panose="020B0604030504040204" pitchFamily="34" charset="0"/>
                        </a:rPr>
                        <a:t>)</a:t>
                      </a:r>
                      <a:r>
                        <a:rPr lang="en-US" b="1" dirty="0">
                          <a:solidFill>
                            <a:srgbClr val="000000"/>
                          </a:solidFill>
                          <a:effectLst/>
                          <a:latin typeface="verdana" panose="020B0604030504040204" pitchFamily="34" charset="0"/>
                        </a:rPr>
                        <a:t>Output</a:t>
                      </a:r>
                      <a:r>
                        <a:rPr lang="en-US" dirty="0">
                          <a:solidFill>
                            <a:srgbClr val="000000"/>
                          </a:solidFill>
                          <a:effectLst/>
                          <a:latin typeface="verdana" panose="020B0604030504040204" pitchFamily="34" charset="0"/>
                        </a:rPr>
                        <a:t>1 2 3 4 5</a:t>
                      </a:r>
                    </a:p>
                  </a:txBody>
                  <a:tcPr marL="76200" marR="76200" marT="76200" marB="76200"/>
                </a:tc>
              </a:tr>
              <a:tr h="370840">
                <a:tc>
                  <a:txBody>
                    <a:bodyPr/>
                    <a:lstStyle/>
                    <a:p>
                      <a:pPr algn="l" fontAlgn="t"/>
                      <a:r>
                        <a:rPr lang="en-US">
                          <a:solidFill>
                            <a:srgbClr val="000000"/>
                          </a:solidFill>
                          <a:effectLst/>
                          <a:latin typeface="verdana" panose="020B0604030504040204" pitchFamily="34" charset="0"/>
                        </a:rPr>
                        <a:t>Length</a:t>
                      </a:r>
                    </a:p>
                  </a:txBody>
                  <a:tcPr marL="76200" marR="76200" marT="76200" marB="76200"/>
                </a:tc>
                <a:tc>
                  <a:txBody>
                    <a:bodyPr/>
                    <a:lstStyle/>
                    <a:p>
                      <a:pPr algn="l" fontAlgn="t"/>
                      <a:r>
                        <a:rPr lang="en-US">
                          <a:solidFill>
                            <a:srgbClr val="000000"/>
                          </a:solidFill>
                          <a:effectLst/>
                          <a:latin typeface="verdana" panose="020B0604030504040204" pitchFamily="34" charset="0"/>
                        </a:rPr>
                        <a:t>It is used to get the length of the tuple.</a:t>
                      </a:r>
                    </a:p>
                  </a:txBody>
                  <a:tcPr marL="76200" marR="76200" marT="76200" marB="76200"/>
                </a:tc>
                <a:tc>
                  <a:txBody>
                    <a:bodyPr/>
                    <a:lstStyle/>
                    <a:p>
                      <a:pPr algn="l" fontAlgn="t"/>
                      <a:r>
                        <a:rPr lang="en-US" dirty="0" err="1">
                          <a:solidFill>
                            <a:srgbClr val="000000"/>
                          </a:solidFill>
                          <a:effectLst/>
                          <a:latin typeface="verdana" panose="020B0604030504040204" pitchFamily="34" charset="0"/>
                        </a:rPr>
                        <a:t>len</a:t>
                      </a:r>
                      <a:r>
                        <a:rPr lang="en-US" dirty="0">
                          <a:solidFill>
                            <a:srgbClr val="000000"/>
                          </a:solidFill>
                          <a:effectLst/>
                          <a:latin typeface="verdana" panose="020B0604030504040204" pitchFamily="34" charset="0"/>
                        </a:rPr>
                        <a:t>(T1) = 5</a:t>
                      </a:r>
                    </a:p>
                  </a:txBody>
                  <a:tcPr marL="76200" marR="76200" marT="76200" marB="76200"/>
                </a:tc>
              </a:tr>
            </a:tbl>
          </a:graphicData>
        </a:graphic>
      </p:graphicFrame>
      <p:pic>
        <p:nvPicPr>
          <p:cNvPr id="3" name="Picture 2"/>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30737036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91691600"/>
              </p:ext>
            </p:extLst>
          </p:nvPr>
        </p:nvGraphicFramePr>
        <p:xfrm>
          <a:off x="615176" y="766259"/>
          <a:ext cx="10515600" cy="4927600"/>
        </p:xfrm>
        <a:graphic>
          <a:graphicData uri="http://schemas.openxmlformats.org/drawingml/2006/table">
            <a:tbl>
              <a:tblPr firstRow="1" bandRow="1">
                <a:tableStyleId>{5C22544A-7EE6-4342-B048-85BDC9FD1C3A}</a:tableStyleId>
              </a:tblPr>
              <a:tblGrid>
                <a:gridCol w="3505200"/>
                <a:gridCol w="3505200"/>
                <a:gridCol w="3505200"/>
              </a:tblGrid>
              <a:tr h="370840">
                <a:tc>
                  <a:txBody>
                    <a:bodyPr/>
                    <a:lstStyle/>
                    <a:p>
                      <a:pPr algn="l" fontAlgn="t"/>
                      <a:r>
                        <a:rPr lang="en-US" dirty="0">
                          <a:solidFill>
                            <a:srgbClr val="000000"/>
                          </a:solidFill>
                          <a:effectLst/>
                          <a:latin typeface="times new roman" panose="02020603050405020304" pitchFamily="18" charset="0"/>
                        </a:rPr>
                        <a:t>SN</a:t>
                      </a:r>
                    </a:p>
                  </a:txBody>
                  <a:tcPr marL="114300" marR="114300" marT="114300" marB="114300"/>
                </a:tc>
                <a:tc>
                  <a:txBody>
                    <a:bodyPr/>
                    <a:lstStyle/>
                    <a:p>
                      <a:pPr algn="l" fontAlgn="t"/>
                      <a:r>
                        <a:rPr lang="en-US">
                          <a:solidFill>
                            <a:srgbClr val="000000"/>
                          </a:solidFill>
                          <a:effectLst/>
                          <a:latin typeface="times new roman" panose="02020603050405020304" pitchFamily="18" charset="0"/>
                        </a:rPr>
                        <a:t>Function</a:t>
                      </a:r>
                    </a:p>
                  </a:txBody>
                  <a:tcPr marL="114300" marR="114300" marT="114300" marB="114300"/>
                </a:tc>
                <a:tc>
                  <a:txBody>
                    <a:bodyPr/>
                    <a:lstStyle/>
                    <a:p>
                      <a:pPr algn="l" fontAlgn="t"/>
                      <a:r>
                        <a:rPr lang="en-US">
                          <a:solidFill>
                            <a:srgbClr val="000000"/>
                          </a:solidFill>
                          <a:effectLst/>
                          <a:latin typeface="times new roman" panose="02020603050405020304" pitchFamily="18" charset="0"/>
                        </a:rPr>
                        <a:t>Description</a:t>
                      </a:r>
                    </a:p>
                  </a:txBody>
                  <a:tcPr marL="114300" marR="114300" marT="114300" marB="114300"/>
                </a:tc>
              </a:tr>
              <a:tr h="370840">
                <a:tc>
                  <a:txBody>
                    <a:bodyPr/>
                    <a:lstStyle/>
                    <a:p>
                      <a:pPr algn="l" fontAlgn="t"/>
                      <a:r>
                        <a:rPr lang="en-US" dirty="0">
                          <a:solidFill>
                            <a:srgbClr val="000000"/>
                          </a:solidFill>
                          <a:effectLst/>
                          <a:latin typeface="verdana" panose="020B0604030504040204" pitchFamily="34" charset="0"/>
                        </a:rPr>
                        <a:t>1</a:t>
                      </a:r>
                    </a:p>
                  </a:txBody>
                  <a:tcPr marL="76200" marR="76200" marT="76200" marB="76200"/>
                </a:tc>
                <a:tc>
                  <a:txBody>
                    <a:bodyPr/>
                    <a:lstStyle/>
                    <a:p>
                      <a:pPr algn="l" fontAlgn="t"/>
                      <a:r>
                        <a:rPr lang="en-US" dirty="0" err="1">
                          <a:solidFill>
                            <a:srgbClr val="000000"/>
                          </a:solidFill>
                          <a:effectLst/>
                          <a:latin typeface="verdana" panose="020B0604030504040204" pitchFamily="34" charset="0"/>
                        </a:rPr>
                        <a:t>cmp</a:t>
                      </a:r>
                      <a:r>
                        <a:rPr lang="en-US" dirty="0">
                          <a:solidFill>
                            <a:srgbClr val="000000"/>
                          </a:solidFill>
                          <a:effectLst/>
                          <a:latin typeface="verdana" panose="020B0604030504040204" pitchFamily="34" charset="0"/>
                        </a:rPr>
                        <a:t>(tuple1, tuple2)</a:t>
                      </a:r>
                    </a:p>
                  </a:txBody>
                  <a:tcPr marL="76200" marR="76200" marT="76200" marB="76200"/>
                </a:tc>
                <a:tc>
                  <a:txBody>
                    <a:bodyPr/>
                    <a:lstStyle/>
                    <a:p>
                      <a:pPr algn="l" fontAlgn="t"/>
                      <a:r>
                        <a:rPr lang="en-US">
                          <a:solidFill>
                            <a:srgbClr val="000000"/>
                          </a:solidFill>
                          <a:effectLst/>
                          <a:latin typeface="verdana" panose="020B0604030504040204" pitchFamily="34" charset="0"/>
                        </a:rPr>
                        <a:t>It compares two tuples and returns true if tuple1 is greater than tuple2 otherwise false.</a:t>
                      </a:r>
                    </a:p>
                  </a:txBody>
                  <a:tcPr marL="76200" marR="76200" marT="76200" marB="76200"/>
                </a:tc>
              </a:tr>
              <a:tr h="370840">
                <a:tc>
                  <a:txBody>
                    <a:bodyPr/>
                    <a:lstStyle/>
                    <a:p>
                      <a:pPr algn="l" fontAlgn="t"/>
                      <a:r>
                        <a:rPr lang="en-US">
                          <a:solidFill>
                            <a:srgbClr val="000000"/>
                          </a:solidFill>
                          <a:effectLst/>
                          <a:latin typeface="verdana" panose="020B0604030504040204" pitchFamily="34" charset="0"/>
                        </a:rPr>
                        <a:t>2</a:t>
                      </a:r>
                    </a:p>
                  </a:txBody>
                  <a:tcPr marL="76200" marR="76200" marT="76200" marB="76200"/>
                </a:tc>
                <a:tc>
                  <a:txBody>
                    <a:bodyPr/>
                    <a:lstStyle/>
                    <a:p>
                      <a:pPr algn="l" fontAlgn="t"/>
                      <a:r>
                        <a:rPr lang="en-US">
                          <a:solidFill>
                            <a:srgbClr val="000000"/>
                          </a:solidFill>
                          <a:effectLst/>
                          <a:latin typeface="verdana" panose="020B0604030504040204" pitchFamily="34" charset="0"/>
                        </a:rPr>
                        <a:t>len(tuple)</a:t>
                      </a:r>
                    </a:p>
                  </a:txBody>
                  <a:tcPr marL="76200" marR="76200" marT="76200" marB="76200"/>
                </a:tc>
                <a:tc>
                  <a:txBody>
                    <a:bodyPr/>
                    <a:lstStyle/>
                    <a:p>
                      <a:pPr algn="l" fontAlgn="t"/>
                      <a:r>
                        <a:rPr lang="en-US">
                          <a:solidFill>
                            <a:srgbClr val="000000"/>
                          </a:solidFill>
                          <a:effectLst/>
                          <a:latin typeface="verdana" panose="020B0604030504040204" pitchFamily="34" charset="0"/>
                        </a:rPr>
                        <a:t>It calculates the length of the tuple.</a:t>
                      </a:r>
                    </a:p>
                  </a:txBody>
                  <a:tcPr marL="76200" marR="76200" marT="76200" marB="76200"/>
                </a:tc>
              </a:tr>
              <a:tr h="370840">
                <a:tc>
                  <a:txBody>
                    <a:bodyPr/>
                    <a:lstStyle/>
                    <a:p>
                      <a:pPr algn="l" fontAlgn="t"/>
                      <a:r>
                        <a:rPr lang="en-US">
                          <a:solidFill>
                            <a:srgbClr val="000000"/>
                          </a:solidFill>
                          <a:effectLst/>
                          <a:latin typeface="verdana" panose="020B0604030504040204" pitchFamily="34" charset="0"/>
                        </a:rPr>
                        <a:t>3</a:t>
                      </a:r>
                    </a:p>
                  </a:txBody>
                  <a:tcPr marL="76200" marR="76200" marT="76200" marB="76200"/>
                </a:tc>
                <a:tc>
                  <a:txBody>
                    <a:bodyPr/>
                    <a:lstStyle/>
                    <a:p>
                      <a:pPr algn="l" fontAlgn="t"/>
                      <a:r>
                        <a:rPr lang="en-US" dirty="0">
                          <a:solidFill>
                            <a:srgbClr val="000000"/>
                          </a:solidFill>
                          <a:effectLst/>
                          <a:latin typeface="verdana" panose="020B0604030504040204" pitchFamily="34" charset="0"/>
                        </a:rPr>
                        <a:t>max(tuple)</a:t>
                      </a:r>
                    </a:p>
                  </a:txBody>
                  <a:tcPr marL="76200" marR="76200" marT="76200" marB="76200"/>
                </a:tc>
                <a:tc>
                  <a:txBody>
                    <a:bodyPr/>
                    <a:lstStyle/>
                    <a:p>
                      <a:pPr algn="l" fontAlgn="t"/>
                      <a:r>
                        <a:rPr lang="en-US">
                          <a:solidFill>
                            <a:srgbClr val="000000"/>
                          </a:solidFill>
                          <a:effectLst/>
                          <a:latin typeface="verdana" panose="020B0604030504040204" pitchFamily="34" charset="0"/>
                        </a:rPr>
                        <a:t>It returns the maximum element of the tuple</a:t>
                      </a:r>
                    </a:p>
                  </a:txBody>
                  <a:tcPr marL="76200" marR="76200" marT="76200" marB="76200"/>
                </a:tc>
              </a:tr>
              <a:tr h="370840">
                <a:tc>
                  <a:txBody>
                    <a:bodyPr/>
                    <a:lstStyle/>
                    <a:p>
                      <a:pPr algn="l" fontAlgn="t"/>
                      <a:r>
                        <a:rPr lang="en-US">
                          <a:solidFill>
                            <a:srgbClr val="000000"/>
                          </a:solidFill>
                          <a:effectLst/>
                          <a:latin typeface="verdana" panose="020B0604030504040204" pitchFamily="34" charset="0"/>
                        </a:rPr>
                        <a:t>4</a:t>
                      </a:r>
                    </a:p>
                  </a:txBody>
                  <a:tcPr marL="76200" marR="76200" marT="76200" marB="76200"/>
                </a:tc>
                <a:tc>
                  <a:txBody>
                    <a:bodyPr/>
                    <a:lstStyle/>
                    <a:p>
                      <a:pPr algn="l" fontAlgn="t"/>
                      <a:r>
                        <a:rPr lang="en-US" dirty="0">
                          <a:solidFill>
                            <a:srgbClr val="000000"/>
                          </a:solidFill>
                          <a:effectLst/>
                          <a:latin typeface="verdana" panose="020B0604030504040204" pitchFamily="34" charset="0"/>
                        </a:rPr>
                        <a:t>min(tuple)</a:t>
                      </a:r>
                    </a:p>
                  </a:txBody>
                  <a:tcPr marL="76200" marR="76200" marT="76200" marB="76200"/>
                </a:tc>
                <a:tc>
                  <a:txBody>
                    <a:bodyPr/>
                    <a:lstStyle/>
                    <a:p>
                      <a:pPr algn="l" fontAlgn="t"/>
                      <a:r>
                        <a:rPr lang="en-US">
                          <a:solidFill>
                            <a:srgbClr val="000000"/>
                          </a:solidFill>
                          <a:effectLst/>
                          <a:latin typeface="verdana" panose="020B0604030504040204" pitchFamily="34" charset="0"/>
                        </a:rPr>
                        <a:t>It returns the minimum element of the tuple.</a:t>
                      </a:r>
                    </a:p>
                  </a:txBody>
                  <a:tcPr marL="76200" marR="76200" marT="76200" marB="76200"/>
                </a:tc>
              </a:tr>
              <a:tr h="370840">
                <a:tc>
                  <a:txBody>
                    <a:bodyPr/>
                    <a:lstStyle/>
                    <a:p>
                      <a:endParaRPr lang="en-US"/>
                    </a:p>
                  </a:txBody>
                  <a:tcPr/>
                </a:tc>
                <a:tc>
                  <a:txBody>
                    <a:bodyPr/>
                    <a:lstStyle/>
                    <a:p>
                      <a:endParaRPr lang="en-US"/>
                    </a:p>
                  </a:txBody>
                  <a:tcPr/>
                </a:tc>
                <a:tc>
                  <a:txBody>
                    <a:bodyPr/>
                    <a:lstStyle/>
                    <a:p>
                      <a:endParaRPr lang="en-US"/>
                    </a:p>
                  </a:txBody>
                  <a:tcPr/>
                </a:tc>
              </a:tr>
              <a:tr h="370840">
                <a:tc>
                  <a:txBody>
                    <a:bodyPr/>
                    <a:lstStyle/>
                    <a:p>
                      <a:pPr algn="l" fontAlgn="t"/>
                      <a:r>
                        <a:rPr lang="en-US">
                          <a:solidFill>
                            <a:srgbClr val="000000"/>
                          </a:solidFill>
                          <a:effectLst/>
                          <a:latin typeface="verdana" panose="020B0604030504040204" pitchFamily="34" charset="0"/>
                        </a:rPr>
                        <a:t>5</a:t>
                      </a:r>
                    </a:p>
                  </a:txBody>
                  <a:tcPr marL="76200" marR="76200" marT="76200" marB="76200"/>
                </a:tc>
                <a:tc>
                  <a:txBody>
                    <a:bodyPr/>
                    <a:lstStyle/>
                    <a:p>
                      <a:pPr algn="l" fontAlgn="t"/>
                      <a:r>
                        <a:rPr lang="en-US" dirty="0">
                          <a:solidFill>
                            <a:srgbClr val="000000"/>
                          </a:solidFill>
                          <a:effectLst/>
                          <a:latin typeface="verdana" panose="020B0604030504040204" pitchFamily="34" charset="0"/>
                        </a:rPr>
                        <a:t>tuple(</a:t>
                      </a:r>
                      <a:r>
                        <a:rPr lang="en-US" dirty="0" err="1">
                          <a:solidFill>
                            <a:srgbClr val="000000"/>
                          </a:solidFill>
                          <a:effectLst/>
                          <a:latin typeface="verdana" panose="020B0604030504040204" pitchFamily="34" charset="0"/>
                        </a:rPr>
                        <a:t>seq</a:t>
                      </a:r>
                      <a:r>
                        <a:rPr lang="en-US" dirty="0">
                          <a:solidFill>
                            <a:srgbClr val="000000"/>
                          </a:solidFill>
                          <a:effectLst/>
                          <a:latin typeface="verdana" panose="020B0604030504040204" pitchFamily="34" charset="0"/>
                        </a:rPr>
                        <a:t>)</a:t>
                      </a:r>
                    </a:p>
                  </a:txBody>
                  <a:tcPr marL="76200" marR="76200" marT="76200" marB="76200"/>
                </a:tc>
                <a:tc>
                  <a:txBody>
                    <a:bodyPr/>
                    <a:lstStyle/>
                    <a:p>
                      <a:pPr algn="l" fontAlgn="t"/>
                      <a:r>
                        <a:rPr lang="en-US" dirty="0">
                          <a:solidFill>
                            <a:srgbClr val="000000"/>
                          </a:solidFill>
                          <a:effectLst/>
                          <a:latin typeface="verdana" panose="020B0604030504040204" pitchFamily="34" charset="0"/>
                        </a:rPr>
                        <a:t>It converts the specified sequence to the tuple</a:t>
                      </a:r>
                    </a:p>
                  </a:txBody>
                  <a:tcPr marL="76200" marR="76200" marT="76200" marB="76200"/>
                </a:tc>
              </a:tr>
            </a:tbl>
          </a:graphicData>
        </a:graphic>
      </p:graphicFrame>
      <p:pic>
        <p:nvPicPr>
          <p:cNvPr id="3" name="Picture 2"/>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40710088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Where use tuple?</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Using tuple instead of list is used in the following scenario.</a:t>
            </a:r>
          </a:p>
          <a:p>
            <a:endParaRPr lang="en-US" dirty="0" smtClean="0"/>
          </a:p>
          <a:p>
            <a:r>
              <a:rPr lang="en-US" dirty="0" smtClean="0"/>
              <a:t>1. Using tuple instead of list gives us a clear idea that tuple data is constant and must not be changed.</a:t>
            </a:r>
          </a:p>
          <a:p>
            <a:endParaRPr lang="en-US" dirty="0" smtClean="0"/>
          </a:p>
          <a:p>
            <a:r>
              <a:rPr lang="en-US" dirty="0" smtClean="0"/>
              <a:t>2. Tuple can simulate a dictionary without keys. Consider the following nested structure, which can be used as a dictionary.</a:t>
            </a:r>
          </a:p>
          <a:p>
            <a:endParaRPr lang="en-US" dirty="0" smtClean="0"/>
          </a:p>
          <a:p>
            <a:r>
              <a:rPr lang="en-US" dirty="0" smtClean="0"/>
              <a:t>[(101, "John", 22), (102, "Mike", 28),  (103, "Dustin", 30)] </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4116687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905380852"/>
              </p:ext>
            </p:extLst>
          </p:nvPr>
        </p:nvGraphicFramePr>
        <p:xfrm>
          <a:off x="804747" y="286757"/>
          <a:ext cx="10515600" cy="6080760"/>
        </p:xfrm>
        <a:graphic>
          <a:graphicData uri="http://schemas.openxmlformats.org/drawingml/2006/table">
            <a:tbl>
              <a:tblPr firstRow="1" bandRow="1">
                <a:tableStyleId>{5C22544A-7EE6-4342-B048-85BDC9FD1C3A}</a:tableStyleId>
              </a:tblPr>
              <a:tblGrid>
                <a:gridCol w="3505200"/>
                <a:gridCol w="3505200"/>
                <a:gridCol w="3505200"/>
              </a:tblGrid>
              <a:tr h="370840">
                <a:tc>
                  <a:txBody>
                    <a:bodyPr/>
                    <a:lstStyle/>
                    <a:p>
                      <a:pPr algn="l" fontAlgn="t"/>
                      <a:r>
                        <a:rPr lang="en-US" dirty="0">
                          <a:solidFill>
                            <a:srgbClr val="000000"/>
                          </a:solidFill>
                          <a:effectLst/>
                          <a:latin typeface="times new roman" panose="02020603050405020304" pitchFamily="18" charset="0"/>
                        </a:rPr>
                        <a:t>SN</a:t>
                      </a:r>
                    </a:p>
                  </a:txBody>
                  <a:tcPr marL="114300" marR="114300" marT="114300" marB="114300"/>
                </a:tc>
                <a:tc>
                  <a:txBody>
                    <a:bodyPr/>
                    <a:lstStyle/>
                    <a:p>
                      <a:pPr algn="l" fontAlgn="t"/>
                      <a:r>
                        <a:rPr lang="en-US">
                          <a:solidFill>
                            <a:srgbClr val="000000"/>
                          </a:solidFill>
                          <a:effectLst/>
                          <a:latin typeface="times new roman" panose="02020603050405020304" pitchFamily="18" charset="0"/>
                        </a:rPr>
                        <a:t>List</a:t>
                      </a:r>
                    </a:p>
                  </a:txBody>
                  <a:tcPr marL="114300" marR="114300" marT="114300" marB="114300"/>
                </a:tc>
                <a:tc>
                  <a:txBody>
                    <a:bodyPr/>
                    <a:lstStyle/>
                    <a:p>
                      <a:pPr algn="l" fontAlgn="t"/>
                      <a:r>
                        <a:rPr lang="en-US">
                          <a:solidFill>
                            <a:srgbClr val="000000"/>
                          </a:solidFill>
                          <a:effectLst/>
                          <a:latin typeface="times new roman" panose="02020603050405020304" pitchFamily="18" charset="0"/>
                        </a:rPr>
                        <a:t>Tuple</a:t>
                      </a:r>
                    </a:p>
                  </a:txBody>
                  <a:tcPr marL="114300" marR="114300" marT="114300" marB="114300"/>
                </a:tc>
              </a:tr>
              <a:tr h="370840">
                <a:tc>
                  <a:txBody>
                    <a:bodyPr/>
                    <a:lstStyle/>
                    <a:p>
                      <a:pPr algn="l" fontAlgn="t"/>
                      <a:r>
                        <a:rPr lang="en-US" dirty="0">
                          <a:solidFill>
                            <a:srgbClr val="000000"/>
                          </a:solidFill>
                          <a:effectLst/>
                          <a:latin typeface="verdana" panose="020B0604030504040204" pitchFamily="34" charset="0"/>
                        </a:rPr>
                        <a:t>1</a:t>
                      </a:r>
                    </a:p>
                  </a:txBody>
                  <a:tcPr marL="76200" marR="76200" marT="76200" marB="76200"/>
                </a:tc>
                <a:tc>
                  <a:txBody>
                    <a:bodyPr/>
                    <a:lstStyle/>
                    <a:p>
                      <a:pPr algn="l" fontAlgn="t"/>
                      <a:r>
                        <a:rPr lang="en-US">
                          <a:solidFill>
                            <a:srgbClr val="000000"/>
                          </a:solidFill>
                          <a:effectLst/>
                          <a:latin typeface="verdana" panose="020B0604030504040204" pitchFamily="34" charset="0"/>
                        </a:rPr>
                        <a:t>The literal syntax of list is shown by the [].</a:t>
                      </a:r>
                    </a:p>
                  </a:txBody>
                  <a:tcPr marL="76200" marR="76200" marT="76200" marB="76200"/>
                </a:tc>
                <a:tc>
                  <a:txBody>
                    <a:bodyPr/>
                    <a:lstStyle/>
                    <a:p>
                      <a:pPr algn="l" fontAlgn="t"/>
                      <a:r>
                        <a:rPr lang="en-US">
                          <a:solidFill>
                            <a:srgbClr val="000000"/>
                          </a:solidFill>
                          <a:effectLst/>
                          <a:latin typeface="verdana" panose="020B0604030504040204" pitchFamily="34" charset="0"/>
                        </a:rPr>
                        <a:t>The literal syntax of the tuple is shown by the ().</a:t>
                      </a:r>
                    </a:p>
                  </a:txBody>
                  <a:tcPr marL="76200" marR="76200" marT="76200" marB="76200"/>
                </a:tc>
              </a:tr>
              <a:tr h="370840">
                <a:tc>
                  <a:txBody>
                    <a:bodyPr/>
                    <a:lstStyle/>
                    <a:p>
                      <a:pPr algn="l" fontAlgn="t"/>
                      <a:r>
                        <a:rPr lang="en-US">
                          <a:solidFill>
                            <a:srgbClr val="000000"/>
                          </a:solidFill>
                          <a:effectLst/>
                          <a:latin typeface="verdana" panose="020B0604030504040204" pitchFamily="34" charset="0"/>
                        </a:rPr>
                        <a:t>2</a:t>
                      </a:r>
                    </a:p>
                  </a:txBody>
                  <a:tcPr marL="76200" marR="76200" marT="76200" marB="76200"/>
                </a:tc>
                <a:tc>
                  <a:txBody>
                    <a:bodyPr/>
                    <a:lstStyle/>
                    <a:p>
                      <a:pPr algn="l" fontAlgn="t"/>
                      <a:r>
                        <a:rPr lang="en-US">
                          <a:solidFill>
                            <a:srgbClr val="000000"/>
                          </a:solidFill>
                          <a:effectLst/>
                          <a:latin typeface="verdana" panose="020B0604030504040204" pitchFamily="34" charset="0"/>
                        </a:rPr>
                        <a:t>The List is mutable.</a:t>
                      </a:r>
                    </a:p>
                  </a:txBody>
                  <a:tcPr marL="76200" marR="76200" marT="76200" marB="76200"/>
                </a:tc>
                <a:tc>
                  <a:txBody>
                    <a:bodyPr/>
                    <a:lstStyle/>
                    <a:p>
                      <a:pPr algn="l" fontAlgn="t"/>
                      <a:r>
                        <a:rPr lang="en-US">
                          <a:solidFill>
                            <a:srgbClr val="000000"/>
                          </a:solidFill>
                          <a:effectLst/>
                          <a:latin typeface="verdana" panose="020B0604030504040204" pitchFamily="34" charset="0"/>
                        </a:rPr>
                        <a:t>The tuple is immutable.</a:t>
                      </a:r>
                    </a:p>
                  </a:txBody>
                  <a:tcPr marL="76200" marR="76200" marT="76200" marB="76200"/>
                </a:tc>
              </a:tr>
              <a:tr h="370840">
                <a:tc>
                  <a:txBody>
                    <a:bodyPr/>
                    <a:lstStyle/>
                    <a:p>
                      <a:pPr algn="l" fontAlgn="t"/>
                      <a:r>
                        <a:rPr lang="en-US">
                          <a:solidFill>
                            <a:srgbClr val="000000"/>
                          </a:solidFill>
                          <a:effectLst/>
                          <a:latin typeface="verdana" panose="020B0604030504040204" pitchFamily="34" charset="0"/>
                        </a:rPr>
                        <a:t>3</a:t>
                      </a:r>
                    </a:p>
                  </a:txBody>
                  <a:tcPr marL="76200" marR="76200" marT="76200" marB="76200"/>
                </a:tc>
                <a:tc>
                  <a:txBody>
                    <a:bodyPr/>
                    <a:lstStyle/>
                    <a:p>
                      <a:pPr algn="l" fontAlgn="t"/>
                      <a:r>
                        <a:rPr lang="en-US">
                          <a:solidFill>
                            <a:srgbClr val="000000"/>
                          </a:solidFill>
                          <a:effectLst/>
                          <a:latin typeface="verdana" panose="020B0604030504040204" pitchFamily="34" charset="0"/>
                        </a:rPr>
                        <a:t>The List has the a variable length.</a:t>
                      </a:r>
                    </a:p>
                  </a:txBody>
                  <a:tcPr marL="76200" marR="76200" marT="76200" marB="76200"/>
                </a:tc>
                <a:tc>
                  <a:txBody>
                    <a:bodyPr/>
                    <a:lstStyle/>
                    <a:p>
                      <a:pPr algn="l" fontAlgn="t"/>
                      <a:r>
                        <a:rPr lang="en-US">
                          <a:solidFill>
                            <a:srgbClr val="000000"/>
                          </a:solidFill>
                          <a:effectLst/>
                          <a:latin typeface="verdana" panose="020B0604030504040204" pitchFamily="34" charset="0"/>
                        </a:rPr>
                        <a:t>The tuple has the fixed length.</a:t>
                      </a:r>
                    </a:p>
                  </a:txBody>
                  <a:tcPr marL="76200" marR="76200" marT="76200" marB="76200"/>
                </a:tc>
              </a:tr>
              <a:tr h="370840">
                <a:tc>
                  <a:txBody>
                    <a:bodyPr/>
                    <a:lstStyle/>
                    <a:p>
                      <a:pPr algn="l" fontAlgn="t"/>
                      <a:r>
                        <a:rPr lang="en-US">
                          <a:solidFill>
                            <a:srgbClr val="000000"/>
                          </a:solidFill>
                          <a:effectLst/>
                          <a:latin typeface="verdana" panose="020B0604030504040204" pitchFamily="34" charset="0"/>
                        </a:rPr>
                        <a:t>4</a:t>
                      </a:r>
                    </a:p>
                  </a:txBody>
                  <a:tcPr marL="76200" marR="76200" marT="76200" marB="76200"/>
                </a:tc>
                <a:tc>
                  <a:txBody>
                    <a:bodyPr/>
                    <a:lstStyle/>
                    <a:p>
                      <a:pPr algn="l" fontAlgn="t"/>
                      <a:r>
                        <a:rPr lang="en-US">
                          <a:solidFill>
                            <a:srgbClr val="000000"/>
                          </a:solidFill>
                          <a:effectLst/>
                          <a:latin typeface="verdana" panose="020B0604030504040204" pitchFamily="34" charset="0"/>
                        </a:rPr>
                        <a:t>The list provides more functionality than a tuple.</a:t>
                      </a:r>
                    </a:p>
                  </a:txBody>
                  <a:tcPr marL="76200" marR="76200" marT="76200" marB="76200"/>
                </a:tc>
                <a:tc>
                  <a:txBody>
                    <a:bodyPr/>
                    <a:lstStyle/>
                    <a:p>
                      <a:pPr algn="l" fontAlgn="t"/>
                      <a:r>
                        <a:rPr lang="en-US">
                          <a:solidFill>
                            <a:srgbClr val="000000"/>
                          </a:solidFill>
                          <a:effectLst/>
                          <a:latin typeface="verdana" panose="020B0604030504040204" pitchFamily="34" charset="0"/>
                        </a:rPr>
                        <a:t>The tuple provides less functionality than the list.</a:t>
                      </a:r>
                    </a:p>
                  </a:txBody>
                  <a:tcPr marL="76200" marR="76200" marT="76200" marB="76200"/>
                </a:tc>
              </a:tr>
              <a:tr h="370840">
                <a:tc>
                  <a:txBody>
                    <a:bodyPr/>
                    <a:lstStyle/>
                    <a:p>
                      <a:pPr algn="l" fontAlgn="t"/>
                      <a:r>
                        <a:rPr lang="en-US">
                          <a:solidFill>
                            <a:srgbClr val="000000"/>
                          </a:solidFill>
                          <a:effectLst/>
                          <a:latin typeface="verdana" panose="020B0604030504040204" pitchFamily="34" charset="0"/>
                        </a:rPr>
                        <a:t>5</a:t>
                      </a:r>
                    </a:p>
                  </a:txBody>
                  <a:tcPr marL="76200" marR="76200" marT="76200" marB="76200"/>
                </a:tc>
                <a:tc>
                  <a:txBody>
                    <a:bodyPr/>
                    <a:lstStyle/>
                    <a:p>
                      <a:pPr algn="l" fontAlgn="t"/>
                      <a:r>
                        <a:rPr lang="en-US">
                          <a:solidFill>
                            <a:srgbClr val="000000"/>
                          </a:solidFill>
                          <a:effectLst/>
                          <a:latin typeface="verdana" panose="020B0604030504040204" pitchFamily="34" charset="0"/>
                        </a:rPr>
                        <a:t>The list is used in the scenario in which we need to store the simple collections with no constraints where the value of the items can be changed.</a:t>
                      </a:r>
                    </a:p>
                  </a:txBody>
                  <a:tcPr marL="76200" marR="76200" marT="76200" marB="76200"/>
                </a:tc>
                <a:tc>
                  <a:txBody>
                    <a:bodyPr/>
                    <a:lstStyle/>
                    <a:p>
                      <a:pPr algn="l" fontAlgn="t"/>
                      <a:r>
                        <a:rPr lang="en-US">
                          <a:solidFill>
                            <a:srgbClr val="000000"/>
                          </a:solidFill>
                          <a:effectLst/>
                          <a:latin typeface="verdana" panose="020B0604030504040204" pitchFamily="34" charset="0"/>
                        </a:rPr>
                        <a:t>The tuple is used in the cases where we need to store the read-only collections i.e., the value of the items cannot be changed. It can be used as the key inside the dictionary.</a:t>
                      </a:r>
                    </a:p>
                  </a:txBody>
                  <a:tcPr marL="76200" marR="76200" marT="76200" marB="76200"/>
                </a:tc>
              </a:tr>
              <a:tr h="370840">
                <a:tc>
                  <a:txBody>
                    <a:bodyPr/>
                    <a:lstStyle/>
                    <a:p>
                      <a:pPr algn="l" fontAlgn="t"/>
                      <a:r>
                        <a:rPr lang="en-US">
                          <a:solidFill>
                            <a:srgbClr val="000000"/>
                          </a:solidFill>
                          <a:effectLst/>
                          <a:latin typeface="verdana" panose="020B0604030504040204" pitchFamily="34" charset="0"/>
                        </a:rPr>
                        <a:t>6</a:t>
                      </a:r>
                    </a:p>
                  </a:txBody>
                  <a:tcPr marL="76200" marR="76200" marT="76200" marB="76200"/>
                </a:tc>
                <a:tc>
                  <a:txBody>
                    <a:bodyPr/>
                    <a:lstStyle/>
                    <a:p>
                      <a:pPr algn="l" fontAlgn="t"/>
                      <a:r>
                        <a:rPr lang="en-US">
                          <a:solidFill>
                            <a:srgbClr val="000000"/>
                          </a:solidFill>
                          <a:effectLst/>
                          <a:latin typeface="verdana" panose="020B0604030504040204" pitchFamily="34" charset="0"/>
                        </a:rPr>
                        <a:t>The lists are less memory efficient than a tuple.</a:t>
                      </a:r>
                    </a:p>
                  </a:txBody>
                  <a:tcPr marL="76200" marR="76200" marT="76200" marB="76200"/>
                </a:tc>
                <a:tc>
                  <a:txBody>
                    <a:bodyPr/>
                    <a:lstStyle/>
                    <a:p>
                      <a:pPr algn="l" fontAlgn="t"/>
                      <a:r>
                        <a:rPr lang="en-US" dirty="0">
                          <a:solidFill>
                            <a:srgbClr val="000000"/>
                          </a:solidFill>
                          <a:effectLst/>
                          <a:latin typeface="verdana" panose="020B0604030504040204" pitchFamily="34" charset="0"/>
                        </a:rPr>
                        <a:t>The tuples are more memory efficient because of its immutability.</a:t>
                      </a:r>
                    </a:p>
                  </a:txBody>
                  <a:tcPr marL="76200" marR="76200" marT="76200" marB="76200"/>
                </a:tc>
              </a:tr>
            </a:tbl>
          </a:graphicData>
        </a:graphic>
      </p:graphicFrame>
      <p:pic>
        <p:nvPicPr>
          <p:cNvPr id="3" name="Picture 2"/>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844308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1.Using inbuilt __</a:t>
            </a:r>
            <a:r>
              <a:rPr lang="en-US" dirty="0" err="1"/>
              <a:t>sizeof</a:t>
            </a:r>
            <a:r>
              <a:rPr lang="en-US" dirty="0"/>
              <a:t>__() method:</a:t>
            </a:r>
          </a:p>
          <a:p>
            <a:endParaRPr lang="en-US" dirty="0"/>
          </a:p>
          <a:p>
            <a:r>
              <a:rPr lang="en-US" dirty="0"/>
              <a:t>Python also has an inbuilt __</a:t>
            </a:r>
            <a:r>
              <a:rPr lang="en-US" dirty="0" err="1"/>
              <a:t>sizeof</a:t>
            </a:r>
            <a:r>
              <a:rPr lang="en-US" dirty="0"/>
              <a:t>__() method to determine the space allocation of an object without any additional garbage value. It has been implemented in the below example. </a:t>
            </a:r>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853387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92500" lnSpcReduction="10000"/>
          </a:bodyPr>
          <a:lstStyle/>
          <a:p>
            <a:r>
              <a:rPr lang="en-US" dirty="0"/>
              <a:t># sample Tuples</a:t>
            </a:r>
          </a:p>
          <a:p>
            <a:r>
              <a:rPr lang="en-US" dirty="0"/>
              <a:t>Tuple1 = ("A", 1, "B", 2, "C", 3)</a:t>
            </a:r>
          </a:p>
          <a:p>
            <a:r>
              <a:rPr lang="en-US" dirty="0"/>
              <a:t>Tuple2 = ("</a:t>
            </a:r>
            <a:r>
              <a:rPr lang="en-US" dirty="0" smtClean="0"/>
              <a:t>Ganesh1</a:t>
            </a:r>
            <a:r>
              <a:rPr lang="en-US" dirty="0"/>
              <a:t>", "</a:t>
            </a:r>
            <a:r>
              <a:rPr lang="en-US" dirty="0" err="1"/>
              <a:t>Raju</a:t>
            </a:r>
            <a:r>
              <a:rPr lang="en-US" dirty="0"/>
              <a:t>", "</a:t>
            </a:r>
            <a:r>
              <a:rPr lang="en-US" dirty="0" smtClean="0"/>
              <a:t>Ganesh2</a:t>
            </a:r>
            <a:r>
              <a:rPr lang="en-US" dirty="0"/>
              <a:t>", "Nikhil", "</a:t>
            </a:r>
            <a:r>
              <a:rPr lang="en-US" dirty="0" smtClean="0"/>
              <a:t>Ganesh3</a:t>
            </a:r>
            <a:r>
              <a:rPr lang="en-US" dirty="0"/>
              <a:t>", "</a:t>
            </a:r>
            <a:r>
              <a:rPr lang="en-US" dirty="0" err="1"/>
              <a:t>Deepanshu</a:t>
            </a:r>
            <a:r>
              <a:rPr lang="en-US" dirty="0"/>
              <a:t>")</a:t>
            </a:r>
          </a:p>
          <a:p>
            <a:r>
              <a:rPr lang="en-US" dirty="0"/>
              <a:t>Tuple3 = ((1, "Lion"), ( 2, "Tiger"), (3, "Fox"), (4, "Wolf"))</a:t>
            </a:r>
          </a:p>
          <a:p>
            <a:endParaRPr lang="en-US" dirty="0"/>
          </a:p>
          <a:p>
            <a:r>
              <a:rPr lang="en-US" dirty="0"/>
              <a:t># print the sizes of sample Tuples</a:t>
            </a:r>
          </a:p>
          <a:p>
            <a:r>
              <a:rPr lang="en-US" dirty="0"/>
              <a:t>print("Size of Tuple1: " + </a:t>
            </a:r>
            <a:r>
              <a:rPr lang="en-US" dirty="0" err="1"/>
              <a:t>str</a:t>
            </a:r>
            <a:r>
              <a:rPr lang="en-US" dirty="0"/>
              <a:t>(Tuple1.__sizeof__()) + "bytes")</a:t>
            </a:r>
          </a:p>
          <a:p>
            <a:r>
              <a:rPr lang="en-US" dirty="0"/>
              <a:t>print("Size of Tuple2: " + </a:t>
            </a:r>
            <a:r>
              <a:rPr lang="en-US" dirty="0" err="1"/>
              <a:t>str</a:t>
            </a:r>
            <a:r>
              <a:rPr lang="en-US" dirty="0"/>
              <a:t>(Tuple2.__sizeof__()) + "bytes")</a:t>
            </a:r>
          </a:p>
          <a:p>
            <a:r>
              <a:rPr lang="en-US" dirty="0"/>
              <a:t>print("Size of Tuple3: " + </a:t>
            </a:r>
            <a:r>
              <a:rPr lang="en-US" dirty="0" err="1"/>
              <a:t>str</a:t>
            </a:r>
            <a:r>
              <a:rPr lang="en-US" dirty="0"/>
              <a:t>(Tuple3.__sizeof__()) + "bytes")</a:t>
            </a:r>
          </a:p>
          <a:p>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205543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Day Task</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smtClean="0"/>
              <a:t>1.Python </a:t>
            </a:r>
            <a:r>
              <a:rPr lang="en-US" dirty="0"/>
              <a:t>program to create a list of tuples from given list having number and its cube in each </a:t>
            </a:r>
            <a:r>
              <a:rPr lang="en-US" dirty="0" smtClean="0"/>
              <a:t>tuple Given </a:t>
            </a:r>
            <a:r>
              <a:rPr lang="en-US" dirty="0"/>
              <a:t>a list of numbers of list, write a Python program to create a list of tuples having first element as the number and second element as the cube of the number.</a:t>
            </a:r>
          </a:p>
          <a:p>
            <a:pPr marL="0" indent="0">
              <a:buNone/>
            </a:pPr>
            <a:endParaRPr lang="en-US" dirty="0"/>
          </a:p>
          <a:p>
            <a:pPr marL="0" indent="0">
              <a:buNone/>
            </a:pPr>
            <a:r>
              <a:rPr lang="en-US" dirty="0"/>
              <a:t>Example:</a:t>
            </a:r>
          </a:p>
          <a:p>
            <a:pPr marL="0" indent="0">
              <a:buNone/>
            </a:pPr>
            <a:endParaRPr lang="en-US" dirty="0"/>
          </a:p>
          <a:p>
            <a:pPr marL="0" indent="0">
              <a:buNone/>
            </a:pPr>
            <a:r>
              <a:rPr lang="en-US" dirty="0"/>
              <a:t>Input: list = [1, 2, 3]</a:t>
            </a:r>
          </a:p>
          <a:p>
            <a:pPr marL="0" indent="0">
              <a:buNone/>
            </a:pPr>
            <a:r>
              <a:rPr lang="en-US" dirty="0"/>
              <a:t>Output: [(1, 1), (2, 8), (3, 27)]</a:t>
            </a:r>
          </a:p>
          <a:p>
            <a:pPr marL="0" indent="0">
              <a:buNone/>
            </a:pPr>
            <a:endParaRPr lang="en-US" dirty="0"/>
          </a:p>
          <a:p>
            <a:pPr marL="0" indent="0">
              <a:buNone/>
            </a:pPr>
            <a:r>
              <a:rPr lang="en-US" dirty="0"/>
              <a:t>Input: list = [9, 5, 6]</a:t>
            </a:r>
          </a:p>
          <a:p>
            <a:pPr marL="0" indent="0">
              <a:buNone/>
            </a:pPr>
            <a:r>
              <a:rPr lang="en-US" dirty="0"/>
              <a:t>Output: [(9, 729), (5, 125), (6, 216)]</a:t>
            </a:r>
          </a:p>
          <a:p>
            <a:pPr marL="0" indent="0">
              <a:buNone/>
            </a:pP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555995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096004" y="2228850"/>
            <a:ext cx="2884363" cy="1622454"/>
          </a:xfrm>
          <a:prstGeom prst="rect">
            <a:avLst/>
          </a:prstGeom>
        </p:spPr>
      </p:pic>
      <p:pic>
        <p:nvPicPr>
          <p:cNvPr id="5" name="Picture 4"/>
          <p:cNvPicPr>
            <a:picLocks noChangeAspect="1"/>
          </p:cNvPicPr>
          <p:nvPr/>
        </p:nvPicPr>
        <p:blipFill>
          <a:blip r:embed="rId3"/>
          <a:stretch>
            <a:fillRect/>
          </a:stretch>
        </p:blipFill>
        <p:spPr>
          <a:xfrm>
            <a:off x="6363392" y="3920311"/>
            <a:ext cx="2349585" cy="1325567"/>
          </a:xfrm>
          <a:prstGeom prst="rect">
            <a:avLst/>
          </a:prstGeom>
        </p:spPr>
      </p:pic>
      <p:sp>
        <p:nvSpPr>
          <p:cNvPr id="2" name="Title 1"/>
          <p:cNvSpPr>
            <a:spLocks noGrp="1"/>
          </p:cNvSpPr>
          <p:nvPr>
            <p:ph type="title"/>
          </p:nvPr>
        </p:nvSpPr>
        <p:spPr/>
        <p:txBody>
          <a:bodyPr>
            <a:normAutofit/>
          </a:bodyPr>
          <a:lstStyle/>
          <a:p>
            <a:r>
              <a:rPr lang="en-US" dirty="0" smtClean="0"/>
              <a:t>This PPT contents are</a:t>
            </a:r>
            <a:endParaRPr lang="en-US" dirty="0"/>
          </a:p>
        </p:txBody>
      </p:sp>
      <p:sp>
        <p:nvSpPr>
          <p:cNvPr id="6" name="TextBox 5"/>
          <p:cNvSpPr txBox="1"/>
          <p:nvPr/>
        </p:nvSpPr>
        <p:spPr>
          <a:xfrm>
            <a:off x="5259835" y="3672102"/>
            <a:ext cx="593918" cy="248209"/>
          </a:xfrm>
          <a:prstGeom prst="rect">
            <a:avLst/>
          </a:prstGeom>
          <a:noFill/>
        </p:spPr>
        <p:txBody>
          <a:bodyPr wrap="square" rtlCol="0">
            <a:spAutoFit/>
          </a:bodyPr>
          <a:lstStyle/>
          <a:p>
            <a:r>
              <a:rPr lang="en-US" sz="1013" b="1" dirty="0">
                <a:solidFill>
                  <a:schemeClr val="bg1"/>
                </a:solidFill>
              </a:rPr>
              <a:t>TO</a:t>
            </a:r>
          </a:p>
        </p:txBody>
      </p:sp>
    </p:spTree>
    <p:extLst>
      <p:ext uri="{BB962C8B-B14F-4D97-AF65-F5344CB8AC3E}">
        <p14:creationId xmlns:p14="http://schemas.microsoft.com/office/powerpoint/2010/main" val="404421569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normAutofit fontScale="90000"/>
          </a:bodyPr>
          <a:lstStyle/>
          <a:p>
            <a:r>
              <a:rPr lang="en-US" smtClean="0"/>
              <a:t/>
            </a:r>
            <a:br>
              <a:rPr lang="en-US" smtClean="0"/>
            </a:br>
            <a:r>
              <a:rPr lang="en-US" smtClean="0"/>
              <a:t/>
            </a:r>
            <a:br>
              <a:rPr lang="en-US" smtClean="0"/>
            </a:br>
            <a:r>
              <a:rPr lang="en-US" smtClean="0"/>
              <a:t> </a:t>
            </a:r>
            <a:endParaRPr lang="en-US" dirty="0"/>
          </a:p>
        </p:txBody>
      </p:sp>
      <p:sp>
        <p:nvSpPr>
          <p:cNvPr id="25603" name="Rectangle 3"/>
          <p:cNvSpPr>
            <a:spLocks noChangeArrowheads="1"/>
          </p:cNvSpPr>
          <p:nvPr/>
        </p:nvSpPr>
        <p:spPr bwMode="auto">
          <a:xfrm>
            <a:off x="5943600" y="0"/>
            <a:ext cx="4495800" cy="685800"/>
          </a:xfrm>
          <a:prstGeom prst="rect">
            <a:avLst/>
          </a:prstGeom>
          <a:noFill/>
          <a:ln w="3175" cap="sq">
            <a:noFill/>
            <a:miter lim="800000"/>
            <a:headEnd type="none" w="sm" len="sm"/>
            <a:tailEnd type="none" w="sm" len="sm"/>
          </a:ln>
        </p:spPr>
        <p:txBody>
          <a:bodyPr wrap="none" anchor="ctr"/>
          <a:lstStyle/>
          <a:p>
            <a:endParaRPr lang="en-US" sz="2200" i="1" dirty="0">
              <a:solidFill>
                <a:prstClr val="black"/>
              </a:solidFill>
            </a:endParaRPr>
          </a:p>
        </p:txBody>
      </p:sp>
      <p:sp>
        <p:nvSpPr>
          <p:cNvPr id="25606" name="Text Box 6"/>
          <p:cNvSpPr txBox="1">
            <a:spLocks noChangeArrowheads="1"/>
          </p:cNvSpPr>
          <p:nvPr/>
        </p:nvSpPr>
        <p:spPr bwMode="auto">
          <a:xfrm>
            <a:off x="2193926" y="2727325"/>
            <a:ext cx="5578475" cy="369332"/>
          </a:xfrm>
          <a:prstGeom prst="rect">
            <a:avLst/>
          </a:prstGeom>
          <a:noFill/>
          <a:ln w="3175" cap="sq" algn="ctr">
            <a:noFill/>
            <a:miter lim="800000"/>
            <a:headEnd/>
            <a:tailEnd/>
          </a:ln>
        </p:spPr>
        <p:txBody>
          <a:bodyPr>
            <a:spAutoFit/>
          </a:bodyPr>
          <a:lstStyle/>
          <a:p>
            <a:endParaRPr lang="en-US">
              <a:solidFill>
                <a:prstClr val="black"/>
              </a:solidFill>
            </a:endParaRPr>
          </a:p>
        </p:txBody>
      </p:sp>
      <p:sp>
        <p:nvSpPr>
          <p:cNvPr id="25607" name="Text Box 7"/>
          <p:cNvSpPr txBox="1">
            <a:spLocks noChangeArrowheads="1"/>
          </p:cNvSpPr>
          <p:nvPr/>
        </p:nvSpPr>
        <p:spPr bwMode="auto">
          <a:xfrm>
            <a:off x="1524001" y="1981200"/>
            <a:ext cx="9143999" cy="1754326"/>
          </a:xfrm>
          <a:prstGeom prst="rect">
            <a:avLst/>
          </a:prstGeom>
          <a:noFill/>
          <a:ln w="3175" cap="sq" algn="ctr">
            <a:noFill/>
            <a:miter lim="800000"/>
            <a:headEnd/>
            <a:tailEnd/>
          </a:ln>
        </p:spPr>
        <p:txBody>
          <a:bodyPr wrap="square">
            <a:spAutoFit/>
          </a:bodyPr>
          <a:lstStyle/>
          <a:p>
            <a:endParaRPr lang="en-US" dirty="0">
              <a:solidFill>
                <a:prstClr val="black"/>
              </a:solidFill>
            </a:endParaRPr>
          </a:p>
          <a:p>
            <a:endParaRPr lang="en-US" dirty="0">
              <a:solidFill>
                <a:prstClr val="black"/>
              </a:solidFill>
            </a:endParaRPr>
          </a:p>
          <a:p>
            <a:endParaRPr lang="en-US" dirty="0">
              <a:solidFill>
                <a:prstClr val="black"/>
              </a:solidFill>
            </a:endParaRPr>
          </a:p>
          <a:p>
            <a:endParaRPr lang="en-US" dirty="0">
              <a:solidFill>
                <a:prstClr val="black"/>
              </a:solidFill>
            </a:endParaRPr>
          </a:p>
          <a:p>
            <a:endParaRPr lang="en-US" dirty="0">
              <a:solidFill>
                <a:prstClr val="black"/>
              </a:solidFill>
            </a:endParaRPr>
          </a:p>
          <a:p>
            <a:endParaRPr lang="en-US" dirty="0">
              <a:solidFill>
                <a:prstClr val="black"/>
              </a:solidFill>
            </a:endParaRPr>
          </a:p>
        </p:txBody>
      </p:sp>
      <p:sp>
        <p:nvSpPr>
          <p:cNvPr id="12" name="TextBox 11"/>
          <p:cNvSpPr txBox="1"/>
          <p:nvPr/>
        </p:nvSpPr>
        <p:spPr>
          <a:xfrm>
            <a:off x="687411" y="2921368"/>
            <a:ext cx="4274825" cy="3293209"/>
          </a:xfrm>
          <a:prstGeom prst="rect">
            <a:avLst/>
          </a:prstGeom>
          <a:noFill/>
        </p:spPr>
        <p:txBody>
          <a:bodyPr wrap="square" rtlCol="0">
            <a:spAutoFit/>
          </a:bodyPr>
          <a:lstStyle/>
          <a:p>
            <a:pPr algn="ctr"/>
            <a:endParaRPr lang="en-US" sz="1600" b="1" dirty="0" smtClean="0">
              <a:solidFill>
                <a:prstClr val="black"/>
              </a:solidFill>
            </a:endParaRPr>
          </a:p>
          <a:p>
            <a:r>
              <a:rPr lang="en-US" b="1" dirty="0" smtClean="0"/>
              <a:t>DOMAIN </a:t>
            </a:r>
            <a:r>
              <a:rPr lang="en-US" b="1" dirty="0"/>
              <a:t>COMPUTER EDUCATION</a:t>
            </a:r>
            <a:br>
              <a:rPr lang="en-US" b="1" dirty="0"/>
            </a:br>
            <a:endParaRPr lang="en-US" b="1" dirty="0" smtClean="0"/>
          </a:p>
          <a:p>
            <a:r>
              <a:rPr lang="en-US" b="1" dirty="0"/>
              <a:t>2</a:t>
            </a:r>
            <a:r>
              <a:rPr lang="en-US" b="1" dirty="0" smtClean="0"/>
              <a:t>nd </a:t>
            </a:r>
            <a:r>
              <a:rPr lang="en-US" b="1" dirty="0"/>
              <a:t>floor, </a:t>
            </a:r>
            <a:r>
              <a:rPr lang="en-US" b="1" dirty="0" err="1"/>
              <a:t>Balaji</a:t>
            </a:r>
            <a:r>
              <a:rPr lang="en-US" b="1" dirty="0"/>
              <a:t> Celebration, </a:t>
            </a:r>
            <a:r>
              <a:rPr lang="en-US" b="1" dirty="0" err="1"/>
              <a:t>Ganpati</a:t>
            </a:r>
            <a:r>
              <a:rPr lang="en-US" b="1" dirty="0"/>
              <a:t> </a:t>
            </a:r>
            <a:r>
              <a:rPr lang="en-US" b="1" dirty="0" err="1"/>
              <a:t>Mandir</a:t>
            </a:r>
            <a:r>
              <a:rPr lang="en-US" b="1" dirty="0"/>
              <a:t> Road, </a:t>
            </a:r>
            <a:r>
              <a:rPr lang="en-US" b="1" dirty="0" err="1"/>
              <a:t>Vishrambagh</a:t>
            </a:r>
            <a:r>
              <a:rPr lang="en-US" b="1" dirty="0"/>
              <a:t>, </a:t>
            </a:r>
            <a:r>
              <a:rPr lang="en-US" b="1" dirty="0" err="1"/>
              <a:t>Sangli</a:t>
            </a:r>
            <a:r>
              <a:rPr lang="en-US" b="1" dirty="0"/>
              <a:t/>
            </a:r>
            <a:br>
              <a:rPr lang="en-US" b="1" dirty="0"/>
            </a:br>
            <a:r>
              <a:rPr lang="en-US" b="1" dirty="0"/>
              <a:t>                 </a:t>
            </a:r>
          </a:p>
          <a:p>
            <a:r>
              <a:rPr lang="en-US" b="1" dirty="0"/>
              <a:t>                 7620575756</a:t>
            </a:r>
          </a:p>
          <a:p>
            <a:endParaRPr lang="en-US" b="1" dirty="0"/>
          </a:p>
          <a:p>
            <a:r>
              <a:rPr lang="en-US" sz="1600" b="1" dirty="0" smtClean="0"/>
              <a:t>         </a:t>
            </a:r>
            <a:endParaRPr lang="en-US" sz="2400" b="1" dirty="0"/>
          </a:p>
          <a:p>
            <a:endParaRPr lang="en-US" sz="3200" b="1" dirty="0">
              <a:solidFill>
                <a:prstClr val="black"/>
              </a:solidFill>
            </a:endParaRPr>
          </a:p>
          <a:p>
            <a:endParaRPr lang="en-US" dirty="0">
              <a:solidFill>
                <a:prstClr val="black"/>
              </a:solidFill>
            </a:endParaRPr>
          </a:p>
        </p:txBody>
      </p:sp>
      <p:pic>
        <p:nvPicPr>
          <p:cNvPr id="5121" name="Picture 1" descr="G:\logo\whatsapp.png"/>
          <p:cNvPicPr>
            <a:picLocks noChangeAspect="1" noChangeArrowheads="1"/>
          </p:cNvPicPr>
          <p:nvPr/>
        </p:nvPicPr>
        <p:blipFill>
          <a:blip r:embed="rId2"/>
          <a:srcRect/>
          <a:stretch>
            <a:fillRect/>
          </a:stretch>
        </p:blipFill>
        <p:spPr bwMode="auto">
          <a:xfrm>
            <a:off x="2895728" y="4579853"/>
            <a:ext cx="457200" cy="463351"/>
          </a:xfrm>
          <a:prstGeom prst="rect">
            <a:avLst/>
          </a:prstGeom>
          <a:noFill/>
        </p:spPr>
      </p:pic>
      <p:sp>
        <p:nvSpPr>
          <p:cNvPr id="13" name="Rectangle 12"/>
          <p:cNvSpPr/>
          <p:nvPr/>
        </p:nvSpPr>
        <p:spPr>
          <a:xfrm>
            <a:off x="4744256" y="3281322"/>
            <a:ext cx="5907109" cy="1200329"/>
          </a:xfrm>
          <a:prstGeom prst="rect">
            <a:avLst/>
          </a:prstGeom>
        </p:spPr>
        <p:txBody>
          <a:bodyPr wrap="square">
            <a:spAutoFit/>
          </a:bodyPr>
          <a:lstStyle/>
          <a:p>
            <a:r>
              <a:rPr lang="en-US" b="1" dirty="0"/>
              <a:t>DOMAIN COMPUTER EDUCATION</a:t>
            </a:r>
            <a:br>
              <a:rPr lang="en-US" b="1" dirty="0"/>
            </a:br>
            <a:r>
              <a:rPr lang="en-US" b="1" dirty="0"/>
              <a:t>3rd Floor </a:t>
            </a:r>
            <a:r>
              <a:rPr lang="en-US" b="1" dirty="0" err="1"/>
              <a:t>Prabhakar</a:t>
            </a:r>
            <a:r>
              <a:rPr lang="en-US" b="1" dirty="0"/>
              <a:t> Plaza, Station road </a:t>
            </a:r>
            <a:br>
              <a:rPr lang="en-US" b="1" dirty="0"/>
            </a:br>
            <a:r>
              <a:rPr lang="en-US" b="1" dirty="0"/>
              <a:t>Kolhapur.</a:t>
            </a:r>
            <a:br>
              <a:rPr lang="en-US" b="1" dirty="0"/>
            </a:br>
            <a:r>
              <a:rPr lang="en-US" b="1" dirty="0" err="1"/>
              <a:t>Ph.No</a:t>
            </a:r>
            <a:r>
              <a:rPr lang="en-US" b="1" dirty="0"/>
              <a:t>.- </a:t>
            </a:r>
            <a:r>
              <a:rPr lang="en-US" b="1" dirty="0" smtClean="0"/>
              <a:t>9225804090</a:t>
            </a:r>
            <a:endParaRPr lang="en-US" b="1" dirty="0"/>
          </a:p>
        </p:txBody>
      </p:sp>
      <p:pic>
        <p:nvPicPr>
          <p:cNvPr id="1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1588" y="59922"/>
            <a:ext cx="7135224" cy="2790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1" descr="G:\logo\whatsapp.png"/>
          <p:cNvPicPr>
            <a:picLocks noChangeAspect="1" noChangeArrowheads="1"/>
          </p:cNvPicPr>
          <p:nvPr/>
        </p:nvPicPr>
        <p:blipFill>
          <a:blip r:embed="rId2"/>
          <a:srcRect/>
          <a:stretch>
            <a:fillRect/>
          </a:stretch>
        </p:blipFill>
        <p:spPr bwMode="auto">
          <a:xfrm>
            <a:off x="6838145" y="4116502"/>
            <a:ext cx="457200" cy="463351"/>
          </a:xfrm>
          <a:prstGeom prst="rect">
            <a:avLst/>
          </a:prstGeom>
          <a:noFill/>
        </p:spPr>
      </p:pic>
      <p:sp>
        <p:nvSpPr>
          <p:cNvPr id="2" name="Rectangle 1"/>
          <p:cNvSpPr/>
          <p:nvPr/>
        </p:nvSpPr>
        <p:spPr>
          <a:xfrm>
            <a:off x="3352928" y="5597107"/>
            <a:ext cx="3600537" cy="369332"/>
          </a:xfrm>
          <a:prstGeom prst="rect">
            <a:avLst/>
          </a:prstGeom>
        </p:spPr>
        <p:txBody>
          <a:bodyPr wrap="none">
            <a:spAutoFit/>
          </a:bodyPr>
          <a:lstStyle/>
          <a:p>
            <a:r>
              <a:rPr lang="en-US" b="1" dirty="0" err="1"/>
              <a:t>Website:www.domaincomputer.org</a:t>
            </a:r>
            <a:endParaRPr lang="en-US" b="1" dirty="0"/>
          </a:p>
        </p:txBody>
      </p:sp>
    </p:spTree>
    <p:extLst>
      <p:ext uri="{BB962C8B-B14F-4D97-AF65-F5344CB8AC3E}">
        <p14:creationId xmlns:p14="http://schemas.microsoft.com/office/powerpoint/2010/main" val="1693896475"/>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535</TotalTime>
  <Words>1706</Words>
  <Application>Microsoft Office PowerPoint</Application>
  <PresentationFormat>Widescreen</PresentationFormat>
  <Paragraphs>246</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Times New Roman</vt:lpstr>
      <vt:lpstr>Verdana</vt:lpstr>
      <vt:lpstr>Office Theme</vt:lpstr>
      <vt:lpstr>Day-8</vt:lpstr>
      <vt:lpstr>Python Tuple </vt:lpstr>
      <vt:lpstr>PowerPoint Presentation</vt:lpstr>
      <vt:lpstr>PowerPoint Presentation</vt:lpstr>
      <vt:lpstr>An empty tuple can be created as follows. </vt:lpstr>
      <vt:lpstr>Consider the following example of tuple: </vt:lpstr>
      <vt:lpstr>Example - 2 </vt:lpstr>
      <vt:lpstr>Tuple indexing and slicing</vt:lpstr>
      <vt:lpstr>PowerPoint Presentation</vt:lpstr>
      <vt:lpstr> Consider the following example:  </vt:lpstr>
      <vt:lpstr>PowerPoint Presentation</vt:lpstr>
      <vt:lpstr>PowerPoint Presentation</vt:lpstr>
      <vt:lpstr>Negative Indexing </vt:lpstr>
      <vt:lpstr>PowerPoint Presentation</vt:lpstr>
      <vt:lpstr>Deleting Tuple </vt:lpstr>
      <vt:lpstr>PowerPoint Presentation</vt:lpstr>
      <vt:lpstr>Basic Tuple operations </vt:lpstr>
      <vt:lpstr>PowerPoint Presentation</vt:lpstr>
      <vt:lpstr>PowerPoint Presentation</vt:lpstr>
      <vt:lpstr>Where use tuple? </vt:lpstr>
      <vt:lpstr>PowerPoint Presentation</vt:lpstr>
      <vt:lpstr>PowerPoint Presentation</vt:lpstr>
      <vt:lpstr>Example</vt:lpstr>
      <vt:lpstr>Day Task</vt:lpstr>
      <vt:lpstr>This PPT contents are</vt:lpstr>
      <vt:lpstr>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Tuple</dc:title>
  <dc:creator>Microsoft account</dc:creator>
  <cp:lastModifiedBy>Microsoft account</cp:lastModifiedBy>
  <cp:revision>27</cp:revision>
  <dcterms:created xsi:type="dcterms:W3CDTF">2021-05-18T11:19:15Z</dcterms:created>
  <dcterms:modified xsi:type="dcterms:W3CDTF">2024-05-31T15:39:12Z</dcterms:modified>
</cp:coreProperties>
</file>