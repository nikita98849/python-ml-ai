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3AAC5-672B-404E-9E7C-ACB2564BBBA6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4B25-1248-4C23-8C7A-BA9FD797E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65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3AAC5-672B-404E-9E7C-ACB2564BBBA6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4B25-1248-4C23-8C7A-BA9FD797E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8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3AAC5-672B-404E-9E7C-ACB2564BBBA6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4B25-1248-4C23-8C7A-BA9FD797E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80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3AAC5-672B-404E-9E7C-ACB2564BBBA6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4B25-1248-4C23-8C7A-BA9FD797E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64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3AAC5-672B-404E-9E7C-ACB2564BBBA6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4B25-1248-4C23-8C7A-BA9FD797E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19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3AAC5-672B-404E-9E7C-ACB2564BBBA6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4B25-1248-4C23-8C7A-BA9FD797E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62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3AAC5-672B-404E-9E7C-ACB2564BBBA6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4B25-1248-4C23-8C7A-BA9FD797E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16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3AAC5-672B-404E-9E7C-ACB2564BBBA6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4B25-1248-4C23-8C7A-BA9FD797E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8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3AAC5-672B-404E-9E7C-ACB2564BBBA6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4B25-1248-4C23-8C7A-BA9FD797E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82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3AAC5-672B-404E-9E7C-ACB2564BBBA6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4B25-1248-4C23-8C7A-BA9FD797E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1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3AAC5-672B-404E-9E7C-ACB2564BBBA6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4B25-1248-4C23-8C7A-BA9FD797E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7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3AAC5-672B-404E-9E7C-ACB2564BBBA6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A4B25-1248-4C23-8C7A-BA9FD797E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1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Matplotlib 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510" y="111812"/>
            <a:ext cx="3724979" cy="145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8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Matplotlib?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Matplotlib is a low level graph plotting library in python that serves as a visualization utility.</a:t>
            </a:r>
          </a:p>
          <a:p>
            <a:endParaRPr lang="en-US" dirty="0" smtClean="0"/>
          </a:p>
          <a:p>
            <a:r>
              <a:rPr lang="en-US" dirty="0" smtClean="0"/>
              <a:t>Matplotlib was created by John D. Hunter.</a:t>
            </a:r>
          </a:p>
          <a:p>
            <a:endParaRPr lang="en-US" dirty="0" smtClean="0"/>
          </a:p>
          <a:p>
            <a:r>
              <a:rPr lang="en-US" dirty="0" smtClean="0"/>
              <a:t>Matplotlib is open source and we can use it freely.</a:t>
            </a:r>
          </a:p>
          <a:p>
            <a:endParaRPr lang="en-US" dirty="0" smtClean="0"/>
          </a:p>
          <a:p>
            <a:r>
              <a:rPr lang="en-US" dirty="0" smtClean="0"/>
              <a:t>Matplotlib is mostly written in python, a few segments are written in C, Objective-C and </a:t>
            </a:r>
            <a:r>
              <a:rPr lang="en-US" dirty="0" err="1" smtClean="0"/>
              <a:t>Javascript</a:t>
            </a:r>
            <a:r>
              <a:rPr lang="en-US" dirty="0" smtClean="0"/>
              <a:t> for Platform compatibility.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022" y="270456"/>
            <a:ext cx="1942555" cy="75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87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Installation of Matplotlib</a:t>
            </a:r>
          </a:p>
          <a:p>
            <a:r>
              <a:rPr lang="en-US" dirty="0" smtClean="0"/>
              <a:t>If you have Python and PIP already installed on a system, then installation of Matplotlib is very easy.</a:t>
            </a:r>
          </a:p>
          <a:p>
            <a:endParaRPr lang="en-US" dirty="0" smtClean="0"/>
          </a:p>
          <a:p>
            <a:r>
              <a:rPr lang="en-US" dirty="0" smtClean="0"/>
              <a:t>Install it using this command:</a:t>
            </a:r>
          </a:p>
          <a:p>
            <a:endParaRPr lang="en-US" dirty="0" smtClean="0"/>
          </a:p>
          <a:p>
            <a:r>
              <a:rPr lang="en-US" dirty="0" smtClean="0"/>
              <a:t>C:\Users\Your Name&gt;pip install </a:t>
            </a:r>
            <a:r>
              <a:rPr lang="en-US" dirty="0" err="1" smtClean="0"/>
              <a:t>matplotlib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7771" y="0"/>
            <a:ext cx="2051805" cy="80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9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Checking Matplotlib Version</a:t>
            </a:r>
          </a:p>
          <a:p>
            <a:r>
              <a:rPr lang="en-US" dirty="0" smtClean="0"/>
              <a:t>The version string is stored under __version__ attribute.</a:t>
            </a:r>
          </a:p>
          <a:p>
            <a:endParaRPr lang="en-US" dirty="0" smtClean="0"/>
          </a:p>
          <a:p>
            <a:r>
              <a:rPr lang="en-US" dirty="0" smtClean="0"/>
              <a:t>Example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matplotlib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print(</a:t>
            </a:r>
            <a:r>
              <a:rPr lang="en-US" dirty="0" err="1" smtClean="0"/>
              <a:t>matplotlib</a:t>
            </a:r>
            <a:r>
              <a:rPr lang="en-US" dirty="0" smtClean="0"/>
              <a:t>.__version__)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3120" y="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78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761" y="90152"/>
            <a:ext cx="10503794" cy="1304322"/>
          </a:xfrm>
        </p:spPr>
        <p:txBody>
          <a:bodyPr/>
          <a:lstStyle/>
          <a:p>
            <a:r>
              <a:rPr lang="en-US" dirty="0"/>
              <a:t>Matplotlib </a:t>
            </a:r>
            <a:r>
              <a:rPr lang="en-US" dirty="0" err="1"/>
              <a:t>Pyplot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92429"/>
            <a:ext cx="11418194" cy="5983780"/>
          </a:xfrm>
        </p:spPr>
        <p:txBody>
          <a:bodyPr>
            <a:normAutofit fontScale="47500" lnSpcReduction="20000"/>
          </a:bodyPr>
          <a:lstStyle/>
          <a:p>
            <a:r>
              <a:rPr lang="en-US" dirty="0" err="1" smtClean="0"/>
              <a:t>Pyplot</a:t>
            </a:r>
            <a:endParaRPr lang="en-US" dirty="0" smtClean="0"/>
          </a:p>
          <a:p>
            <a:r>
              <a:rPr lang="en-US" dirty="0" smtClean="0"/>
              <a:t>Most of the Matplotlib utilities lies under the </a:t>
            </a:r>
            <a:r>
              <a:rPr lang="en-US" dirty="0" err="1" smtClean="0"/>
              <a:t>pyplot</a:t>
            </a:r>
            <a:r>
              <a:rPr lang="en-US" dirty="0" smtClean="0"/>
              <a:t> </a:t>
            </a:r>
            <a:r>
              <a:rPr lang="en-US" dirty="0" err="1" smtClean="0"/>
              <a:t>submodule</a:t>
            </a:r>
            <a:r>
              <a:rPr lang="en-US" dirty="0" smtClean="0"/>
              <a:t>, and are usually imported under the </a:t>
            </a:r>
            <a:r>
              <a:rPr lang="en-US" dirty="0" err="1" smtClean="0"/>
              <a:t>plt</a:t>
            </a:r>
            <a:r>
              <a:rPr lang="en-US" dirty="0" smtClean="0"/>
              <a:t> alias:</a:t>
            </a:r>
          </a:p>
          <a:p>
            <a:endParaRPr lang="en-US" dirty="0" smtClean="0"/>
          </a:p>
          <a:p>
            <a:r>
              <a:rPr lang="en-US" sz="4400" dirty="0" smtClean="0"/>
              <a:t>import </a:t>
            </a:r>
            <a:r>
              <a:rPr lang="en-US" sz="4400" dirty="0" err="1" smtClean="0"/>
              <a:t>matplotlib.pyplot</a:t>
            </a:r>
            <a:r>
              <a:rPr lang="en-US" sz="4400" dirty="0" smtClean="0"/>
              <a:t> as </a:t>
            </a:r>
            <a:r>
              <a:rPr lang="en-US" sz="4400" dirty="0" err="1" smtClean="0"/>
              <a:t>plt</a:t>
            </a:r>
            <a:endParaRPr lang="en-US" sz="4400" dirty="0" smtClean="0"/>
          </a:p>
          <a:p>
            <a:r>
              <a:rPr lang="en-US" sz="4400" dirty="0" smtClean="0"/>
              <a:t>Now the </a:t>
            </a:r>
            <a:r>
              <a:rPr lang="en-US" sz="4400" dirty="0" err="1" smtClean="0"/>
              <a:t>Pyplot</a:t>
            </a:r>
            <a:r>
              <a:rPr lang="en-US" sz="4400" dirty="0" smtClean="0"/>
              <a:t> package can be referred to as </a:t>
            </a:r>
            <a:r>
              <a:rPr lang="en-US" sz="4400" dirty="0" err="1" smtClean="0"/>
              <a:t>plt</a:t>
            </a:r>
            <a:r>
              <a:rPr lang="en-US" sz="4400" dirty="0" smtClean="0"/>
              <a:t>.</a:t>
            </a:r>
          </a:p>
          <a:p>
            <a:endParaRPr lang="en-US" sz="4400" dirty="0" smtClean="0"/>
          </a:p>
          <a:p>
            <a:r>
              <a:rPr lang="en-US" sz="4400" dirty="0" smtClean="0"/>
              <a:t>Example</a:t>
            </a:r>
          </a:p>
          <a:p>
            <a:r>
              <a:rPr lang="en-US" sz="4400" dirty="0" smtClean="0"/>
              <a:t>Draw a line in a diagram from position (0,0) to position (6,250):</a:t>
            </a:r>
          </a:p>
          <a:p>
            <a:endParaRPr lang="en-US" sz="4400" dirty="0" smtClean="0"/>
          </a:p>
          <a:p>
            <a:r>
              <a:rPr lang="en-US" sz="4400" dirty="0" smtClean="0"/>
              <a:t>import </a:t>
            </a:r>
            <a:r>
              <a:rPr lang="en-US" sz="4400" dirty="0" err="1" smtClean="0"/>
              <a:t>matplotlib.pyplot</a:t>
            </a:r>
            <a:r>
              <a:rPr lang="en-US" sz="4400" dirty="0" smtClean="0"/>
              <a:t> as </a:t>
            </a:r>
            <a:r>
              <a:rPr lang="en-US" sz="4400" dirty="0" err="1" smtClean="0"/>
              <a:t>plt</a:t>
            </a:r>
            <a:endParaRPr lang="en-US" sz="4400" dirty="0" smtClean="0"/>
          </a:p>
          <a:p>
            <a:r>
              <a:rPr lang="en-US" sz="4400" dirty="0" smtClean="0"/>
              <a:t>import </a:t>
            </a:r>
            <a:r>
              <a:rPr lang="en-US" sz="4400" dirty="0" err="1" smtClean="0"/>
              <a:t>numpy</a:t>
            </a:r>
            <a:r>
              <a:rPr lang="en-US" sz="4400" dirty="0" smtClean="0"/>
              <a:t> as </a:t>
            </a:r>
            <a:r>
              <a:rPr lang="en-US" sz="4400" dirty="0" err="1" smtClean="0"/>
              <a:t>np</a:t>
            </a:r>
            <a:endParaRPr lang="en-US" sz="4400" dirty="0" smtClean="0"/>
          </a:p>
          <a:p>
            <a:endParaRPr lang="en-US" sz="4400" dirty="0" smtClean="0"/>
          </a:p>
          <a:p>
            <a:r>
              <a:rPr lang="en-US" sz="4400" dirty="0" err="1" smtClean="0"/>
              <a:t>xpoints</a:t>
            </a:r>
            <a:r>
              <a:rPr lang="en-US" sz="4400" dirty="0" smtClean="0"/>
              <a:t> = </a:t>
            </a:r>
            <a:r>
              <a:rPr lang="en-US" sz="4400" dirty="0" err="1" smtClean="0"/>
              <a:t>np.array</a:t>
            </a:r>
            <a:r>
              <a:rPr lang="en-US" sz="4400" dirty="0" smtClean="0"/>
              <a:t>([0, 6])</a:t>
            </a:r>
          </a:p>
          <a:p>
            <a:r>
              <a:rPr lang="en-US" sz="4400" dirty="0" err="1" smtClean="0"/>
              <a:t>ypoints</a:t>
            </a:r>
            <a:r>
              <a:rPr lang="en-US" sz="4400" dirty="0" smtClean="0"/>
              <a:t> = </a:t>
            </a:r>
            <a:r>
              <a:rPr lang="en-US" sz="4400" dirty="0" err="1" smtClean="0"/>
              <a:t>np.array</a:t>
            </a:r>
            <a:r>
              <a:rPr lang="en-US" sz="4400" dirty="0" smtClean="0"/>
              <a:t>([0, 250])</a:t>
            </a:r>
          </a:p>
          <a:p>
            <a:endParaRPr lang="en-US" sz="4400" dirty="0" smtClean="0"/>
          </a:p>
          <a:p>
            <a:r>
              <a:rPr lang="en-US" sz="4400" dirty="0" err="1" smtClean="0"/>
              <a:t>plt.plot</a:t>
            </a:r>
            <a:r>
              <a:rPr lang="en-US" sz="4400" dirty="0" smtClean="0"/>
              <a:t>(</a:t>
            </a:r>
            <a:r>
              <a:rPr lang="en-US" sz="4400" dirty="0" err="1" smtClean="0"/>
              <a:t>xpoints</a:t>
            </a:r>
            <a:r>
              <a:rPr lang="en-US" sz="4400" dirty="0" smtClean="0"/>
              <a:t>, </a:t>
            </a:r>
            <a:r>
              <a:rPr lang="en-US" sz="4400" dirty="0" err="1" smtClean="0"/>
              <a:t>ypoints</a:t>
            </a:r>
            <a:r>
              <a:rPr lang="en-US" sz="4400" dirty="0" smtClean="0"/>
              <a:t>)</a:t>
            </a:r>
          </a:p>
          <a:p>
            <a:r>
              <a:rPr lang="en-US" sz="4400" dirty="0" err="1" smtClean="0"/>
              <a:t>plt.show</a:t>
            </a:r>
            <a:r>
              <a:rPr lang="en-US" sz="4400" dirty="0" smtClean="0"/>
              <a:t>()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3120" y="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543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1452" y="1440891"/>
            <a:ext cx="7253032" cy="54171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95470" y="553792"/>
            <a:ext cx="2189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3120" y="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01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Matplotlib Plotting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Plotting x and y points</a:t>
            </a:r>
          </a:p>
          <a:p>
            <a:r>
              <a:rPr lang="en-US" dirty="0" smtClean="0"/>
              <a:t>The plot() function is used to draw points (markers) in a diagram.</a:t>
            </a:r>
          </a:p>
          <a:p>
            <a:endParaRPr lang="en-US" dirty="0" smtClean="0"/>
          </a:p>
          <a:p>
            <a:r>
              <a:rPr lang="en-US" dirty="0" smtClean="0"/>
              <a:t>By default, the plot() function draws a line from point to point.</a:t>
            </a:r>
          </a:p>
          <a:p>
            <a:endParaRPr lang="en-US" dirty="0" smtClean="0"/>
          </a:p>
          <a:p>
            <a:r>
              <a:rPr lang="en-US" dirty="0" smtClean="0"/>
              <a:t>The function takes parameters for specifying points in the diagram.</a:t>
            </a:r>
          </a:p>
          <a:p>
            <a:endParaRPr lang="en-US" dirty="0" smtClean="0"/>
          </a:p>
          <a:p>
            <a:r>
              <a:rPr lang="en-US" dirty="0" smtClean="0"/>
              <a:t>Parameter 1 is an array containing the points on the x-axis.</a:t>
            </a:r>
          </a:p>
          <a:p>
            <a:endParaRPr lang="en-US" dirty="0" smtClean="0"/>
          </a:p>
          <a:p>
            <a:r>
              <a:rPr lang="en-US" dirty="0" smtClean="0"/>
              <a:t>Parameter 2 is an array containing the points on the y-axis.</a:t>
            </a:r>
          </a:p>
          <a:p>
            <a:endParaRPr lang="en-US" dirty="0" smtClean="0"/>
          </a:p>
          <a:p>
            <a:r>
              <a:rPr lang="en-US" dirty="0" smtClean="0"/>
              <a:t>If we need to plot a line from (1, 3) to (8, 10), we have to pass two arrays [1, 8] and [3, 10] to the plot function.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3120" y="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5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Example</a:t>
            </a:r>
          </a:p>
          <a:p>
            <a:r>
              <a:rPr lang="en-US" dirty="0" smtClean="0"/>
              <a:t>Draw a line in a diagram from position (1, 3) to position (8, 10):</a:t>
            </a:r>
          </a:p>
          <a:p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numpy</a:t>
            </a:r>
            <a:r>
              <a:rPr lang="en-US" dirty="0" smtClean="0"/>
              <a:t> as </a:t>
            </a:r>
            <a:r>
              <a:rPr lang="en-US" dirty="0" err="1" smtClean="0"/>
              <a:t>np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xpoints</a:t>
            </a:r>
            <a:r>
              <a:rPr lang="en-US" dirty="0" smtClean="0"/>
              <a:t> = </a:t>
            </a:r>
            <a:r>
              <a:rPr lang="en-US" dirty="0" err="1" smtClean="0"/>
              <a:t>np.array</a:t>
            </a:r>
            <a:r>
              <a:rPr lang="en-US" dirty="0" smtClean="0"/>
              <a:t>([1, 8])</a:t>
            </a:r>
          </a:p>
          <a:p>
            <a:r>
              <a:rPr lang="en-US" dirty="0" err="1" smtClean="0"/>
              <a:t>ypoints</a:t>
            </a:r>
            <a:r>
              <a:rPr lang="en-US" dirty="0" smtClean="0"/>
              <a:t> = </a:t>
            </a:r>
            <a:r>
              <a:rPr lang="en-US" dirty="0" err="1" smtClean="0"/>
              <a:t>np.array</a:t>
            </a:r>
            <a:r>
              <a:rPr lang="en-US" dirty="0" smtClean="0"/>
              <a:t>([3, 10])</a:t>
            </a:r>
          </a:p>
          <a:p>
            <a:endParaRPr lang="en-US" dirty="0" smtClean="0"/>
          </a:p>
          <a:p>
            <a:r>
              <a:rPr lang="en-US" dirty="0" err="1" smtClean="0"/>
              <a:t>plt.plot</a:t>
            </a:r>
            <a:r>
              <a:rPr lang="en-US" dirty="0" smtClean="0"/>
              <a:t>(</a:t>
            </a:r>
            <a:r>
              <a:rPr lang="en-US" dirty="0" err="1" smtClean="0"/>
              <a:t>xpoints</a:t>
            </a:r>
            <a:r>
              <a:rPr lang="en-US" dirty="0" smtClean="0"/>
              <a:t>, </a:t>
            </a:r>
            <a:r>
              <a:rPr lang="en-US" dirty="0" err="1" smtClean="0"/>
              <a:t>ypoints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3120" y="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9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2970" y="1825625"/>
            <a:ext cx="5826059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3120" y="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999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Machine Learning - Scatter Plot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289" y="1207439"/>
            <a:ext cx="10515600" cy="4351338"/>
          </a:xfrm>
        </p:spPr>
        <p:txBody>
          <a:bodyPr/>
          <a:lstStyle/>
          <a:p>
            <a:r>
              <a:rPr lang="en-US" dirty="0" smtClean="0"/>
              <a:t>Scatter Plot</a:t>
            </a:r>
          </a:p>
          <a:p>
            <a:r>
              <a:rPr lang="en-US" dirty="0" smtClean="0"/>
              <a:t>A scatter plot is a diagram where each value in the data set is represented by a dot.</a:t>
            </a:r>
          </a:p>
          <a:p>
            <a:endParaRPr lang="en-US" dirty="0"/>
          </a:p>
        </p:txBody>
      </p:sp>
      <p:pic>
        <p:nvPicPr>
          <p:cNvPr id="2050" name="Picture 2" descr="https://www.w3schools.com/python/img_scatterplo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706" y="2159135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3120" y="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132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Matplotlib module has a method for drawing scatter plots, it needs two arrays of the same length, one for the values of the x-axis, and one for the values of the y-axis:</a:t>
            </a:r>
          </a:p>
          <a:p>
            <a:endParaRPr lang="en-US" dirty="0" smtClean="0"/>
          </a:p>
          <a:p>
            <a:r>
              <a:rPr lang="en-US" dirty="0" smtClean="0"/>
              <a:t>x = [5,7,8,7,2,17,2,9,4,11,12,9,6]</a:t>
            </a:r>
          </a:p>
          <a:p>
            <a:endParaRPr lang="en-US" dirty="0" smtClean="0"/>
          </a:p>
          <a:p>
            <a:r>
              <a:rPr lang="en-US" dirty="0" smtClean="0"/>
              <a:t>y = [99,86,87,88,111,86,103,87,94,78,77,85,86]</a:t>
            </a:r>
          </a:p>
          <a:p>
            <a:endParaRPr lang="en-US" dirty="0" smtClean="0"/>
          </a:p>
          <a:p>
            <a:r>
              <a:rPr lang="en-US" dirty="0" smtClean="0"/>
              <a:t>The x array represents the age of each car.</a:t>
            </a:r>
          </a:p>
          <a:p>
            <a:endParaRPr lang="en-US" dirty="0" smtClean="0"/>
          </a:p>
          <a:p>
            <a:r>
              <a:rPr lang="en-US" dirty="0" smtClean="0"/>
              <a:t>The y array represents the speed of each car.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60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Example</a:t>
            </a:r>
          </a:p>
          <a:p>
            <a:r>
              <a:rPr lang="en-US" dirty="0" smtClean="0"/>
              <a:t>Use the scatter() method to </a:t>
            </a:r>
            <a:r>
              <a:rPr lang="en-US" b="1" dirty="0" smtClean="0"/>
              <a:t>draw a scatter plot diagram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x = [5,7,8,7,2,17,2,9,4,11,12,9,6]</a:t>
            </a:r>
          </a:p>
          <a:p>
            <a:r>
              <a:rPr lang="en-US" dirty="0" smtClean="0"/>
              <a:t>y = [99,86,87,88,111,86,103,87,94,78,77,85,86]</a:t>
            </a:r>
          </a:p>
          <a:p>
            <a:endParaRPr lang="en-US" dirty="0" smtClean="0"/>
          </a:p>
          <a:p>
            <a:r>
              <a:rPr lang="en-US" dirty="0" err="1" smtClean="0"/>
              <a:t>plt.scatter</a:t>
            </a:r>
            <a:r>
              <a:rPr lang="en-US" dirty="0" smtClean="0"/>
              <a:t>(x, y)</a:t>
            </a:r>
          </a:p>
          <a:p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37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Scatter Plot Explained</a:t>
            </a:r>
          </a:p>
          <a:p>
            <a:r>
              <a:rPr lang="en-US" dirty="0" smtClean="0"/>
              <a:t>The x-axis represents ages, and the y-axis represents speeds.</a:t>
            </a:r>
          </a:p>
          <a:p>
            <a:endParaRPr lang="en-US" dirty="0" smtClean="0"/>
          </a:p>
          <a:p>
            <a:r>
              <a:rPr lang="en-US" dirty="0" smtClean="0"/>
              <a:t>What we can read from the diagram is that the two fastest cars were both 2 years old, and the slowest car was 12 years old.</a:t>
            </a:r>
          </a:p>
          <a:p>
            <a:endParaRPr lang="en-US" dirty="0" smtClean="0"/>
          </a:p>
          <a:p>
            <a:r>
              <a:rPr lang="en-US" dirty="0" smtClean="0"/>
              <a:t>Note: It seems that the newer the car, the faster it drives, but that could be a coincidence, after all we only registered 13 cars.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515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Data Distributions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In Machine Learning the data sets can contain thousands-, or even millions, of values.</a:t>
            </a:r>
          </a:p>
          <a:p>
            <a:endParaRPr lang="en-US" dirty="0" smtClean="0"/>
          </a:p>
          <a:p>
            <a:r>
              <a:rPr lang="en-US" dirty="0" smtClean="0"/>
              <a:t>You might not have real world data when you are testing an algorithm, you might have to use randomly generated values.</a:t>
            </a:r>
          </a:p>
          <a:p>
            <a:endParaRPr lang="en-US" dirty="0" smtClean="0"/>
          </a:p>
          <a:p>
            <a:r>
              <a:rPr lang="en-US" dirty="0" smtClean="0"/>
              <a:t>As we have learned in the previous chapter, the </a:t>
            </a:r>
            <a:r>
              <a:rPr lang="en-US" dirty="0" err="1" smtClean="0"/>
              <a:t>NumPy</a:t>
            </a:r>
            <a:r>
              <a:rPr lang="en-US" dirty="0" smtClean="0"/>
              <a:t> module can help us with that!</a:t>
            </a:r>
          </a:p>
          <a:p>
            <a:endParaRPr lang="en-US" dirty="0" smtClean="0"/>
          </a:p>
          <a:p>
            <a:r>
              <a:rPr lang="en-US" dirty="0" smtClean="0"/>
              <a:t>Let us create two arrays that are both filled with 1000 random numbers from a normal data distribution.</a:t>
            </a:r>
          </a:p>
          <a:p>
            <a:endParaRPr lang="en-US" dirty="0" smtClean="0"/>
          </a:p>
          <a:p>
            <a:r>
              <a:rPr lang="en-US" dirty="0" smtClean="0"/>
              <a:t>The first array will have the mean set to 5.0 with a standard deviation of 1.0.</a:t>
            </a:r>
          </a:p>
          <a:p>
            <a:endParaRPr lang="en-US" dirty="0" smtClean="0"/>
          </a:p>
          <a:p>
            <a:r>
              <a:rPr lang="en-US" dirty="0" smtClean="0"/>
              <a:t>The second array will have the mean set to 10.0 with a standard deviation of 2.0: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87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Example</a:t>
            </a:r>
          </a:p>
          <a:p>
            <a:r>
              <a:rPr lang="en-US" dirty="0" smtClean="0"/>
              <a:t>A scatter plot with 1000 dots:</a:t>
            </a:r>
          </a:p>
          <a:p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numpy</a:t>
            </a:r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x = </a:t>
            </a:r>
            <a:r>
              <a:rPr lang="en-US" dirty="0" err="1" smtClean="0"/>
              <a:t>numpy.random.normal</a:t>
            </a:r>
            <a:r>
              <a:rPr lang="en-US" dirty="0" smtClean="0"/>
              <a:t>(5.0, 1.0, 1000)</a:t>
            </a:r>
          </a:p>
          <a:p>
            <a:r>
              <a:rPr lang="en-US" dirty="0" smtClean="0"/>
              <a:t>y = </a:t>
            </a:r>
            <a:r>
              <a:rPr lang="en-US" dirty="0" err="1" smtClean="0"/>
              <a:t>numpy.random.normal</a:t>
            </a:r>
            <a:r>
              <a:rPr lang="en-US" dirty="0" smtClean="0"/>
              <a:t>(10.0, 2.0, 1000)</a:t>
            </a:r>
          </a:p>
          <a:p>
            <a:endParaRPr lang="en-US" dirty="0" smtClean="0"/>
          </a:p>
          <a:p>
            <a:r>
              <a:rPr lang="en-US" dirty="0" err="1" smtClean="0"/>
              <a:t>plt.scatter</a:t>
            </a:r>
            <a:r>
              <a:rPr lang="en-US" dirty="0" smtClean="0"/>
              <a:t>(x, y)</a:t>
            </a:r>
          </a:p>
          <a:p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3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913" y="566670"/>
            <a:ext cx="10812887" cy="5610293"/>
          </a:xfrm>
        </p:spPr>
        <p:txBody>
          <a:bodyPr/>
          <a:lstStyle/>
          <a:p>
            <a:r>
              <a:rPr lang="en-US" dirty="0" smtClean="0"/>
              <a:t>Result: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45" y="1065728"/>
            <a:ext cx="6096000" cy="457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134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Machine Learning - 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Regression</a:t>
            </a:r>
          </a:p>
          <a:p>
            <a:r>
              <a:rPr lang="en-US" dirty="0" smtClean="0"/>
              <a:t>The term regression is used when you try to find the relationship between variables.</a:t>
            </a:r>
          </a:p>
          <a:p>
            <a:endParaRPr lang="en-US" dirty="0" smtClean="0"/>
          </a:p>
          <a:p>
            <a:r>
              <a:rPr lang="en-US" dirty="0" smtClean="0"/>
              <a:t>In Machine Learning, and in statistical modeling, that relationship is used to predict the outcome of future events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18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Regression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Linear regression uses the relationship between the data-points to draw a straight line through all them.</a:t>
            </a:r>
          </a:p>
          <a:p>
            <a:endParaRPr lang="en-US" dirty="0" smtClean="0"/>
          </a:p>
          <a:p>
            <a:r>
              <a:rPr lang="en-US" dirty="0" smtClean="0"/>
              <a:t>This line can be used to predict future values.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428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Python </a:t>
            </a:r>
            <a:r>
              <a:rPr lang="en-US" dirty="0"/>
              <a:t>has methods for finding a relationship between data-points and to draw a line of linear regression. We will show you how to use these methods instead of going through the mathematic formula.</a:t>
            </a:r>
          </a:p>
          <a:p>
            <a:endParaRPr lang="en-US" dirty="0"/>
          </a:p>
          <a:p>
            <a:r>
              <a:rPr lang="en-US" dirty="0"/>
              <a:t>In the example below, the x-axis represents age, and the y-axis represents speed. We have registered the age and speed of 13 cars as they were passing a tollbooth. Let us see if the data we collected could be used in a linear regression: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dirty="0"/>
              <a:t>Start by drawing a scatter plot: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endParaRPr lang="en-US" dirty="0"/>
          </a:p>
          <a:p>
            <a:r>
              <a:rPr lang="en-US" dirty="0"/>
              <a:t>x = [5,7,8,7,2,17,2,9,4,11,12,9,6]</a:t>
            </a:r>
          </a:p>
          <a:p>
            <a:r>
              <a:rPr lang="en-US" dirty="0"/>
              <a:t>y = [99,86,87,88,111,86,103,87,94,78,77,85,86]</a:t>
            </a:r>
          </a:p>
          <a:p>
            <a:endParaRPr lang="en-US" dirty="0"/>
          </a:p>
          <a:p>
            <a:r>
              <a:rPr lang="en-US" dirty="0" err="1"/>
              <a:t>plt.scatter</a:t>
            </a:r>
            <a:r>
              <a:rPr lang="en-US" dirty="0"/>
              <a:t>(x, y)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22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Import 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scipy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 draw the line of Linear Regression:</a:t>
            </a:r>
            <a:endParaRPr kumimoji="0" 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matplotlib.pyplot 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plt</a:t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scipy 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stats</a:t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[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 [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99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86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87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111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86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103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87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94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78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86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slope, intercept, r, p, std_err = stats.linregress(x, y)</a:t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myfunc(x):</a:t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slope * x + intercept</a:t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mymodel = 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(myfunc, x))</a:t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plt.scatter(x, y)</a:t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plt.plot(x, mymodel)</a:t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plt.show()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54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Result: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05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for Relationship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It </a:t>
            </a:r>
            <a:r>
              <a:rPr lang="en-US" dirty="0"/>
              <a:t>is important to know how the relationship between the values of the x-axis and the values of the y-axis is, if there are no relationship the linear regression can not be used to predict anything.</a:t>
            </a:r>
          </a:p>
          <a:p>
            <a:endParaRPr lang="en-US" dirty="0"/>
          </a:p>
          <a:p>
            <a:r>
              <a:rPr lang="en-US" dirty="0"/>
              <a:t>This relationship - the coefficient of correlation - is called r.</a:t>
            </a:r>
          </a:p>
          <a:p>
            <a:endParaRPr lang="en-US" dirty="0"/>
          </a:p>
          <a:p>
            <a:r>
              <a:rPr lang="en-US" dirty="0"/>
              <a:t>The r value ranges from -1 to 1, where 0 means no relationship, and 1 (and -1) means 100% related.</a:t>
            </a:r>
          </a:p>
          <a:p>
            <a:endParaRPr lang="en-US" dirty="0"/>
          </a:p>
          <a:p>
            <a:r>
              <a:rPr lang="en-US" dirty="0"/>
              <a:t>Python and the </a:t>
            </a:r>
            <a:r>
              <a:rPr lang="en-US" dirty="0" err="1"/>
              <a:t>Scipy</a:t>
            </a:r>
            <a:r>
              <a:rPr lang="en-US" dirty="0"/>
              <a:t> module will compute this value for you, all you have to do is feed it with the x and y values.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83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Example</a:t>
            </a:r>
          </a:p>
          <a:p>
            <a:r>
              <a:rPr lang="en-US" dirty="0"/>
              <a:t>How well does my data fit in a linear regression?</a:t>
            </a:r>
          </a:p>
          <a:p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scipy</a:t>
            </a:r>
            <a:r>
              <a:rPr lang="en-US" dirty="0"/>
              <a:t> import stats</a:t>
            </a:r>
          </a:p>
          <a:p>
            <a:endParaRPr lang="en-US" dirty="0"/>
          </a:p>
          <a:p>
            <a:r>
              <a:rPr lang="en-US" dirty="0"/>
              <a:t>x = [5,7,8,7,2,17,2,9,4,11,12,9,6]</a:t>
            </a:r>
          </a:p>
          <a:p>
            <a:r>
              <a:rPr lang="en-US" dirty="0"/>
              <a:t>y = [99,86,87,88,111,86,103,87,94,78,77,85,86]</a:t>
            </a:r>
          </a:p>
          <a:p>
            <a:endParaRPr lang="en-US" dirty="0"/>
          </a:p>
          <a:p>
            <a:r>
              <a:rPr lang="en-US" dirty="0"/>
              <a:t>slope, intercept, r, p, </a:t>
            </a:r>
            <a:r>
              <a:rPr lang="en-US" dirty="0" err="1"/>
              <a:t>std_err</a:t>
            </a:r>
            <a:r>
              <a:rPr lang="en-US" dirty="0"/>
              <a:t> = </a:t>
            </a:r>
            <a:r>
              <a:rPr lang="en-US" dirty="0" err="1"/>
              <a:t>stats.linregress</a:t>
            </a:r>
            <a:r>
              <a:rPr lang="en-US" dirty="0"/>
              <a:t>(x, y)</a:t>
            </a:r>
          </a:p>
          <a:p>
            <a:endParaRPr lang="en-US" dirty="0"/>
          </a:p>
          <a:p>
            <a:r>
              <a:rPr lang="en-US" dirty="0"/>
              <a:t>print(r)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15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89" y="0"/>
            <a:ext cx="10903039" cy="6447419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Predict Future Values</a:t>
            </a:r>
          </a:p>
          <a:p>
            <a:r>
              <a:rPr lang="en-US" dirty="0"/>
              <a:t>Now we can use the information we have gathered to predict future values.</a:t>
            </a:r>
          </a:p>
          <a:p>
            <a:endParaRPr lang="en-US" dirty="0"/>
          </a:p>
          <a:p>
            <a:r>
              <a:rPr lang="en-US" dirty="0"/>
              <a:t>Example: Let us try to predict the speed of a 10 years old car.</a:t>
            </a:r>
          </a:p>
          <a:p>
            <a:endParaRPr lang="en-US" dirty="0"/>
          </a:p>
          <a:p>
            <a:r>
              <a:rPr lang="en-US" dirty="0"/>
              <a:t>To do so, we need the same </a:t>
            </a:r>
            <a:r>
              <a:rPr lang="en-US" dirty="0" err="1"/>
              <a:t>myfunc</a:t>
            </a:r>
            <a:r>
              <a:rPr lang="en-US" dirty="0"/>
              <a:t>() function from the example above: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myfunc</a:t>
            </a:r>
            <a:r>
              <a:rPr lang="en-US" dirty="0"/>
              <a:t>(x):</a:t>
            </a:r>
          </a:p>
          <a:p>
            <a:r>
              <a:rPr lang="en-US" dirty="0"/>
              <a:t>  return slope * x + intercept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dirty="0"/>
              <a:t>Predict the speed of a 10 years old car:</a:t>
            </a:r>
          </a:p>
          <a:p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scipy</a:t>
            </a:r>
            <a:r>
              <a:rPr lang="en-US" dirty="0"/>
              <a:t> import stats</a:t>
            </a:r>
          </a:p>
          <a:p>
            <a:endParaRPr lang="en-US" dirty="0"/>
          </a:p>
          <a:p>
            <a:r>
              <a:rPr lang="en-US" dirty="0"/>
              <a:t>x = [5,7,8,7,2,17,2,9,4,11,12,9,6]</a:t>
            </a:r>
          </a:p>
          <a:p>
            <a:r>
              <a:rPr lang="en-US" dirty="0"/>
              <a:t>y = [99,86,87,88,111,86,103,87,94,78,77,85,86]</a:t>
            </a:r>
          </a:p>
          <a:p>
            <a:endParaRPr lang="en-US" dirty="0"/>
          </a:p>
          <a:p>
            <a:r>
              <a:rPr lang="en-US" dirty="0"/>
              <a:t>slope, intercept, r, p, </a:t>
            </a:r>
            <a:r>
              <a:rPr lang="en-US" dirty="0" err="1"/>
              <a:t>std_err</a:t>
            </a:r>
            <a:r>
              <a:rPr lang="en-US" dirty="0"/>
              <a:t> = </a:t>
            </a:r>
            <a:r>
              <a:rPr lang="en-US" dirty="0" err="1"/>
              <a:t>stats.linregress</a:t>
            </a:r>
            <a:r>
              <a:rPr lang="en-US" dirty="0"/>
              <a:t>(x, y)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myfunc</a:t>
            </a:r>
            <a:r>
              <a:rPr lang="en-US" dirty="0"/>
              <a:t>(x):</a:t>
            </a:r>
          </a:p>
          <a:p>
            <a:r>
              <a:rPr lang="en-US" dirty="0"/>
              <a:t>  return slope * x + intercept</a:t>
            </a:r>
          </a:p>
          <a:p>
            <a:endParaRPr lang="en-US" dirty="0"/>
          </a:p>
          <a:p>
            <a:r>
              <a:rPr lang="en-US" dirty="0"/>
              <a:t>speed = </a:t>
            </a:r>
            <a:r>
              <a:rPr lang="en-US" dirty="0" err="1"/>
              <a:t>myfunc</a:t>
            </a:r>
            <a:r>
              <a:rPr lang="en-US" dirty="0"/>
              <a:t>(10)</a:t>
            </a:r>
          </a:p>
          <a:p>
            <a:endParaRPr lang="en-US" dirty="0"/>
          </a:p>
          <a:p>
            <a:r>
              <a:rPr lang="en-US" dirty="0"/>
              <a:t>print(speed)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545" y="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55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The </a:t>
            </a:r>
            <a:r>
              <a:rPr lang="en-US" dirty="0"/>
              <a:t>example predicted a speed at 85.6, which we also could read from the diagram: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98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Fit?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 smtClean="0"/>
              <a:t>Let </a:t>
            </a:r>
            <a:r>
              <a:rPr lang="en-US" dirty="0"/>
              <a:t>us create an example where linear regression would not be the best method to predict future values.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dirty="0"/>
              <a:t>These values for the x- and y-axis should result in a very bad fit for linear regression: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scipy</a:t>
            </a:r>
            <a:r>
              <a:rPr lang="en-US" dirty="0"/>
              <a:t> import stats</a:t>
            </a:r>
          </a:p>
          <a:p>
            <a:endParaRPr lang="en-US" dirty="0"/>
          </a:p>
          <a:p>
            <a:r>
              <a:rPr lang="en-US" dirty="0"/>
              <a:t>x = [89,43,36,36,95,10,66,34,38,20,26,29,48,64,6,5,36,66,72,40]</a:t>
            </a:r>
          </a:p>
          <a:p>
            <a:r>
              <a:rPr lang="en-US" dirty="0"/>
              <a:t>y = [21,46,3,35,67,95,53,72,58,10,26,34,90,33,38,20,56,2,47,15]</a:t>
            </a:r>
          </a:p>
          <a:p>
            <a:endParaRPr lang="en-US" dirty="0"/>
          </a:p>
          <a:p>
            <a:r>
              <a:rPr lang="en-US" dirty="0"/>
              <a:t>slope, intercept, r, p, </a:t>
            </a:r>
            <a:r>
              <a:rPr lang="en-US" dirty="0" err="1"/>
              <a:t>std_err</a:t>
            </a:r>
            <a:r>
              <a:rPr lang="en-US" dirty="0"/>
              <a:t> = </a:t>
            </a:r>
            <a:r>
              <a:rPr lang="en-US" dirty="0" err="1"/>
              <a:t>stats.linregress</a:t>
            </a:r>
            <a:r>
              <a:rPr lang="en-US" dirty="0"/>
              <a:t>(x, y)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myfunc</a:t>
            </a:r>
            <a:r>
              <a:rPr lang="en-US" dirty="0"/>
              <a:t>(x):</a:t>
            </a:r>
          </a:p>
          <a:p>
            <a:r>
              <a:rPr lang="en-US" dirty="0"/>
              <a:t>  return slope * x + intercept</a:t>
            </a:r>
          </a:p>
          <a:p>
            <a:endParaRPr lang="en-US" dirty="0"/>
          </a:p>
          <a:p>
            <a:r>
              <a:rPr lang="en-US" dirty="0" err="1"/>
              <a:t>mymodel</a:t>
            </a:r>
            <a:r>
              <a:rPr lang="en-US" dirty="0"/>
              <a:t> = list(map(</a:t>
            </a:r>
            <a:r>
              <a:rPr lang="en-US" dirty="0" err="1"/>
              <a:t>myfunc</a:t>
            </a:r>
            <a:r>
              <a:rPr lang="en-US" dirty="0"/>
              <a:t>, x))</a:t>
            </a:r>
          </a:p>
          <a:p>
            <a:endParaRPr lang="en-US" dirty="0"/>
          </a:p>
          <a:p>
            <a:r>
              <a:rPr lang="en-US" dirty="0" err="1"/>
              <a:t>plt.scatter</a:t>
            </a:r>
            <a:r>
              <a:rPr lang="en-US" dirty="0"/>
              <a:t>(x, y)</a:t>
            </a:r>
          </a:p>
          <a:p>
            <a:r>
              <a:rPr lang="en-US" dirty="0" err="1"/>
              <a:t>plt.plot</a:t>
            </a:r>
            <a:r>
              <a:rPr lang="en-US" dirty="0"/>
              <a:t>(x, </a:t>
            </a:r>
            <a:r>
              <a:rPr lang="en-US" dirty="0" err="1"/>
              <a:t>mymodel</a:t>
            </a:r>
            <a:r>
              <a:rPr lang="en-US" dirty="0"/>
              <a:t>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742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Result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0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4" y="360608"/>
            <a:ext cx="10825766" cy="581635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And the r for relationship?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dirty="0"/>
              <a:t>You should get a very low r value.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scipy</a:t>
            </a:r>
            <a:r>
              <a:rPr lang="en-US" dirty="0"/>
              <a:t> import stats</a:t>
            </a:r>
          </a:p>
          <a:p>
            <a:endParaRPr lang="en-US" dirty="0"/>
          </a:p>
          <a:p>
            <a:r>
              <a:rPr lang="en-US" dirty="0"/>
              <a:t>x = [89,43,36,36,95,10,66,34,38,20,26,29,48,64,6,5,36,66,72,40]</a:t>
            </a:r>
          </a:p>
          <a:p>
            <a:r>
              <a:rPr lang="en-US" dirty="0"/>
              <a:t>y = [21,46,3,35,67,95,53,72,58,10,26,34,90,33,38,20,56,2,47,15]</a:t>
            </a:r>
          </a:p>
          <a:p>
            <a:endParaRPr lang="en-US" dirty="0"/>
          </a:p>
          <a:p>
            <a:r>
              <a:rPr lang="en-US" dirty="0"/>
              <a:t>slope, intercept, r, p, </a:t>
            </a:r>
            <a:r>
              <a:rPr lang="en-US" dirty="0" err="1"/>
              <a:t>std_err</a:t>
            </a:r>
            <a:r>
              <a:rPr lang="en-US" dirty="0"/>
              <a:t> = </a:t>
            </a:r>
            <a:r>
              <a:rPr lang="en-US" dirty="0" err="1"/>
              <a:t>stats.linregress</a:t>
            </a:r>
            <a:r>
              <a:rPr lang="en-US" dirty="0"/>
              <a:t>(x, y)</a:t>
            </a:r>
          </a:p>
          <a:p>
            <a:endParaRPr lang="en-US" dirty="0"/>
          </a:p>
          <a:p>
            <a:r>
              <a:rPr lang="en-US" dirty="0"/>
              <a:t>print(r</a:t>
            </a:r>
            <a:r>
              <a:rPr lang="en-US" dirty="0" smtClean="0"/>
              <a:t>)</a:t>
            </a:r>
          </a:p>
          <a:p>
            <a:r>
              <a:rPr lang="en-US" dirty="0"/>
              <a:t>The result: 0.013 indicates a very bad relationship, and tells us that this data set is not suitable for linear regression.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58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Multiple </a:t>
            </a:r>
            <a:r>
              <a:rPr lang="en-US" dirty="0"/>
              <a:t>regression is like linear regression, but with more than one independent value, meaning that we try to predict a value based on two or more variables.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84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1849059"/>
              </p:ext>
            </p:extLst>
          </p:nvPr>
        </p:nvGraphicFramePr>
        <p:xfrm>
          <a:off x="1631224" y="1714435"/>
          <a:ext cx="8723489" cy="426720"/>
        </p:xfrm>
        <a:graphic>
          <a:graphicData uri="http://schemas.openxmlformats.org/drawingml/2006/table">
            <a:tbl>
              <a:tblPr/>
              <a:tblGrid>
                <a:gridCol w="1706079"/>
                <a:gridCol w="1708599"/>
                <a:gridCol w="1711577"/>
                <a:gridCol w="1710530"/>
                <a:gridCol w="1708904"/>
                <a:gridCol w="177800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Car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Model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Volume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Weight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CO2</a:t>
                      </a:r>
                    </a:p>
                  </a:txBody>
                  <a:tcPr marL="76200" marR="1905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321144"/>
              </p:ext>
            </p:extLst>
          </p:nvPr>
        </p:nvGraphicFramePr>
        <p:xfrm>
          <a:off x="1725767" y="2215165"/>
          <a:ext cx="8364238" cy="4477495"/>
        </p:xfrm>
        <a:graphic>
          <a:graphicData uri="http://schemas.openxmlformats.org/drawingml/2006/table">
            <a:tbl>
              <a:tblPr/>
              <a:tblGrid>
                <a:gridCol w="1672818"/>
                <a:gridCol w="1672818"/>
                <a:gridCol w="1672818"/>
                <a:gridCol w="1672818"/>
                <a:gridCol w="1672966"/>
              </a:tblGrid>
              <a:tr h="40704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Toyota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Aygo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1000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790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99</a:t>
                      </a:r>
                    </a:p>
                  </a:txBody>
                  <a:tcPr marL="70639" marR="176596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04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Mitsubishi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Space Star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1200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1160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 dirty="0">
                          <a:effectLst/>
                        </a:rPr>
                        <a:t>95</a:t>
                      </a:r>
                    </a:p>
                  </a:txBody>
                  <a:tcPr marL="70639" marR="176596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40704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Skoda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Citigo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1000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929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95</a:t>
                      </a:r>
                    </a:p>
                  </a:txBody>
                  <a:tcPr marL="70639" marR="176596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04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Fiat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500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900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865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90</a:t>
                      </a:r>
                    </a:p>
                  </a:txBody>
                  <a:tcPr marL="70639" marR="176596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40704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Mini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Cooper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1500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1140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105</a:t>
                      </a:r>
                    </a:p>
                  </a:txBody>
                  <a:tcPr marL="70639" marR="176596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04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VW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Up!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1000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929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105</a:t>
                      </a:r>
                    </a:p>
                  </a:txBody>
                  <a:tcPr marL="70639" marR="176596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40704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Skoda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Fabia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1400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1109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90</a:t>
                      </a:r>
                    </a:p>
                  </a:txBody>
                  <a:tcPr marL="70639" marR="176596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04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Mercedes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A-Class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1500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1365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92</a:t>
                      </a:r>
                    </a:p>
                  </a:txBody>
                  <a:tcPr marL="70639" marR="176596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40704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Ford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Fiesta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1500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1112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98</a:t>
                      </a:r>
                    </a:p>
                  </a:txBody>
                  <a:tcPr marL="70639" marR="176596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04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Audi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A1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1600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1150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99</a:t>
                      </a:r>
                    </a:p>
                  </a:txBody>
                  <a:tcPr marL="70639" marR="176596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40704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Hyundai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I20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1100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>
                          <a:effectLst/>
                        </a:rPr>
                        <a:t>980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700" dirty="0">
                          <a:effectLst/>
                        </a:rPr>
                        <a:t>99</a:t>
                      </a:r>
                    </a:p>
                  </a:txBody>
                  <a:tcPr marL="70639" marR="176596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8034" y="365125"/>
            <a:ext cx="10825766" cy="613669"/>
          </a:xfrm>
        </p:spPr>
        <p:txBody>
          <a:bodyPr>
            <a:normAutofit fontScale="90000"/>
          </a:bodyPr>
          <a:lstStyle/>
          <a:p>
            <a:r>
              <a:rPr lang="en-US" dirty="0"/>
              <a:t>Take a look at the data set below, it contains </a:t>
            </a:r>
            <a:r>
              <a:rPr lang="en-US" dirty="0" smtClean="0"/>
              <a:t>so</a:t>
            </a:r>
            <a:br>
              <a:rPr lang="en-US" dirty="0" smtClean="0"/>
            </a:br>
            <a:r>
              <a:rPr lang="en-US" dirty="0" smtClean="0"/>
              <a:t>me </a:t>
            </a:r>
            <a:r>
              <a:rPr lang="en-US" dirty="0"/>
              <a:t>information about cars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40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predict the CO2 emission of a car based on the size of the engine, but with multiple regression we can throw in more variables, like the weight of the car, to make the prediction more accurate.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9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 </a:t>
            </a:r>
            <a:r>
              <a:rPr lang="en-US" dirty="0"/>
              <a:t>Python we have modules that will do the work for us. Start by importing the Pandas module.</a:t>
            </a:r>
          </a:p>
          <a:p>
            <a:endParaRPr lang="en-US" dirty="0"/>
          </a:p>
          <a:p>
            <a:r>
              <a:rPr lang="en-US" dirty="0"/>
              <a:t>import pandas</a:t>
            </a:r>
          </a:p>
          <a:p>
            <a:endParaRPr lang="en-US" dirty="0"/>
          </a:p>
          <a:p>
            <a:r>
              <a:rPr lang="en-US" dirty="0"/>
              <a:t>Learn about the Pandas module in our Pandas Tutorial.</a:t>
            </a:r>
          </a:p>
          <a:p>
            <a:endParaRPr lang="en-US" dirty="0"/>
          </a:p>
          <a:p>
            <a:r>
              <a:rPr lang="en-US" dirty="0"/>
              <a:t>The Pandas module allows us to read </a:t>
            </a:r>
            <a:r>
              <a:rPr lang="en-US" dirty="0" err="1"/>
              <a:t>csv</a:t>
            </a:r>
            <a:r>
              <a:rPr lang="en-US" dirty="0"/>
              <a:t> files and return a </a:t>
            </a:r>
            <a:r>
              <a:rPr lang="en-US" dirty="0" err="1"/>
              <a:t>DataFrame</a:t>
            </a:r>
            <a:r>
              <a:rPr lang="en-US" dirty="0"/>
              <a:t> object.</a:t>
            </a:r>
          </a:p>
          <a:p>
            <a:endParaRPr lang="en-US" dirty="0"/>
          </a:p>
          <a:p>
            <a:r>
              <a:rPr lang="en-US" dirty="0"/>
              <a:t>The file is meant for testing purposes only,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443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4" y="283335"/>
            <a:ext cx="10825766" cy="589362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Example</a:t>
            </a:r>
          </a:p>
          <a:p>
            <a:r>
              <a:rPr lang="en-US" dirty="0"/>
              <a:t>See the whole example in action:</a:t>
            </a:r>
          </a:p>
          <a:p>
            <a:endParaRPr lang="en-US" dirty="0"/>
          </a:p>
          <a:p>
            <a:r>
              <a:rPr lang="en-US" dirty="0"/>
              <a:t>import pandas</a:t>
            </a:r>
          </a:p>
          <a:p>
            <a:r>
              <a:rPr lang="en-US" dirty="0"/>
              <a:t>from </a:t>
            </a:r>
            <a:r>
              <a:rPr lang="en-US" dirty="0" err="1"/>
              <a:t>sklearn</a:t>
            </a:r>
            <a:r>
              <a:rPr lang="en-US" dirty="0"/>
              <a:t> import </a:t>
            </a:r>
            <a:r>
              <a:rPr lang="en-US" dirty="0" err="1"/>
              <a:t>linear_model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pandas.read_csv</a:t>
            </a:r>
            <a:r>
              <a:rPr lang="en-US" dirty="0"/>
              <a:t>("cars.csv")</a:t>
            </a:r>
          </a:p>
          <a:p>
            <a:endParaRPr lang="en-US" dirty="0"/>
          </a:p>
          <a:p>
            <a:r>
              <a:rPr lang="en-US" dirty="0"/>
              <a:t>X = </a:t>
            </a:r>
            <a:r>
              <a:rPr lang="en-US" dirty="0" err="1"/>
              <a:t>df</a:t>
            </a:r>
            <a:r>
              <a:rPr lang="en-US" dirty="0"/>
              <a:t>[['Weight', 'Volume']]</a:t>
            </a:r>
          </a:p>
          <a:p>
            <a:r>
              <a:rPr lang="en-US" dirty="0"/>
              <a:t>y = </a:t>
            </a:r>
            <a:r>
              <a:rPr lang="en-US" dirty="0" err="1"/>
              <a:t>df</a:t>
            </a:r>
            <a:r>
              <a:rPr lang="en-US" dirty="0"/>
              <a:t>['CO2']</a:t>
            </a:r>
          </a:p>
          <a:p>
            <a:endParaRPr lang="en-US" dirty="0"/>
          </a:p>
          <a:p>
            <a:r>
              <a:rPr lang="en-US" dirty="0" err="1"/>
              <a:t>regr</a:t>
            </a:r>
            <a:r>
              <a:rPr lang="en-US" dirty="0"/>
              <a:t> = </a:t>
            </a:r>
            <a:r>
              <a:rPr lang="en-US" dirty="0" err="1"/>
              <a:t>linear_model.LinearRegression</a:t>
            </a:r>
            <a:r>
              <a:rPr lang="en-US" dirty="0"/>
              <a:t>()</a:t>
            </a:r>
          </a:p>
          <a:p>
            <a:r>
              <a:rPr lang="en-US" dirty="0" err="1"/>
              <a:t>regr.fit</a:t>
            </a:r>
            <a:r>
              <a:rPr lang="en-US" dirty="0"/>
              <a:t>(X, y)</a:t>
            </a:r>
          </a:p>
          <a:p>
            <a:endParaRPr lang="en-US" dirty="0"/>
          </a:p>
          <a:p>
            <a:r>
              <a:rPr lang="en-US" dirty="0"/>
              <a:t>#predict the CO2 emission of a car where the weight is 2300kg, and the volume is 1300cm3:</a:t>
            </a:r>
          </a:p>
          <a:p>
            <a:r>
              <a:rPr lang="en-US" dirty="0"/>
              <a:t>predictedCO2 = </a:t>
            </a:r>
            <a:r>
              <a:rPr lang="en-US" dirty="0" err="1"/>
              <a:t>regr.predict</a:t>
            </a:r>
            <a:r>
              <a:rPr lang="en-US" dirty="0"/>
              <a:t>([[2300, 1300]])</a:t>
            </a:r>
          </a:p>
          <a:p>
            <a:endParaRPr lang="en-US" dirty="0"/>
          </a:p>
          <a:p>
            <a:r>
              <a:rPr lang="en-US" dirty="0"/>
              <a:t>print(predictedCO2)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43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Result:</a:t>
            </a:r>
          </a:p>
          <a:p>
            <a:r>
              <a:rPr lang="en-US" dirty="0"/>
              <a:t>[107.2087328</a:t>
            </a:r>
            <a:r>
              <a:rPr lang="en-US" dirty="0" smtClean="0"/>
              <a:t>]</a:t>
            </a:r>
          </a:p>
          <a:p>
            <a:r>
              <a:rPr lang="en-US" dirty="0"/>
              <a:t>We have predicted that a car with 1.3 liter engine, and a weight of 2300 kg, will release approximately 107 grams of CO2 for every kilometer it drives.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20" y="152400"/>
            <a:ext cx="201888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04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1664</Words>
  <Application>Microsoft Office PowerPoint</Application>
  <PresentationFormat>Widescreen</PresentationFormat>
  <Paragraphs>325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Consolas</vt:lpstr>
      <vt:lpstr>Segoe UI</vt:lpstr>
      <vt:lpstr>Verdana</vt:lpstr>
      <vt:lpstr>Office Theme</vt:lpstr>
      <vt:lpstr>Matplotlib </vt:lpstr>
      <vt:lpstr>What is Matplotlib? </vt:lpstr>
      <vt:lpstr>PowerPoint Presentation</vt:lpstr>
      <vt:lpstr>PowerPoint Presentation</vt:lpstr>
      <vt:lpstr>Matplotlib Pyplot </vt:lpstr>
      <vt:lpstr>PowerPoint Presentation</vt:lpstr>
      <vt:lpstr>Matplotlib Plotting</vt:lpstr>
      <vt:lpstr>PowerPoint Presentation</vt:lpstr>
      <vt:lpstr>PowerPoint Presentation</vt:lpstr>
      <vt:lpstr>Machine Learning - Scatter Plot </vt:lpstr>
      <vt:lpstr>PowerPoint Presentation</vt:lpstr>
      <vt:lpstr>PowerPoint Presentation</vt:lpstr>
      <vt:lpstr>PowerPoint Presentation</vt:lpstr>
      <vt:lpstr>Random Data Distributions </vt:lpstr>
      <vt:lpstr>PowerPoint Presentation</vt:lpstr>
      <vt:lpstr>PowerPoint Presentation</vt:lpstr>
      <vt:lpstr>Machine Learning - Linear Regression</vt:lpstr>
      <vt:lpstr>Linear Regression </vt:lpstr>
      <vt:lpstr>How Does it Work? </vt:lpstr>
      <vt:lpstr>PowerPoint Presentation</vt:lpstr>
      <vt:lpstr>Result: </vt:lpstr>
      <vt:lpstr>R for Relationship </vt:lpstr>
      <vt:lpstr>PowerPoint Presentation</vt:lpstr>
      <vt:lpstr>PowerPoint Presentation</vt:lpstr>
      <vt:lpstr>  The example predicted a speed at 85.6, which we also could read from the diagram:  </vt:lpstr>
      <vt:lpstr>Bad Fit? </vt:lpstr>
      <vt:lpstr> Result:  </vt:lpstr>
      <vt:lpstr>PowerPoint Presentation</vt:lpstr>
      <vt:lpstr>Multiple Regression </vt:lpstr>
      <vt:lpstr>Take a look at the data set below, it contains so me information about cars</vt:lpstr>
      <vt:lpstr>PowerPoint Presentation</vt:lpstr>
      <vt:lpstr>How Does it Work?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Matplotlib? Matplotlib is a low level graph plotting library in python that serves as a visualization utility.  Matplotlib was created by John D. Hunter.  Matplotlib is open source and we can use it freely.  Matplotlib is mostly written in python, a few segments are written in C, Objective-C and Javascript for Platform compatibility.</dc:title>
  <dc:creator>Microsoft account</dc:creator>
  <cp:lastModifiedBy>Microsoft account</cp:lastModifiedBy>
  <cp:revision>23</cp:revision>
  <dcterms:created xsi:type="dcterms:W3CDTF">2022-06-16T06:51:56Z</dcterms:created>
  <dcterms:modified xsi:type="dcterms:W3CDTF">2022-06-17T12:29:50Z</dcterms:modified>
</cp:coreProperties>
</file>